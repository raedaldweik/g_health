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customer, not the product. The ministry already has a national exchange, a diabetes registry and a predictive programme. What follows is the next step: letting any clinician or director ask the exchange a question and get an answer that is grounded, governed and actionable. Set expectations: nine slides, then twenty minutes in the live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Anchor on three numbers, then move quickly to the three pains, which are the customer's words. The line to underline: the registry can describe the population; it cannot yet tell a nurse who to call this morning. That sentence is the gap the rest of the deck closes.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"we respect what you built" slide. Stages one and two are what the predictive programme already delivers: patient summary, prediction, risk profiles, visit forecasts. Stage three is the proposal. The models and the registry are not replaced; they become tools the agent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each tile to something the panel saw in the predictive programme so it reads as continuity. The right column answers the question everyone is thinking, which is whether the assistant can be trusted clinically: four rules, all enforced in code, all visible in the demo (trace, citations, queue,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top to bottom once: question, supervisor, specialists, tools, evidence. Pre-empt "why five agents": least privilege (the guideline agent cannot draft a prescription), independent evaluation (each specialist has its own test set), and cost (a flat agent re-reads every tool schema on every hop; the measurement is in the evaluation tab). The MCP specialist is the interesting one: Google ships MCP servers to read FHIR and to query BigQuery; none reasons about a population. We built that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Credit the first version honestly: this is where the pattern was proven. An orchestrating agent, guideline grounding, an MCP server exposing SQL, models, decision flows and charts. Then the pivot sentence: the pattern is right; the question for the ministry is which platform runs it at national scale, in Doha, with managed services underneath.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left to right like Google's own reference: ingestion on the left (Healthcare API to BigQuery; guidelines to RAG Engine; Vertex AI trains and serves the risk model), serving on the right (Cloud Run app, the ADK agent on Gemini, the four tool families, the human queue, FHIR write-back). Two Doha-specific decisions to name: Gemini is served from the global endpoint, acceptable because the agent only ever sees pseudonymised identifiers and aggregates; and the agent runtime is Cloud Run in Doha until Agent Engine is available in me-central1. Both are decisions, not accidents.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for the technical questions. Top lane: one question is one synchronous path, five hops, streamed. Middle lane: the population numbers are batch, rebuilt nightly, because they move over weeks; only the per-patient signal is event-driven. Bottom lane: a zone failure is invisible by construction because every service is regional and zone-redundant; a region failure is the honest limit of in-country residency, so recovery is in-region with a stated RPO and RTO; Gemini saturation degrades to the scripted engine, which the demo can show; and delivery is Terraform plus Cloud Build with SLOs on first token and answer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deck by making the demo the proof: three acts, twenty minutes, every number computed live. The right-hand table is for the question "what would this be on Google Cloud": each demo component has a named managed service, and the mapping is one sentence each. Then switch to the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slideLayout" Target="../slideLayouts/slideLayout1.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1.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slideLayout" Target="../slideLayouts/slideLayout1.xml"/><Relationship Id="rId1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182880" cy="182880"/>
          </a:xfrm>
          <a:prstGeom prst="ellipse">
            <a:avLst/>
          </a:prstGeom>
          <a:solidFill>
            <a:srgbClr val="4285F4"/>
          </a:solidFill>
          <a:ln w="12700">
            <a:solidFill>
              <a:srgbClr val="4285F4"/>
            </a:solidFill>
            <a:prstDash val="solid"/>
          </a:ln>
        </p:spPr>
      </p:sp>
      <p:sp>
        <p:nvSpPr>
          <p:cNvPr id="3" name="Shape 1"/>
          <p:cNvSpPr/>
          <p:nvPr/>
        </p:nvSpPr>
        <p:spPr>
          <a:xfrm>
            <a:off x="822960" y="566928"/>
            <a:ext cx="182880" cy="182880"/>
          </a:xfrm>
          <a:prstGeom prst="ellipse">
            <a:avLst/>
          </a:prstGeom>
          <a:solidFill>
            <a:srgbClr val="EA4335"/>
          </a:solidFill>
          <a:ln w="12700">
            <a:solidFill>
              <a:srgbClr val="EA4335"/>
            </a:solidFill>
            <a:prstDash val="solid"/>
          </a:ln>
        </p:spPr>
      </p:sp>
      <p:sp>
        <p:nvSpPr>
          <p:cNvPr id="4" name="Shape 2"/>
          <p:cNvSpPr/>
          <p:nvPr/>
        </p:nvSpPr>
        <p:spPr>
          <a:xfrm>
            <a:off x="1097280" y="566928"/>
            <a:ext cx="182880" cy="182880"/>
          </a:xfrm>
          <a:prstGeom prst="ellipse">
            <a:avLst/>
          </a:prstGeom>
          <a:solidFill>
            <a:srgbClr val="FBBC04"/>
          </a:solidFill>
          <a:ln w="12700">
            <a:solidFill>
              <a:srgbClr val="FBBC04"/>
            </a:solidFill>
            <a:prstDash val="solid"/>
          </a:ln>
        </p:spPr>
      </p:sp>
      <p:sp>
        <p:nvSpPr>
          <p:cNvPr id="5" name="Shape 3"/>
          <p:cNvSpPr/>
          <p:nvPr/>
        </p:nvSpPr>
        <p:spPr>
          <a:xfrm>
            <a:off x="1371600" y="566928"/>
            <a:ext cx="182880" cy="182880"/>
          </a:xfrm>
          <a:prstGeom prst="ellipse">
            <a:avLst/>
          </a:prstGeom>
          <a:solidFill>
            <a:srgbClr val="34A853"/>
          </a:solidFill>
          <a:ln w="12700">
            <a:solidFill>
              <a:srgbClr val="34A853"/>
            </a:solidFill>
            <a:prstDash val="solid"/>
          </a:ln>
        </p:spPr>
      </p:sp>
      <p:sp>
        <p:nvSpPr>
          <p:cNvPr id="6" name="Text 4"/>
          <p:cNvSpPr txBox="1"/>
          <p:nvPr/>
        </p:nvSpPr>
        <p:spPr>
          <a:xfrm>
            <a:off x="1691640" y="548640"/>
            <a:ext cx="7315200" cy="274320"/>
          </a:xfrm>
          <a:prstGeom prst="rect">
            <a:avLst/>
          </a:prstGeom>
          <a:noFill/>
          <a:ln/>
        </p:spPr>
        <p:txBody>
          <a:bodyPr wrap="square" lIns="0" tIns="0" rIns="0" bIns="0" rtlCol="0" anchor="t"/>
          <a:lstStyle/>
          <a:p>
            <a:pPr indent="0" marL="0">
              <a:buNone/>
            </a:pPr>
            <a:r>
              <a:rPr lang="en-US" sz="1100" dirty="0">
                <a:solidFill>
                  <a:srgbClr val="5F6368"/>
                </a:solidFill>
                <a:latin typeface="Arial" pitchFamily="34" charset="0"/>
                <a:ea typeface="Arial" pitchFamily="34" charset="-122"/>
                <a:cs typeface="Arial" pitchFamily="34" charset="-120"/>
              </a:rPr>
              <a:t>Google Cloud  ·  Customer Engineering</a:t>
            </a:r>
            <a:endParaRPr lang="en-US" sz="1100" dirty="0"/>
          </a:p>
        </p:txBody>
      </p:sp>
      <p:sp>
        <p:nvSpPr>
          <p:cNvPr id="7" name="Text 5"/>
          <p:cNvSpPr txBox="1"/>
          <p:nvPr/>
        </p:nvSpPr>
        <p:spPr>
          <a:xfrm>
            <a:off x="548640" y="1737360"/>
            <a:ext cx="5486400" cy="914400"/>
          </a:xfrm>
          <a:prstGeom prst="rect">
            <a:avLst/>
          </a:prstGeom>
          <a:noFill/>
          <a:ln/>
        </p:spPr>
        <p:txBody>
          <a:bodyPr wrap="square" lIns="0" tIns="0" rIns="0" bIns="0" rtlCol="0" anchor="t"/>
          <a:lstStyle/>
          <a:p>
            <a:pPr indent="0" marL="0">
              <a:buNone/>
            </a:pPr>
            <a:r>
              <a:rPr lang="en-US" sz="5400" b="1" dirty="0">
                <a:solidFill>
                  <a:srgbClr val="202124"/>
                </a:solidFill>
                <a:latin typeface="Arial" pitchFamily="34" charset="0"/>
                <a:ea typeface="Arial" pitchFamily="34" charset="-122"/>
                <a:cs typeface="Arial" pitchFamily="34" charset="-120"/>
              </a:rPr>
              <a:t>Nabd</a:t>
            </a:r>
            <a:endParaRPr lang="en-US" sz="5400" dirty="0"/>
          </a:p>
        </p:txBody>
      </p:sp>
      <p:sp>
        <p:nvSpPr>
          <p:cNvPr id="8" name="Text 6"/>
          <p:cNvSpPr txBox="1"/>
          <p:nvPr/>
        </p:nvSpPr>
        <p:spPr>
          <a:xfrm>
            <a:off x="2331720" y="1810512"/>
            <a:ext cx="2743200" cy="914400"/>
          </a:xfrm>
          <a:prstGeom prst="rect">
            <a:avLst/>
          </a:prstGeom>
          <a:noFill/>
          <a:ln/>
        </p:spPr>
        <p:txBody>
          <a:bodyPr wrap="square" lIns="0" tIns="0" rIns="0" bIns="0" rtlCol="0" anchor="t"/>
          <a:lstStyle/>
          <a:p>
            <a:pPr indent="0" marL="0">
              <a:buNone/>
            </a:pPr>
            <a:r>
              <a:rPr lang="en-US" sz="4400" dirty="0">
                <a:solidFill>
                  <a:srgbClr val="1A73E8"/>
                </a:solidFill>
                <a:latin typeface="Arial" pitchFamily="34" charset="0"/>
                <a:ea typeface="Arial" pitchFamily="34" charset="-122"/>
                <a:cs typeface="Arial" pitchFamily="34" charset="-120"/>
              </a:rPr>
              <a:t>نبض</a:t>
            </a:r>
            <a:endParaRPr lang="en-US" sz="4400" dirty="0"/>
          </a:p>
        </p:txBody>
      </p:sp>
      <p:sp>
        <p:nvSpPr>
          <p:cNvPr id="9" name="Text 7"/>
          <p:cNvSpPr txBox="1"/>
          <p:nvPr/>
        </p:nvSpPr>
        <p:spPr>
          <a:xfrm>
            <a:off x="548640" y="2743200"/>
            <a:ext cx="8229600" cy="1463040"/>
          </a:xfrm>
          <a:prstGeom prst="rect">
            <a:avLst/>
          </a:prstGeom>
          <a:noFill/>
          <a:ln/>
        </p:spPr>
        <p:txBody>
          <a:bodyPr wrap="square" lIns="0" tIns="0" rIns="0" bIns="0" rtlCol="0" anchor="t"/>
          <a:lstStyle/>
          <a:p>
            <a:pPr indent="0" marL="0">
              <a:lnSpc>
                <a:spcPct val="105000"/>
              </a:lnSpc>
              <a:buNone/>
            </a:pPr>
            <a:r>
              <a:rPr lang="en-US" sz="3200" b="1" dirty="0">
                <a:solidFill>
                  <a:srgbClr val="202124"/>
                </a:solidFill>
                <a:latin typeface="Arial" pitchFamily="34" charset="0"/>
                <a:ea typeface="Arial" pitchFamily="34" charset="-122"/>
                <a:cs typeface="Arial" pitchFamily="34" charset="-120"/>
              </a:rPr>
              <a:t>Agentic population health</a:t>
            </a:r>
            <a:endParaRPr lang="en-US" sz="3200" dirty="0"/>
          </a:p>
          <a:p>
            <a:pPr indent="0" marL="0">
              <a:lnSpc>
                <a:spcPct val="105000"/>
              </a:lnSpc>
              <a:buNone/>
            </a:pPr>
            <a:r>
              <a:rPr lang="en-US" sz="3200" b="1" dirty="0">
                <a:solidFill>
                  <a:srgbClr val="202124"/>
                </a:solidFill>
                <a:latin typeface="Arial" pitchFamily="34" charset="0"/>
                <a:ea typeface="Arial" pitchFamily="34" charset="-122"/>
                <a:cs typeface="Arial" pitchFamily="34" charset="-120"/>
              </a:rPr>
              <a:t>for a national diabetes registry</a:t>
            </a:r>
            <a:endParaRPr lang="en-US" sz="3200" dirty="0"/>
          </a:p>
        </p:txBody>
      </p:sp>
      <p:sp>
        <p:nvSpPr>
          <p:cNvPr id="10" name="Text 8"/>
          <p:cNvSpPr txBox="1"/>
          <p:nvPr/>
        </p:nvSpPr>
        <p:spPr>
          <a:xfrm>
            <a:off x="548640" y="4343400"/>
            <a:ext cx="7863840" cy="731520"/>
          </a:xfrm>
          <a:prstGeom prst="rect">
            <a:avLst/>
          </a:prstGeom>
          <a:noFill/>
          <a:ln/>
        </p:spPr>
        <p:txBody>
          <a:bodyPr wrap="square" lIns="0" tIns="0" rIns="0" bIns="0" rtlCol="0" anchor="t"/>
          <a:lstStyle/>
          <a:p>
            <a:pPr indent="0" marL="0">
              <a:lnSpc>
                <a:spcPct val="115000"/>
              </a:lnSpc>
              <a:buNone/>
            </a:pPr>
            <a:r>
              <a:rPr lang="en-US" sz="1500" dirty="0">
                <a:solidFill>
                  <a:srgbClr val="5F6368"/>
                </a:solidFill>
                <a:latin typeface="Arial" pitchFamily="34" charset="0"/>
                <a:ea typeface="Arial" pitchFamily="34" charset="-122"/>
                <a:cs typeface="Arial" pitchFamily="34" charset="-120"/>
              </a:rPr>
              <a:t>A working demonstration and a reference architecture on Google Cloud, built for the ministry of health of a Gulf state with a national Health Information Exchange.</a:t>
            </a:r>
            <a:endParaRPr lang="en-US" sz="1500" dirty="0"/>
          </a:p>
        </p:txBody>
      </p:sp>
      <p:sp>
        <p:nvSpPr>
          <p:cNvPr id="11" name="Text 9"/>
          <p:cNvSpPr txBox="1"/>
          <p:nvPr/>
        </p:nvSpPr>
        <p:spPr>
          <a:xfrm>
            <a:off x="548640" y="5989320"/>
            <a:ext cx="7315200" cy="274320"/>
          </a:xfrm>
          <a:prstGeom prst="rect">
            <a:avLst/>
          </a:prstGeom>
          <a:noFill/>
          <a:ln/>
        </p:spPr>
        <p:txBody>
          <a:bodyPr wrap="square" lIns="0" tIns="0" rIns="0" bIns="0" rtlCol="0" anchor="t"/>
          <a:lstStyle/>
          <a:p>
            <a:pPr indent="0" marL="0">
              <a:buNone/>
            </a:pPr>
            <a:r>
              <a:rPr lang="en-US" sz="1100" dirty="0">
                <a:solidFill>
                  <a:srgbClr val="5F6368"/>
                </a:solidFill>
                <a:latin typeface="Arial" pitchFamily="34" charset="0"/>
                <a:ea typeface="Arial" pitchFamily="34" charset="-122"/>
                <a:cs typeface="Arial" pitchFamily="34" charset="-120"/>
              </a:rPr>
              <a:t>Raed Aldweik  ·  AI Customer Engineer  ·  September 2026</a:t>
            </a:r>
            <a:endParaRPr lang="en-US" sz="1100" dirty="0"/>
          </a:p>
        </p:txBody>
      </p:sp>
      <p:sp>
        <p:nvSpPr>
          <p:cNvPr id="12" name="Shape 10"/>
          <p:cNvSpPr/>
          <p:nvPr/>
        </p:nvSpPr>
        <p:spPr>
          <a:xfrm>
            <a:off x="9326880" y="2011680"/>
            <a:ext cx="1737360" cy="1737360"/>
          </a:xfrm>
          <a:prstGeom prst="ellipse">
            <a:avLst/>
          </a:prstGeom>
          <a:solidFill>
            <a:srgbClr val="4285F4">
              <a:alpha val="88000"/>
            </a:srgbClr>
          </a:solidFill>
          <a:ln w="12700">
            <a:solidFill>
              <a:srgbClr val="4285F4"/>
            </a:solidFill>
            <a:prstDash val="solid"/>
          </a:ln>
        </p:spPr>
      </p:sp>
      <p:sp>
        <p:nvSpPr>
          <p:cNvPr id="13" name="Shape 11"/>
          <p:cNvSpPr/>
          <p:nvPr/>
        </p:nvSpPr>
        <p:spPr>
          <a:xfrm>
            <a:off x="10561320" y="3246120"/>
            <a:ext cx="1143000" cy="1143000"/>
          </a:xfrm>
          <a:prstGeom prst="ellipse">
            <a:avLst/>
          </a:prstGeom>
          <a:solidFill>
            <a:srgbClr val="EA4335">
              <a:alpha val="88000"/>
            </a:srgbClr>
          </a:solidFill>
          <a:ln w="12700">
            <a:solidFill>
              <a:srgbClr val="EA4335"/>
            </a:solidFill>
            <a:prstDash val="solid"/>
          </a:ln>
        </p:spPr>
      </p:sp>
      <p:sp>
        <p:nvSpPr>
          <p:cNvPr id="14" name="Shape 12"/>
          <p:cNvSpPr/>
          <p:nvPr/>
        </p:nvSpPr>
        <p:spPr>
          <a:xfrm>
            <a:off x="8732520" y="3703320"/>
            <a:ext cx="914400" cy="914400"/>
          </a:xfrm>
          <a:prstGeom prst="ellipse">
            <a:avLst/>
          </a:prstGeom>
          <a:solidFill>
            <a:srgbClr val="FBBC04">
              <a:alpha val="88000"/>
            </a:srgbClr>
          </a:solidFill>
          <a:ln w="12700">
            <a:solidFill>
              <a:srgbClr val="FBBC04"/>
            </a:solidFill>
            <a:prstDash val="solid"/>
          </a:ln>
        </p:spPr>
      </p:sp>
      <p:sp>
        <p:nvSpPr>
          <p:cNvPr id="15" name="Shape 13"/>
          <p:cNvSpPr/>
          <p:nvPr/>
        </p:nvSpPr>
        <p:spPr>
          <a:xfrm>
            <a:off x="9829800" y="4297680"/>
            <a:ext cx="1417320" cy="1417320"/>
          </a:xfrm>
          <a:prstGeom prst="ellipse">
            <a:avLst/>
          </a:prstGeom>
          <a:solidFill>
            <a:srgbClr val="34A853">
              <a:alpha val="88000"/>
            </a:srgbClr>
          </a:solidFill>
          <a:ln w="12700">
            <a:solidFill>
              <a:srgbClr val="34A853"/>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457200"/>
            <a:ext cx="11064240" cy="868680"/>
          </a:xfrm>
          <a:prstGeom prst="rect">
            <a:avLst/>
          </a:prstGeom>
          <a:noFill/>
          <a:ln/>
        </p:spPr>
        <p:txBody>
          <a:bodyPr wrap="square" lIns="0" tIns="0" rIns="0" bIns="0" rtlCol="0" anchor="t"/>
          <a:lstStyle/>
          <a:p>
            <a:pPr indent="0" marL="0">
              <a:lnSpc>
                <a:spcPct val="105000"/>
              </a:lnSpc>
              <a:buNone/>
            </a:pPr>
            <a:r>
              <a:rPr lang="en-US" sz="2600" b="1" dirty="0">
                <a:solidFill>
                  <a:srgbClr val="202124"/>
                </a:solidFill>
                <a:latin typeface="Arial" pitchFamily="34" charset="0"/>
                <a:ea typeface="Arial" pitchFamily="34" charset="-122"/>
                <a:cs typeface="Arial" pitchFamily="34" charset="-120"/>
              </a:rPr>
              <a:t>Qatar carries one of the heaviest diabetes burdens in the world, and the system still sees it one patient at a time</a:t>
            </a:r>
            <a:endParaRPr lang="en-US" sz="2600" dirty="0"/>
          </a:p>
        </p:txBody>
      </p:sp>
      <p:sp>
        <p:nvSpPr>
          <p:cNvPr id="3" name="Shape 1"/>
          <p:cNvSpPr/>
          <p:nvPr/>
        </p:nvSpPr>
        <p:spPr>
          <a:xfrm>
            <a:off x="548640" y="1600200"/>
            <a:ext cx="3566160" cy="1417320"/>
          </a:xfrm>
          <a:prstGeom prst="roundRect">
            <a:avLst>
              <a:gd name="adj" fmla="val 5161"/>
            </a:avLst>
          </a:prstGeom>
          <a:solidFill>
            <a:srgbClr val="F8F9FA"/>
          </a:solidFill>
          <a:ln w="12700">
            <a:solidFill>
              <a:srgbClr val="F8F9FA"/>
            </a:solidFill>
            <a:prstDash val="solid"/>
          </a:ln>
        </p:spPr>
      </p:sp>
      <p:sp>
        <p:nvSpPr>
          <p:cNvPr id="4" name="Text 2"/>
          <p:cNvSpPr txBox="1"/>
          <p:nvPr/>
        </p:nvSpPr>
        <p:spPr>
          <a:xfrm>
            <a:off x="777240" y="1737360"/>
            <a:ext cx="3200400" cy="594360"/>
          </a:xfrm>
          <a:prstGeom prst="rect">
            <a:avLst/>
          </a:prstGeom>
          <a:noFill/>
          <a:ln/>
        </p:spPr>
        <p:txBody>
          <a:bodyPr wrap="square" lIns="0" tIns="0" rIns="0" bIns="0" rtlCol="0" anchor="ctr"/>
          <a:lstStyle/>
          <a:p>
            <a:pPr indent="0" marL="0">
              <a:buNone/>
            </a:pPr>
            <a:r>
              <a:rPr lang="en-US" sz="3400" b="1" dirty="0">
                <a:solidFill>
                  <a:srgbClr val="4285F4"/>
                </a:solidFill>
                <a:latin typeface="Arial" pitchFamily="34" charset="0"/>
                <a:ea typeface="Arial" pitchFamily="34" charset="-122"/>
                <a:cs typeface="Arial" pitchFamily="34" charset="-120"/>
              </a:rPr>
              <a:t>Top 5</a:t>
            </a:r>
            <a:endParaRPr lang="en-US" sz="3400" dirty="0"/>
          </a:p>
        </p:txBody>
      </p:sp>
      <p:sp>
        <p:nvSpPr>
          <p:cNvPr id="5" name="Text 3"/>
          <p:cNvSpPr txBox="1"/>
          <p:nvPr/>
        </p:nvSpPr>
        <p:spPr>
          <a:xfrm>
            <a:off x="777240" y="2377440"/>
            <a:ext cx="3154680" cy="566928"/>
          </a:xfrm>
          <a:prstGeom prst="rect">
            <a:avLst/>
          </a:prstGeom>
          <a:noFill/>
          <a:ln/>
        </p:spPr>
        <p:txBody>
          <a:bodyPr wrap="square" lIns="0" tIns="0" rIns="0" bIns="0" rtlCol="0" anchor="t"/>
          <a:lstStyle/>
          <a:p>
            <a:pPr indent="0" marL="0">
              <a:lnSpc>
                <a:spcPct val="110000"/>
              </a:lnSpc>
              <a:buNone/>
            </a:pPr>
            <a:r>
              <a:rPr lang="en-US" sz="1050" dirty="0">
                <a:solidFill>
                  <a:srgbClr val="5F6368"/>
                </a:solidFill>
                <a:latin typeface="Arial" pitchFamily="34" charset="0"/>
                <a:ea typeface="Arial" pitchFamily="34" charset="-122"/>
                <a:cs typeface="Arial" pitchFamily="34" charset="-120"/>
              </a:rPr>
              <a:t>global diabetes prevalence among adults (IDF Diabetes Atlas)</a:t>
            </a:r>
            <a:endParaRPr lang="en-US" sz="1050" dirty="0"/>
          </a:p>
        </p:txBody>
      </p:sp>
      <p:sp>
        <p:nvSpPr>
          <p:cNvPr id="6" name="Shape 4"/>
          <p:cNvSpPr/>
          <p:nvPr/>
        </p:nvSpPr>
        <p:spPr>
          <a:xfrm>
            <a:off x="4297680" y="1600200"/>
            <a:ext cx="3566160" cy="1417320"/>
          </a:xfrm>
          <a:prstGeom prst="roundRect">
            <a:avLst>
              <a:gd name="adj" fmla="val 5161"/>
            </a:avLst>
          </a:prstGeom>
          <a:solidFill>
            <a:srgbClr val="F8F9FA"/>
          </a:solidFill>
          <a:ln w="12700">
            <a:solidFill>
              <a:srgbClr val="F8F9FA"/>
            </a:solidFill>
            <a:prstDash val="solid"/>
          </a:ln>
        </p:spPr>
      </p:sp>
      <p:sp>
        <p:nvSpPr>
          <p:cNvPr id="7" name="Text 5"/>
          <p:cNvSpPr txBox="1"/>
          <p:nvPr/>
        </p:nvSpPr>
        <p:spPr>
          <a:xfrm>
            <a:off x="4526280" y="1737360"/>
            <a:ext cx="3200400" cy="594360"/>
          </a:xfrm>
          <a:prstGeom prst="rect">
            <a:avLst/>
          </a:prstGeom>
          <a:noFill/>
          <a:ln/>
        </p:spPr>
        <p:txBody>
          <a:bodyPr wrap="square" lIns="0" tIns="0" rIns="0" bIns="0" rtlCol="0" anchor="ctr"/>
          <a:lstStyle/>
          <a:p>
            <a:pPr indent="0" marL="0">
              <a:buNone/>
            </a:pPr>
            <a:r>
              <a:rPr lang="en-US" sz="2600" b="1" dirty="0">
                <a:solidFill>
                  <a:srgbClr val="EA4335"/>
                </a:solidFill>
                <a:latin typeface="Arial" pitchFamily="34" charset="0"/>
                <a:ea typeface="Arial" pitchFamily="34" charset="-122"/>
                <a:cs typeface="Arial" pitchFamily="34" charset="-120"/>
              </a:rPr>
              <a:t>QR 1.8bn to 5bn</a:t>
            </a:r>
            <a:endParaRPr lang="en-US" sz="2600" dirty="0"/>
          </a:p>
        </p:txBody>
      </p:sp>
      <p:sp>
        <p:nvSpPr>
          <p:cNvPr id="8" name="Text 6"/>
          <p:cNvSpPr txBox="1"/>
          <p:nvPr/>
        </p:nvSpPr>
        <p:spPr>
          <a:xfrm>
            <a:off x="4526280" y="2377440"/>
            <a:ext cx="3154680" cy="566928"/>
          </a:xfrm>
          <a:prstGeom prst="rect">
            <a:avLst/>
          </a:prstGeom>
          <a:noFill/>
          <a:ln/>
        </p:spPr>
        <p:txBody>
          <a:bodyPr wrap="square" lIns="0" tIns="0" rIns="0" bIns="0" rtlCol="0" anchor="t"/>
          <a:lstStyle/>
          <a:p>
            <a:pPr indent="0" marL="0">
              <a:lnSpc>
                <a:spcPct val="110000"/>
              </a:lnSpc>
              <a:buNone/>
            </a:pPr>
            <a:r>
              <a:rPr lang="en-US" sz="1050" dirty="0">
                <a:solidFill>
                  <a:srgbClr val="5F6368"/>
                </a:solidFill>
                <a:latin typeface="Arial" pitchFamily="34" charset="0"/>
                <a:ea typeface="Arial" pitchFamily="34" charset="-122"/>
                <a:cs typeface="Arial" pitchFamily="34" charset="-120"/>
              </a:rPr>
              <a:t>annual cost of diabetes care, 2015 to 2035 projection (National Diabetes Strategy)</a:t>
            </a:r>
            <a:endParaRPr lang="en-US" sz="1050" dirty="0"/>
          </a:p>
        </p:txBody>
      </p:sp>
      <p:sp>
        <p:nvSpPr>
          <p:cNvPr id="9" name="Shape 7"/>
          <p:cNvSpPr/>
          <p:nvPr/>
        </p:nvSpPr>
        <p:spPr>
          <a:xfrm>
            <a:off x="8046720" y="1600200"/>
            <a:ext cx="3566160" cy="1417320"/>
          </a:xfrm>
          <a:prstGeom prst="roundRect">
            <a:avLst>
              <a:gd name="adj" fmla="val 5161"/>
            </a:avLst>
          </a:prstGeom>
          <a:solidFill>
            <a:srgbClr val="F8F9FA"/>
          </a:solidFill>
          <a:ln w="12700">
            <a:solidFill>
              <a:srgbClr val="F8F9FA"/>
            </a:solidFill>
            <a:prstDash val="solid"/>
          </a:ln>
        </p:spPr>
      </p:sp>
      <p:sp>
        <p:nvSpPr>
          <p:cNvPr id="10" name="Text 8"/>
          <p:cNvSpPr txBox="1"/>
          <p:nvPr/>
        </p:nvSpPr>
        <p:spPr>
          <a:xfrm>
            <a:off x="8275320" y="1737360"/>
            <a:ext cx="3200400" cy="594360"/>
          </a:xfrm>
          <a:prstGeom prst="rect">
            <a:avLst/>
          </a:prstGeom>
          <a:noFill/>
          <a:ln/>
        </p:spPr>
        <p:txBody>
          <a:bodyPr wrap="square" lIns="0" tIns="0" rIns="0" bIns="0" rtlCol="0" anchor="ctr"/>
          <a:lstStyle/>
          <a:p>
            <a:pPr indent="0" marL="0">
              <a:buNone/>
            </a:pPr>
            <a:r>
              <a:rPr lang="en-US" sz="3400" b="1" dirty="0">
                <a:solidFill>
                  <a:srgbClr val="FBBC04"/>
                </a:solidFill>
                <a:latin typeface="Arial" pitchFamily="34" charset="0"/>
                <a:ea typeface="Arial" pitchFamily="34" charset="-122"/>
                <a:cs typeface="Arial" pitchFamily="34" charset="-120"/>
              </a:rPr>
              <a:t>50%</a:t>
            </a:r>
            <a:endParaRPr lang="en-US" sz="3400" dirty="0"/>
          </a:p>
        </p:txBody>
      </p:sp>
      <p:sp>
        <p:nvSpPr>
          <p:cNvPr id="11" name="Text 9"/>
          <p:cNvSpPr txBox="1"/>
          <p:nvPr/>
        </p:nvSpPr>
        <p:spPr>
          <a:xfrm>
            <a:off x="8275320" y="2377440"/>
            <a:ext cx="3154680" cy="566928"/>
          </a:xfrm>
          <a:prstGeom prst="rect">
            <a:avLst/>
          </a:prstGeom>
          <a:noFill/>
          <a:ln/>
        </p:spPr>
        <p:txBody>
          <a:bodyPr wrap="square" lIns="0" tIns="0" rIns="0" bIns="0" rtlCol="0" anchor="t"/>
          <a:lstStyle/>
          <a:p>
            <a:pPr indent="0" marL="0">
              <a:lnSpc>
                <a:spcPct val="110000"/>
              </a:lnSpc>
              <a:buNone/>
            </a:pPr>
            <a:r>
              <a:rPr lang="en-US" sz="1050" dirty="0">
                <a:solidFill>
                  <a:srgbClr val="5F6368"/>
                </a:solidFill>
                <a:latin typeface="Arial" pitchFamily="34" charset="0"/>
                <a:ea typeface="Arial" pitchFamily="34" charset="-122"/>
                <a:cs typeface="Arial" pitchFamily="34" charset="-120"/>
              </a:rPr>
              <a:t>of all dialysis in Qatar is attributable to diabetes; about 70% of stroke patients have diabetes or pre-diabetes</a:t>
            </a:r>
            <a:endParaRPr lang="en-US" sz="1050" dirty="0"/>
          </a:p>
        </p:txBody>
      </p:sp>
      <p:sp>
        <p:nvSpPr>
          <p:cNvPr id="12" name="Text 10"/>
          <p:cNvSpPr txBox="1"/>
          <p:nvPr/>
        </p:nvSpPr>
        <p:spPr>
          <a:xfrm>
            <a:off x="548640" y="3337560"/>
            <a:ext cx="5486400" cy="201168"/>
          </a:xfrm>
          <a:prstGeom prst="rect">
            <a:avLst/>
          </a:prstGeom>
          <a:noFill/>
          <a:ln/>
        </p:spPr>
        <p:txBody>
          <a:bodyPr wrap="square" lIns="0" tIns="0" rIns="0" bIns="0" rtlCol="0" anchor="t"/>
          <a:lstStyle/>
          <a:p>
            <a:pPr indent="0" marL="0">
              <a:buNone/>
            </a:pPr>
            <a:r>
              <a:rPr lang="en-US" sz="850" b="1" spc="150" kern="0" dirty="0">
                <a:solidFill>
                  <a:srgbClr val="5F6368"/>
                </a:solidFill>
                <a:latin typeface="Arial" pitchFamily="34" charset="0"/>
                <a:ea typeface="Arial" pitchFamily="34" charset="-122"/>
                <a:cs typeface="Arial" pitchFamily="34" charset="-120"/>
              </a:rPr>
              <a:t>WHAT CLINICIANS AND HEALTH LEADERS TOLD US</a:t>
            </a:r>
            <a:endParaRPr lang="en-US" sz="850" dirty="0"/>
          </a:p>
        </p:txBody>
      </p:sp>
      <p:sp>
        <p:nvSpPr>
          <p:cNvPr id="13" name="Shape 11"/>
          <p:cNvSpPr/>
          <p:nvPr/>
        </p:nvSpPr>
        <p:spPr>
          <a:xfrm>
            <a:off x="548640" y="3657600"/>
            <a:ext cx="502920" cy="502920"/>
          </a:xfrm>
          <a:prstGeom prst="ellipse">
            <a:avLst/>
          </a:prstGeom>
          <a:solidFill>
            <a:srgbClr val="4285F4"/>
          </a:solidFill>
          <a:ln w="12700">
            <a:solidFill>
              <a:srgbClr val="4285F4"/>
            </a:solidFill>
            <a:prstDash val="solid"/>
          </a:ln>
        </p:spPr>
      </p:sp>
      <p:pic>
        <p:nvPicPr>
          <p:cNvPr id="14" name="Image 0" descr="preencoded.png">    </p:cNvPr>
          <p:cNvPicPr>
            <a:picLocks noChangeAspect="1"/>
          </p:cNvPicPr>
          <p:nvPr/>
        </p:nvPicPr>
        <p:blipFill>
          <a:blip r:embed="rId1"/>
          <a:stretch>
            <a:fillRect/>
          </a:stretch>
        </p:blipFill>
        <p:spPr>
          <a:xfrm>
            <a:off x="669341" y="3778301"/>
            <a:ext cx="261518" cy="261518"/>
          </a:xfrm>
          <a:prstGeom prst="rect">
            <a:avLst/>
          </a:prstGeom>
        </p:spPr>
      </p:pic>
      <p:sp>
        <p:nvSpPr>
          <p:cNvPr id="15" name="Text 12"/>
          <p:cNvSpPr txBox="1"/>
          <p:nvPr/>
        </p:nvSpPr>
        <p:spPr>
          <a:xfrm>
            <a:off x="1207008" y="3675888"/>
            <a:ext cx="2926080" cy="274320"/>
          </a:xfrm>
          <a:prstGeom prst="rect">
            <a:avLst/>
          </a:prstGeom>
          <a:noFill/>
          <a:ln/>
        </p:spPr>
        <p:txBody>
          <a:bodyPr wrap="square" lIns="0" tIns="0" rIns="0" bIns="0" rtlCol="0" anchor="t"/>
          <a:lstStyle/>
          <a:p>
            <a:pPr indent="0" marL="0">
              <a:buNone/>
            </a:pPr>
            <a:r>
              <a:rPr lang="en-US" sz="1400" b="1" dirty="0">
                <a:solidFill>
                  <a:srgbClr val="202124"/>
                </a:solidFill>
                <a:latin typeface="Arial" pitchFamily="34" charset="0"/>
                <a:ea typeface="Arial" pitchFamily="34" charset="-122"/>
                <a:cs typeface="Arial" pitchFamily="34" charset="-120"/>
              </a:rPr>
              <a:t>The patient story is fragmented</a:t>
            </a:r>
            <a:endParaRPr lang="en-US" sz="1400" dirty="0"/>
          </a:p>
        </p:txBody>
      </p:sp>
      <p:sp>
        <p:nvSpPr>
          <p:cNvPr id="16" name="Text 13"/>
          <p:cNvSpPr txBox="1"/>
          <p:nvPr/>
        </p:nvSpPr>
        <p:spPr>
          <a:xfrm>
            <a:off x="548640" y="4315968"/>
            <a:ext cx="3520440" cy="1463040"/>
          </a:xfrm>
          <a:prstGeom prst="rect">
            <a:avLst/>
          </a:prstGeom>
          <a:noFill/>
          <a:ln/>
        </p:spPr>
        <p:txBody>
          <a:bodyPr wrap="square" lIns="0" tIns="0" rIns="0" bIns="0" rtlCol="0" anchor="t"/>
          <a:lstStyle/>
          <a:p>
            <a:pPr indent="0" marL="0">
              <a:lnSpc>
                <a:spcPct val="120000"/>
              </a:lnSpc>
              <a:buNone/>
            </a:pPr>
            <a:r>
              <a:rPr lang="en-US" sz="1150" dirty="0">
                <a:solidFill>
                  <a:srgbClr val="5F6368"/>
                </a:solidFill>
                <a:latin typeface="Arial" pitchFamily="34" charset="0"/>
                <a:ea typeface="Arial" pitchFamily="34" charset="-122"/>
                <a:cs typeface="Arial" pitchFamily="34" charset="-120"/>
              </a:rPr>
              <a:t>Eighteen or more facilities, an exchange with eight relational tables, and guidelines in PDFs. A complete view of one patient exists only after someone assembles it.</a:t>
            </a:r>
            <a:endParaRPr lang="en-US" sz="1150" dirty="0"/>
          </a:p>
        </p:txBody>
      </p:sp>
      <p:sp>
        <p:nvSpPr>
          <p:cNvPr id="17" name="Shape 14"/>
          <p:cNvSpPr/>
          <p:nvPr/>
        </p:nvSpPr>
        <p:spPr>
          <a:xfrm>
            <a:off x="4297680" y="3657600"/>
            <a:ext cx="502920" cy="502920"/>
          </a:xfrm>
          <a:prstGeom prst="ellipse">
            <a:avLst/>
          </a:prstGeom>
          <a:solidFill>
            <a:srgbClr val="EA4335"/>
          </a:solidFill>
          <a:ln w="12700">
            <a:solidFill>
              <a:srgbClr val="EA4335"/>
            </a:solidFill>
            <a:prstDash val="solid"/>
          </a:ln>
        </p:spPr>
      </p:sp>
      <p:pic>
        <p:nvPicPr>
          <p:cNvPr id="18" name="Image 1" descr="preencoded.png">    </p:cNvPr>
          <p:cNvPicPr>
            <a:picLocks noChangeAspect="1"/>
          </p:cNvPicPr>
          <p:nvPr/>
        </p:nvPicPr>
        <p:blipFill>
          <a:blip r:embed="rId2"/>
          <a:stretch>
            <a:fillRect/>
          </a:stretch>
        </p:blipFill>
        <p:spPr>
          <a:xfrm>
            <a:off x="4418381" y="3778301"/>
            <a:ext cx="261518" cy="261518"/>
          </a:xfrm>
          <a:prstGeom prst="rect">
            <a:avLst/>
          </a:prstGeom>
        </p:spPr>
      </p:pic>
      <p:sp>
        <p:nvSpPr>
          <p:cNvPr id="19" name="Text 15"/>
          <p:cNvSpPr txBox="1"/>
          <p:nvPr/>
        </p:nvSpPr>
        <p:spPr>
          <a:xfrm>
            <a:off x="4956048" y="3675888"/>
            <a:ext cx="2926080" cy="274320"/>
          </a:xfrm>
          <a:prstGeom prst="rect">
            <a:avLst/>
          </a:prstGeom>
          <a:noFill/>
          <a:ln/>
        </p:spPr>
        <p:txBody>
          <a:bodyPr wrap="square" lIns="0" tIns="0" rIns="0" bIns="0" rtlCol="0" anchor="t"/>
          <a:lstStyle/>
          <a:p>
            <a:pPr indent="0" marL="0">
              <a:buNone/>
            </a:pPr>
            <a:r>
              <a:rPr lang="en-US" sz="1400" b="1" dirty="0">
                <a:solidFill>
                  <a:srgbClr val="202124"/>
                </a:solidFill>
                <a:latin typeface="Arial" pitchFamily="34" charset="0"/>
                <a:ea typeface="Arial" pitchFamily="34" charset="-122"/>
                <a:cs typeface="Arial" pitchFamily="34" charset="-120"/>
              </a:rPr>
              <a:t>Care is reactive</a:t>
            </a:r>
            <a:endParaRPr lang="en-US" sz="1400" dirty="0"/>
          </a:p>
        </p:txBody>
      </p:sp>
      <p:sp>
        <p:nvSpPr>
          <p:cNvPr id="20" name="Text 16"/>
          <p:cNvSpPr txBox="1"/>
          <p:nvPr/>
        </p:nvSpPr>
        <p:spPr>
          <a:xfrm>
            <a:off x="4297680" y="4315968"/>
            <a:ext cx="3520440" cy="1463040"/>
          </a:xfrm>
          <a:prstGeom prst="rect">
            <a:avLst/>
          </a:prstGeom>
          <a:noFill/>
          <a:ln/>
        </p:spPr>
        <p:txBody>
          <a:bodyPr wrap="square" lIns="0" tIns="0" rIns="0" bIns="0" rtlCol="0" anchor="t"/>
          <a:lstStyle/>
          <a:p>
            <a:pPr indent="0" marL="0">
              <a:lnSpc>
                <a:spcPct val="120000"/>
              </a:lnSpc>
              <a:buNone/>
            </a:pPr>
            <a:r>
              <a:rPr lang="en-US" sz="1150" dirty="0">
                <a:solidFill>
                  <a:srgbClr val="5F6368"/>
                </a:solidFill>
                <a:latin typeface="Arial" pitchFamily="34" charset="0"/>
                <a:ea typeface="Arial" pitchFamily="34" charset="-122"/>
                <a:cs typeface="Arial" pitchFamily="34" charset="-120"/>
              </a:rPr>
              <a:t>Risk is recognised at the admission, not before it. The registry can describe the population; it cannot yet tell a nurse who to call this morning.</a:t>
            </a:r>
            <a:endParaRPr lang="en-US" sz="1150" dirty="0"/>
          </a:p>
        </p:txBody>
      </p:sp>
      <p:sp>
        <p:nvSpPr>
          <p:cNvPr id="21" name="Shape 17"/>
          <p:cNvSpPr/>
          <p:nvPr/>
        </p:nvSpPr>
        <p:spPr>
          <a:xfrm>
            <a:off x="8046720" y="3657600"/>
            <a:ext cx="502920" cy="502920"/>
          </a:xfrm>
          <a:prstGeom prst="ellipse">
            <a:avLst/>
          </a:prstGeom>
          <a:solidFill>
            <a:srgbClr val="34A853"/>
          </a:solidFill>
          <a:ln w="12700">
            <a:solidFill>
              <a:srgbClr val="34A853"/>
            </a:solidFill>
            <a:prstDash val="solid"/>
          </a:ln>
        </p:spPr>
      </p:sp>
      <p:pic>
        <p:nvPicPr>
          <p:cNvPr id="22" name="Image 2" descr="preencoded.png">    </p:cNvPr>
          <p:cNvPicPr>
            <a:picLocks noChangeAspect="1"/>
          </p:cNvPicPr>
          <p:nvPr/>
        </p:nvPicPr>
        <p:blipFill>
          <a:blip r:embed="rId3"/>
          <a:stretch>
            <a:fillRect/>
          </a:stretch>
        </p:blipFill>
        <p:spPr>
          <a:xfrm>
            <a:off x="8167421" y="3778301"/>
            <a:ext cx="261518" cy="261518"/>
          </a:xfrm>
          <a:prstGeom prst="rect">
            <a:avLst/>
          </a:prstGeom>
        </p:spPr>
      </p:pic>
      <p:sp>
        <p:nvSpPr>
          <p:cNvPr id="23" name="Text 18"/>
          <p:cNvSpPr txBox="1"/>
          <p:nvPr/>
        </p:nvSpPr>
        <p:spPr>
          <a:xfrm>
            <a:off x="8705088" y="3675888"/>
            <a:ext cx="2926080" cy="274320"/>
          </a:xfrm>
          <a:prstGeom prst="rect">
            <a:avLst/>
          </a:prstGeom>
          <a:noFill/>
          <a:ln/>
        </p:spPr>
        <p:txBody>
          <a:bodyPr wrap="square" lIns="0" tIns="0" rIns="0" bIns="0" rtlCol="0" anchor="t"/>
          <a:lstStyle/>
          <a:p>
            <a:pPr indent="0" marL="0">
              <a:buNone/>
            </a:pPr>
            <a:r>
              <a:rPr lang="en-US" sz="1400" b="1" dirty="0">
                <a:solidFill>
                  <a:srgbClr val="202124"/>
                </a:solidFill>
                <a:latin typeface="Arial" pitchFamily="34" charset="0"/>
                <a:ea typeface="Arial" pitchFamily="34" charset="-122"/>
                <a:cs typeface="Arial" pitchFamily="34" charset="-120"/>
              </a:rPr>
              <a:t>Insight is slow and rationed</a:t>
            </a:r>
            <a:endParaRPr lang="en-US" sz="1400" dirty="0"/>
          </a:p>
        </p:txBody>
      </p:sp>
      <p:sp>
        <p:nvSpPr>
          <p:cNvPr id="24" name="Text 19"/>
          <p:cNvSpPr txBox="1"/>
          <p:nvPr/>
        </p:nvSpPr>
        <p:spPr>
          <a:xfrm>
            <a:off x="8046720" y="4315968"/>
            <a:ext cx="3520440" cy="1463040"/>
          </a:xfrm>
          <a:prstGeom prst="rect">
            <a:avLst/>
          </a:prstGeom>
          <a:noFill/>
          <a:ln/>
        </p:spPr>
        <p:txBody>
          <a:bodyPr wrap="square" lIns="0" tIns="0" rIns="0" bIns="0" rtlCol="0" anchor="t"/>
          <a:lstStyle/>
          <a:p>
            <a:pPr indent="0" marL="0">
              <a:lnSpc>
                <a:spcPct val="120000"/>
              </a:lnSpc>
              <a:buNone/>
            </a:pPr>
            <a:r>
              <a:rPr lang="en-US" sz="1150" dirty="0">
                <a:solidFill>
                  <a:srgbClr val="5F6368"/>
                </a:solidFill>
                <a:latin typeface="Arial" pitchFamily="34" charset="0"/>
                <a:ea typeface="Arial" pitchFamily="34" charset="-122"/>
                <a:cs typeface="Arial" pitchFamily="34" charset="-120"/>
              </a:rPr>
              <a:t>A director's question becomes an analyst's week. A clinician cannot ask at all. Dashboards answer the questions someone anticipated.</a:t>
            </a:r>
            <a:endParaRPr lang="en-US" sz="1150" dirty="0"/>
          </a:p>
        </p:txBody>
      </p:sp>
      <p:sp>
        <p:nvSpPr>
          <p:cNvPr id="25" name="Text 20"/>
          <p:cNvSpPr txBox="1"/>
          <p:nvPr/>
        </p:nvSpPr>
        <p:spPr>
          <a:xfrm>
            <a:off x="548640" y="6035040"/>
            <a:ext cx="10972800" cy="274320"/>
          </a:xfrm>
          <a:prstGeom prst="rect">
            <a:avLst/>
          </a:prstGeom>
          <a:noFill/>
          <a:ln/>
        </p:spPr>
        <p:txBody>
          <a:bodyPr wrap="square" lIns="0" tIns="0" rIns="0" bIns="0" rtlCol="0" anchor="t"/>
          <a:lstStyle/>
          <a:p>
            <a:pPr indent="0" marL="0">
              <a:buNone/>
            </a:pPr>
            <a:r>
              <a:rPr lang="en-US" sz="850" dirty="0">
                <a:solidFill>
                  <a:srgbClr val="9AA0A6"/>
                </a:solidFill>
                <a:latin typeface="Arial" pitchFamily="34" charset="0"/>
                <a:ea typeface="Arial" pitchFamily="34" charset="-122"/>
                <a:cs typeface="Arial" pitchFamily="34" charset="-120"/>
              </a:rPr>
              <a:t>Sources: IDF Diabetes Atlas country profile (Qatar); Qatar National Diabetes Strategy 2016 to 2022 and national cost projections as reported by Gulf Times.</a:t>
            </a:r>
            <a:endParaRPr lang="en-US" sz="850" dirty="0"/>
          </a:p>
        </p:txBody>
      </p:sp>
      <p:sp>
        <p:nvSpPr>
          <p:cNvPr id="26" name="Text 21"/>
          <p:cNvSpPr txBox="1"/>
          <p:nvPr/>
        </p:nvSpPr>
        <p:spPr>
          <a:xfrm>
            <a:off x="548640" y="6446520"/>
            <a:ext cx="9144000" cy="228600"/>
          </a:xfrm>
          <a:prstGeom prst="rect">
            <a:avLst/>
          </a:prstGeom>
          <a:noFill/>
          <a:ln/>
        </p:spPr>
        <p:txBody>
          <a:bodyPr wrap="square" lIns="0" tIns="0" rIns="0" bIns="0" rtlCol="0" anchor="t"/>
          <a:lstStyle/>
          <a:p>
            <a:pPr indent="0" marL="0">
              <a:buNone/>
            </a:pPr>
            <a:r>
              <a:rPr lang="en-US" sz="850" dirty="0">
                <a:solidFill>
                  <a:srgbClr val="9AA0A6"/>
                </a:solidFill>
                <a:latin typeface="Arial" pitchFamily="34" charset="0"/>
                <a:ea typeface="Arial" pitchFamily="34" charset="-122"/>
                <a:cs typeface="Arial" pitchFamily="34" charset="-120"/>
              </a:rPr>
              <a:t>Nabd نبض · Diabetes population health on Google Cloud · Customer Engineering</a:t>
            </a:r>
            <a:endParaRPr lang="en-US" sz="850" dirty="0"/>
          </a:p>
        </p:txBody>
      </p:sp>
      <p:sp>
        <p:nvSpPr>
          <p:cNvPr id="27" name="Text 22"/>
          <p:cNvSpPr txBox="1"/>
          <p:nvPr/>
        </p:nvSpPr>
        <p:spPr>
          <a:xfrm>
            <a:off x="11155680" y="6446520"/>
            <a:ext cx="457200" cy="228600"/>
          </a:xfrm>
          <a:prstGeom prst="rect">
            <a:avLst/>
          </a:prstGeom>
          <a:noFill/>
          <a:ln/>
        </p:spPr>
        <p:txBody>
          <a:bodyPr wrap="square" lIns="0" tIns="0" rIns="0" bIns="0" rtlCol="0" anchor="t"/>
          <a:lstStyle/>
          <a:p>
            <a:pPr algn="r" indent="0" marL="0">
              <a:buNone/>
            </a:pPr>
            <a:r>
              <a:rPr lang="en-US" sz="850" dirty="0">
                <a:solidFill>
                  <a:srgbClr val="9AA0A6"/>
                </a:solidFill>
                <a:latin typeface="Arial" pitchFamily="34" charset="0"/>
                <a:ea typeface="Arial" pitchFamily="34" charset="-122"/>
                <a:cs typeface="Arial"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457200"/>
            <a:ext cx="11064240" cy="868680"/>
          </a:xfrm>
          <a:prstGeom prst="rect">
            <a:avLst/>
          </a:prstGeom>
          <a:noFill/>
          <a:ln/>
        </p:spPr>
        <p:txBody>
          <a:bodyPr wrap="square" lIns="0" tIns="0" rIns="0" bIns="0" rtlCol="0" anchor="t"/>
          <a:lstStyle/>
          <a:p>
            <a:pPr indent="0" marL="0">
              <a:lnSpc>
                <a:spcPct val="105000"/>
              </a:lnSpc>
              <a:buNone/>
            </a:pPr>
            <a:r>
              <a:rPr lang="en-US" sz="2600" b="1" dirty="0">
                <a:solidFill>
                  <a:srgbClr val="202124"/>
                </a:solidFill>
                <a:latin typeface="Arial" pitchFamily="34" charset="0"/>
                <a:ea typeface="Arial" pitchFamily="34" charset="-122"/>
                <a:cs typeface="Arial" pitchFamily="34" charset="-120"/>
              </a:rPr>
              <a:t>From registry, to predictive programme, to agentic assistant</a:t>
            </a:r>
            <a:endParaRPr lang="en-US" sz="2600" dirty="0"/>
          </a:p>
        </p:txBody>
      </p:sp>
      <p:sp>
        <p:nvSpPr>
          <p:cNvPr id="3" name="Text 1"/>
          <p:cNvSpPr txBox="1"/>
          <p:nvPr/>
        </p:nvSpPr>
        <p:spPr>
          <a:xfrm>
            <a:off x="548640" y="1298448"/>
            <a:ext cx="11064240" cy="320040"/>
          </a:xfrm>
          <a:prstGeom prst="rect">
            <a:avLst/>
          </a:prstGeom>
          <a:noFill/>
          <a:ln/>
        </p:spPr>
        <p:txBody>
          <a:bodyPr wrap="square" lIns="0" tIns="0" rIns="0" bIns="0" rtlCol="0" anchor="t"/>
          <a:lstStyle/>
          <a:p>
            <a:pPr indent="0" marL="0">
              <a:buNone/>
            </a:pPr>
            <a:r>
              <a:rPr lang="en-US" sz="1300" dirty="0">
                <a:solidFill>
                  <a:srgbClr val="5F6368"/>
                </a:solidFill>
                <a:latin typeface="Arial" pitchFamily="34" charset="0"/>
                <a:ea typeface="Arial" pitchFamily="34" charset="-122"/>
                <a:cs typeface="Arial" pitchFamily="34" charset="-120"/>
              </a:rPr>
              <a:t>Each stage builds on the previous one. The registry and the models become tools the agent calls.</a:t>
            </a:r>
            <a:endParaRPr lang="en-US" sz="1300" dirty="0"/>
          </a:p>
        </p:txBody>
      </p:sp>
      <p:sp>
        <p:nvSpPr>
          <p:cNvPr id="4" name="Shape 2"/>
          <p:cNvSpPr/>
          <p:nvPr/>
        </p:nvSpPr>
        <p:spPr>
          <a:xfrm>
            <a:off x="548640" y="1783080"/>
            <a:ext cx="3566160" cy="3291840"/>
          </a:xfrm>
          <a:prstGeom prst="roundRect">
            <a:avLst>
              <a:gd name="adj" fmla="val 2222"/>
            </a:avLst>
          </a:prstGeom>
          <a:solidFill>
            <a:srgbClr val="F8F9FA"/>
          </a:solidFill>
          <a:ln w="12700">
            <a:solidFill>
              <a:srgbClr val="F8F9FA"/>
            </a:solidFill>
            <a:prstDash val="solid"/>
          </a:ln>
        </p:spPr>
      </p:sp>
      <p:sp>
        <p:nvSpPr>
          <p:cNvPr id="5" name="Shape 3"/>
          <p:cNvSpPr/>
          <p:nvPr/>
        </p:nvSpPr>
        <p:spPr>
          <a:xfrm>
            <a:off x="777240" y="2011680"/>
            <a:ext cx="548640" cy="548640"/>
          </a:xfrm>
          <a:prstGeom prst="ellipse">
            <a:avLst/>
          </a:prstGeom>
          <a:solidFill>
            <a:srgbClr val="4285F4"/>
          </a:solidFill>
          <a:ln w="12700">
            <a:solidFill>
              <a:srgbClr val="4285F4"/>
            </a:solidFill>
            <a:prstDash val="solid"/>
          </a:ln>
        </p:spPr>
      </p:sp>
      <p:pic>
        <p:nvPicPr>
          <p:cNvPr id="6" name="Image 0" descr="preencoded.png">    </p:cNvPr>
          <p:cNvPicPr>
            <a:picLocks noChangeAspect="1"/>
          </p:cNvPicPr>
          <p:nvPr/>
        </p:nvPicPr>
        <p:blipFill>
          <a:blip r:embed="rId1"/>
          <a:stretch>
            <a:fillRect/>
          </a:stretch>
        </p:blipFill>
        <p:spPr>
          <a:xfrm>
            <a:off x="908914" y="2143354"/>
            <a:ext cx="285293" cy="285293"/>
          </a:xfrm>
          <a:prstGeom prst="rect">
            <a:avLst/>
          </a:prstGeom>
        </p:spPr>
      </p:pic>
      <p:sp>
        <p:nvSpPr>
          <p:cNvPr id="7" name="Text 4"/>
          <p:cNvSpPr txBox="1"/>
          <p:nvPr/>
        </p:nvSpPr>
        <p:spPr>
          <a:xfrm>
            <a:off x="1463040" y="2011680"/>
            <a:ext cx="914400" cy="228600"/>
          </a:xfrm>
          <a:prstGeom prst="rect">
            <a:avLst/>
          </a:prstGeom>
          <a:noFill/>
          <a:ln/>
        </p:spPr>
        <p:txBody>
          <a:bodyPr wrap="square" lIns="0" tIns="0" rIns="0" bIns="0" rtlCol="0" anchor="t"/>
          <a:lstStyle/>
          <a:p>
            <a:pPr indent="0" marL="0">
              <a:buNone/>
            </a:pPr>
            <a:r>
              <a:rPr lang="en-US" sz="1000" b="1" spc="200" kern="0" dirty="0">
                <a:solidFill>
                  <a:srgbClr val="4285F4"/>
                </a:solidFill>
                <a:latin typeface="Arial" pitchFamily="34" charset="0"/>
                <a:ea typeface="Arial" pitchFamily="34" charset="-122"/>
                <a:cs typeface="Arial" pitchFamily="34" charset="-120"/>
              </a:rPr>
              <a:t>01</a:t>
            </a:r>
            <a:endParaRPr lang="en-US" sz="1000" dirty="0"/>
          </a:p>
        </p:txBody>
      </p:sp>
      <p:sp>
        <p:nvSpPr>
          <p:cNvPr id="8" name="Text 5"/>
          <p:cNvSpPr txBox="1"/>
          <p:nvPr/>
        </p:nvSpPr>
        <p:spPr>
          <a:xfrm>
            <a:off x="1463040" y="2212848"/>
            <a:ext cx="2468880" cy="365760"/>
          </a:xfrm>
          <a:prstGeom prst="rect">
            <a:avLst/>
          </a:prstGeom>
          <a:noFill/>
          <a:ln/>
        </p:spPr>
        <p:txBody>
          <a:bodyPr wrap="square" lIns="0" tIns="0" rIns="0" bIns="0" rtlCol="0" anchor="t"/>
          <a:lstStyle/>
          <a:p>
            <a:pPr indent="0" marL="0">
              <a:buNone/>
            </a:pPr>
            <a:r>
              <a:rPr lang="en-US" sz="1800" b="1" dirty="0">
                <a:solidFill>
                  <a:srgbClr val="202124"/>
                </a:solidFill>
                <a:latin typeface="Arial" pitchFamily="34" charset="0"/>
                <a:ea typeface="Arial" pitchFamily="34" charset="-122"/>
                <a:cs typeface="Arial" pitchFamily="34" charset="-120"/>
              </a:rPr>
              <a:t>Registry</a:t>
            </a:r>
            <a:endParaRPr lang="en-US" sz="1800" dirty="0"/>
          </a:p>
        </p:txBody>
      </p:sp>
      <p:sp>
        <p:nvSpPr>
          <p:cNvPr id="9" name="Text 6"/>
          <p:cNvSpPr txBox="1"/>
          <p:nvPr/>
        </p:nvSpPr>
        <p:spPr>
          <a:xfrm>
            <a:off x="777240" y="2743200"/>
            <a:ext cx="3108960" cy="274320"/>
          </a:xfrm>
          <a:prstGeom prst="rect">
            <a:avLst/>
          </a:prstGeom>
          <a:noFill/>
          <a:ln/>
        </p:spPr>
        <p:txBody>
          <a:bodyPr wrap="square" lIns="0" tIns="0" rIns="0" bIns="0" rtlCol="0" anchor="t"/>
          <a:lstStyle/>
          <a:p>
            <a:pPr indent="0" marL="0">
              <a:buNone/>
            </a:pPr>
            <a:r>
              <a:rPr lang="en-US" sz="1200" b="1" dirty="0">
                <a:solidFill>
                  <a:srgbClr val="4285F4"/>
                </a:solidFill>
                <a:latin typeface="Arial" pitchFamily="34" charset="0"/>
                <a:ea typeface="Arial" pitchFamily="34" charset="-122"/>
                <a:cs typeface="Arial" pitchFamily="34" charset="-120"/>
              </a:rPr>
              <a:t>Describe</a:t>
            </a:r>
            <a:endParaRPr lang="en-US" sz="1200" dirty="0"/>
          </a:p>
        </p:txBody>
      </p:sp>
      <p:sp>
        <p:nvSpPr>
          <p:cNvPr id="10" name="Text 7"/>
          <p:cNvSpPr txBox="1"/>
          <p:nvPr/>
        </p:nvSpPr>
        <p:spPr>
          <a:xfrm>
            <a:off x="777240" y="3063240"/>
            <a:ext cx="3108960" cy="1463040"/>
          </a:xfrm>
          <a:prstGeom prst="rect">
            <a:avLst/>
          </a:prstGeom>
          <a:noFill/>
          <a:ln/>
        </p:spPr>
        <p:txBody>
          <a:bodyPr wrap="square" lIns="0" tIns="0" rIns="0" bIns="0" rtlCol="0" anchor="t"/>
          <a:lstStyle/>
          <a:p>
            <a:pPr indent="0" marL="0">
              <a:lnSpc>
                <a:spcPct val="120000"/>
              </a:lnSpc>
              <a:buNone/>
            </a:pPr>
            <a:r>
              <a:rPr lang="en-US" sz="1150" dirty="0">
                <a:solidFill>
                  <a:srgbClr val="5F6368"/>
                </a:solidFill>
                <a:latin typeface="Arial" pitchFamily="34" charset="0"/>
                <a:ea typeface="Arial" pitchFamily="34" charset="-122"/>
                <a:cs typeface="Arial" pitchFamily="34" charset="-120"/>
              </a:rPr>
              <a:t>Diabetic patient summary, geography of visits, cohorts by nationality and age. The pattern used by state registries in the United States and by Emirates Health Services.</a:t>
            </a:r>
            <a:endParaRPr lang="en-US" sz="1150" dirty="0"/>
          </a:p>
        </p:txBody>
      </p:sp>
      <p:sp>
        <p:nvSpPr>
          <p:cNvPr id="11" name="Text 8"/>
          <p:cNvSpPr txBox="1"/>
          <p:nvPr/>
        </p:nvSpPr>
        <p:spPr>
          <a:xfrm>
            <a:off x="777240" y="4343400"/>
            <a:ext cx="3108960" cy="640080"/>
          </a:xfrm>
          <a:prstGeom prst="rect">
            <a:avLst/>
          </a:prstGeom>
          <a:noFill/>
          <a:ln/>
        </p:spPr>
        <p:txBody>
          <a:bodyPr wrap="square" lIns="0" tIns="0" rIns="0" bIns="0" rtlCol="0" anchor="t"/>
          <a:lstStyle/>
          <a:p>
            <a:pPr indent="0" marL="0">
              <a:lnSpc>
                <a:spcPct val="130000"/>
              </a:lnSpc>
              <a:buNone/>
            </a:pPr>
            <a:r>
              <a:rPr lang="en-US" sz="1050" dirty="0">
                <a:solidFill>
                  <a:srgbClr val="202124"/>
                </a:solidFill>
                <a:latin typeface="Arial" pitchFamily="34" charset="0"/>
                <a:ea typeface="Arial" pitchFamily="34" charset="-122"/>
                <a:cs typeface="Arial" pitchFamily="34" charset="-120"/>
              </a:rPr>
              <a:t>Who: analysts, planners</a:t>
            </a:r>
            <a:endParaRPr lang="en-US" sz="1050" dirty="0"/>
          </a:p>
          <a:p>
            <a:pPr indent="0" marL="0">
              <a:lnSpc>
                <a:spcPct val="130000"/>
              </a:lnSpc>
              <a:buNone/>
            </a:pPr>
            <a:r>
              <a:rPr lang="en-US" sz="1050" dirty="0">
                <a:solidFill>
                  <a:srgbClr val="202124"/>
                </a:solidFill>
                <a:latin typeface="Arial" pitchFamily="34" charset="0"/>
                <a:ea typeface="Arial" pitchFamily="34" charset="-122"/>
                <a:cs typeface="Arial" pitchFamily="34" charset="-120"/>
              </a:rPr>
              <a:t>Answers: how many, where, who</a:t>
            </a:r>
            <a:endParaRPr lang="en-US" sz="1050" dirty="0"/>
          </a:p>
        </p:txBody>
      </p:sp>
      <p:sp>
        <p:nvSpPr>
          <p:cNvPr id="12" name="Shape 9"/>
          <p:cNvSpPr/>
          <p:nvPr/>
        </p:nvSpPr>
        <p:spPr>
          <a:xfrm>
            <a:off x="4133088" y="3429000"/>
            <a:ext cx="146304" cy="0"/>
          </a:xfrm>
          <a:prstGeom prst="line">
            <a:avLst/>
          </a:prstGeom>
          <a:noFill/>
          <a:ln w="15875">
            <a:solidFill>
              <a:srgbClr val="5F6368"/>
            </a:solidFill>
            <a:prstDash val="solid"/>
            <a:tailEnd type="triangle"/>
          </a:ln>
        </p:spPr>
      </p:sp>
      <p:sp>
        <p:nvSpPr>
          <p:cNvPr id="13" name="Shape 10"/>
          <p:cNvSpPr/>
          <p:nvPr/>
        </p:nvSpPr>
        <p:spPr>
          <a:xfrm>
            <a:off x="4297680" y="1783080"/>
            <a:ext cx="3566160" cy="3291840"/>
          </a:xfrm>
          <a:prstGeom prst="roundRect">
            <a:avLst>
              <a:gd name="adj" fmla="val 2222"/>
            </a:avLst>
          </a:prstGeom>
          <a:solidFill>
            <a:srgbClr val="F8F9FA"/>
          </a:solidFill>
          <a:ln w="12700">
            <a:solidFill>
              <a:srgbClr val="F8F9FA"/>
            </a:solidFill>
            <a:prstDash val="solid"/>
          </a:ln>
        </p:spPr>
      </p:sp>
      <p:sp>
        <p:nvSpPr>
          <p:cNvPr id="14" name="Shape 11"/>
          <p:cNvSpPr/>
          <p:nvPr/>
        </p:nvSpPr>
        <p:spPr>
          <a:xfrm>
            <a:off x="4526280" y="2011680"/>
            <a:ext cx="548640" cy="548640"/>
          </a:xfrm>
          <a:prstGeom prst="ellipse">
            <a:avLst/>
          </a:prstGeom>
          <a:solidFill>
            <a:srgbClr val="FBBC04"/>
          </a:solidFill>
          <a:ln w="12700">
            <a:solidFill>
              <a:srgbClr val="FBBC04"/>
            </a:solidFill>
            <a:prstDash val="solid"/>
          </a:ln>
        </p:spPr>
      </p:sp>
      <p:pic>
        <p:nvPicPr>
          <p:cNvPr id="15" name="Image 1" descr="preencoded.png">    </p:cNvPr>
          <p:cNvPicPr>
            <a:picLocks noChangeAspect="1"/>
          </p:cNvPicPr>
          <p:nvPr/>
        </p:nvPicPr>
        <p:blipFill>
          <a:blip r:embed="rId2"/>
          <a:stretch>
            <a:fillRect/>
          </a:stretch>
        </p:blipFill>
        <p:spPr>
          <a:xfrm>
            <a:off x="4657954" y="2143354"/>
            <a:ext cx="285293" cy="285293"/>
          </a:xfrm>
          <a:prstGeom prst="rect">
            <a:avLst/>
          </a:prstGeom>
        </p:spPr>
      </p:pic>
      <p:sp>
        <p:nvSpPr>
          <p:cNvPr id="16" name="Text 12"/>
          <p:cNvSpPr txBox="1"/>
          <p:nvPr/>
        </p:nvSpPr>
        <p:spPr>
          <a:xfrm>
            <a:off x="5212080" y="2011680"/>
            <a:ext cx="914400" cy="228600"/>
          </a:xfrm>
          <a:prstGeom prst="rect">
            <a:avLst/>
          </a:prstGeom>
          <a:noFill/>
          <a:ln/>
        </p:spPr>
        <p:txBody>
          <a:bodyPr wrap="square" lIns="0" tIns="0" rIns="0" bIns="0" rtlCol="0" anchor="t"/>
          <a:lstStyle/>
          <a:p>
            <a:pPr indent="0" marL="0">
              <a:buNone/>
            </a:pPr>
            <a:r>
              <a:rPr lang="en-US" sz="1000" b="1" spc="200" kern="0" dirty="0">
                <a:solidFill>
                  <a:srgbClr val="FBBC04"/>
                </a:solidFill>
                <a:latin typeface="Arial" pitchFamily="34" charset="0"/>
                <a:ea typeface="Arial" pitchFamily="34" charset="-122"/>
                <a:cs typeface="Arial" pitchFamily="34" charset="-120"/>
              </a:rPr>
              <a:t>02</a:t>
            </a:r>
            <a:endParaRPr lang="en-US" sz="1000" dirty="0"/>
          </a:p>
        </p:txBody>
      </p:sp>
      <p:sp>
        <p:nvSpPr>
          <p:cNvPr id="17" name="Text 13"/>
          <p:cNvSpPr txBox="1"/>
          <p:nvPr/>
        </p:nvSpPr>
        <p:spPr>
          <a:xfrm>
            <a:off x="5212080" y="2212848"/>
            <a:ext cx="2468880" cy="365760"/>
          </a:xfrm>
          <a:prstGeom prst="rect">
            <a:avLst/>
          </a:prstGeom>
          <a:noFill/>
          <a:ln/>
        </p:spPr>
        <p:txBody>
          <a:bodyPr wrap="square" lIns="0" tIns="0" rIns="0" bIns="0" rtlCol="0" anchor="t"/>
          <a:lstStyle/>
          <a:p>
            <a:pPr indent="0" marL="0">
              <a:buNone/>
            </a:pPr>
            <a:r>
              <a:rPr lang="en-US" sz="1800" b="1" dirty="0">
                <a:solidFill>
                  <a:srgbClr val="202124"/>
                </a:solidFill>
                <a:latin typeface="Arial" pitchFamily="34" charset="0"/>
                <a:ea typeface="Arial" pitchFamily="34" charset="-122"/>
                <a:cs typeface="Arial" pitchFamily="34" charset="-120"/>
              </a:rPr>
              <a:t>Predictive programme</a:t>
            </a:r>
            <a:endParaRPr lang="en-US" sz="1800" dirty="0"/>
          </a:p>
        </p:txBody>
      </p:sp>
      <p:sp>
        <p:nvSpPr>
          <p:cNvPr id="18" name="Text 14"/>
          <p:cNvSpPr txBox="1"/>
          <p:nvPr/>
        </p:nvSpPr>
        <p:spPr>
          <a:xfrm>
            <a:off x="4526280" y="2743200"/>
            <a:ext cx="3108960" cy="274320"/>
          </a:xfrm>
          <a:prstGeom prst="rect">
            <a:avLst/>
          </a:prstGeom>
          <a:noFill/>
          <a:ln/>
        </p:spPr>
        <p:txBody>
          <a:bodyPr wrap="square" lIns="0" tIns="0" rIns="0" bIns="0" rtlCol="0" anchor="t"/>
          <a:lstStyle/>
          <a:p>
            <a:pPr indent="0" marL="0">
              <a:buNone/>
            </a:pPr>
            <a:r>
              <a:rPr lang="en-US" sz="1200" b="1" dirty="0">
                <a:solidFill>
                  <a:srgbClr val="FBBC04"/>
                </a:solidFill>
                <a:latin typeface="Arial" pitchFamily="34" charset="0"/>
                <a:ea typeface="Arial" pitchFamily="34" charset="-122"/>
                <a:cs typeface="Arial" pitchFamily="34" charset="-120"/>
              </a:rPr>
              <a:t>Anticipate</a:t>
            </a:r>
            <a:endParaRPr lang="en-US" sz="1200" dirty="0"/>
          </a:p>
        </p:txBody>
      </p:sp>
      <p:sp>
        <p:nvSpPr>
          <p:cNvPr id="19" name="Text 15"/>
          <p:cNvSpPr txBox="1"/>
          <p:nvPr/>
        </p:nvSpPr>
        <p:spPr>
          <a:xfrm>
            <a:off x="4526280" y="3063240"/>
            <a:ext cx="3108960" cy="1463040"/>
          </a:xfrm>
          <a:prstGeom prst="rect">
            <a:avLst/>
          </a:prstGeom>
          <a:noFill/>
          <a:ln/>
        </p:spPr>
        <p:txBody>
          <a:bodyPr wrap="square" lIns="0" tIns="0" rIns="0" bIns="0" rtlCol="0" anchor="t"/>
          <a:lstStyle/>
          <a:p>
            <a:pPr indent="0" marL="0">
              <a:lnSpc>
                <a:spcPct val="120000"/>
              </a:lnSpc>
              <a:buNone/>
            </a:pPr>
            <a:r>
              <a:rPr lang="en-US" sz="1150" dirty="0">
                <a:solidFill>
                  <a:srgbClr val="5F6368"/>
                </a:solidFill>
                <a:latin typeface="Arial" pitchFamily="34" charset="0"/>
                <a:ea typeface="Arial" pitchFamily="34" charset="-122"/>
                <a:cs typeface="Arial" pitchFamily="34" charset="-120"/>
              </a:rPr>
              <a:t>Deterioration prediction, high versus low risk profiles, visit forecasting with confidence bands, cost impact. Built on SAS Viya.</a:t>
            </a:r>
            <a:endParaRPr lang="en-US" sz="1150" dirty="0"/>
          </a:p>
        </p:txBody>
      </p:sp>
      <p:sp>
        <p:nvSpPr>
          <p:cNvPr id="20" name="Text 16"/>
          <p:cNvSpPr txBox="1"/>
          <p:nvPr/>
        </p:nvSpPr>
        <p:spPr>
          <a:xfrm>
            <a:off x="4526280" y="4343400"/>
            <a:ext cx="3108960" cy="640080"/>
          </a:xfrm>
          <a:prstGeom prst="rect">
            <a:avLst/>
          </a:prstGeom>
          <a:noFill/>
          <a:ln/>
        </p:spPr>
        <p:txBody>
          <a:bodyPr wrap="square" lIns="0" tIns="0" rIns="0" bIns="0" rtlCol="0" anchor="t"/>
          <a:lstStyle/>
          <a:p>
            <a:pPr indent="0" marL="0">
              <a:lnSpc>
                <a:spcPct val="130000"/>
              </a:lnSpc>
              <a:buNone/>
            </a:pPr>
            <a:r>
              <a:rPr lang="en-US" sz="1050" dirty="0">
                <a:solidFill>
                  <a:srgbClr val="202124"/>
                </a:solidFill>
                <a:latin typeface="Arial" pitchFamily="34" charset="0"/>
                <a:ea typeface="Arial" pitchFamily="34" charset="-122"/>
                <a:cs typeface="Arial" pitchFamily="34" charset="-120"/>
              </a:rPr>
              <a:t>Who: care managers, finance</a:t>
            </a:r>
            <a:endParaRPr lang="en-US" sz="1050" dirty="0"/>
          </a:p>
          <a:p>
            <a:pPr indent="0" marL="0">
              <a:lnSpc>
                <a:spcPct val="130000"/>
              </a:lnSpc>
              <a:buNone/>
            </a:pPr>
            <a:r>
              <a:rPr lang="en-US" sz="1050" dirty="0">
                <a:solidFill>
                  <a:srgbClr val="202124"/>
                </a:solidFill>
                <a:latin typeface="Arial" pitchFamily="34" charset="0"/>
                <a:ea typeface="Arial" pitchFamily="34" charset="-122"/>
                <a:cs typeface="Arial" pitchFamily="34" charset="-120"/>
              </a:rPr>
              <a:t>Answers: who will deteriorate, what it will cost</a:t>
            </a:r>
            <a:endParaRPr lang="en-US" sz="1050" dirty="0"/>
          </a:p>
        </p:txBody>
      </p:sp>
      <p:sp>
        <p:nvSpPr>
          <p:cNvPr id="21" name="Shape 17"/>
          <p:cNvSpPr/>
          <p:nvPr/>
        </p:nvSpPr>
        <p:spPr>
          <a:xfrm>
            <a:off x="7882128" y="3429000"/>
            <a:ext cx="146304" cy="0"/>
          </a:xfrm>
          <a:prstGeom prst="line">
            <a:avLst/>
          </a:prstGeom>
          <a:noFill/>
          <a:ln w="15875">
            <a:solidFill>
              <a:srgbClr val="5F6368"/>
            </a:solidFill>
            <a:prstDash val="solid"/>
            <a:tailEnd type="triangle"/>
          </a:ln>
        </p:spPr>
      </p:sp>
      <p:sp>
        <p:nvSpPr>
          <p:cNvPr id="22" name="Shape 18"/>
          <p:cNvSpPr/>
          <p:nvPr/>
        </p:nvSpPr>
        <p:spPr>
          <a:xfrm>
            <a:off x="8046720" y="1783080"/>
            <a:ext cx="3566160" cy="3291840"/>
          </a:xfrm>
          <a:prstGeom prst="roundRect">
            <a:avLst>
              <a:gd name="adj" fmla="val 2222"/>
            </a:avLst>
          </a:prstGeom>
          <a:solidFill>
            <a:srgbClr val="E6F4EA"/>
          </a:solidFill>
          <a:ln w="12700">
            <a:solidFill>
              <a:srgbClr val="E6F4EA"/>
            </a:solidFill>
            <a:prstDash val="solid"/>
          </a:ln>
        </p:spPr>
      </p:sp>
      <p:sp>
        <p:nvSpPr>
          <p:cNvPr id="23" name="Shape 19"/>
          <p:cNvSpPr/>
          <p:nvPr/>
        </p:nvSpPr>
        <p:spPr>
          <a:xfrm>
            <a:off x="8275320" y="2011680"/>
            <a:ext cx="548640" cy="548640"/>
          </a:xfrm>
          <a:prstGeom prst="ellipse">
            <a:avLst/>
          </a:prstGeom>
          <a:solidFill>
            <a:srgbClr val="34A853"/>
          </a:solidFill>
          <a:ln w="12700">
            <a:solidFill>
              <a:srgbClr val="34A853"/>
            </a:solidFill>
            <a:prstDash val="solid"/>
          </a:ln>
        </p:spPr>
      </p:sp>
      <p:pic>
        <p:nvPicPr>
          <p:cNvPr id="24" name="Image 2" descr="preencoded.png">    </p:cNvPr>
          <p:cNvPicPr>
            <a:picLocks noChangeAspect="1"/>
          </p:cNvPicPr>
          <p:nvPr/>
        </p:nvPicPr>
        <p:blipFill>
          <a:blip r:embed="rId3"/>
          <a:stretch>
            <a:fillRect/>
          </a:stretch>
        </p:blipFill>
        <p:spPr>
          <a:xfrm>
            <a:off x="8406994" y="2143354"/>
            <a:ext cx="285293" cy="285293"/>
          </a:xfrm>
          <a:prstGeom prst="rect">
            <a:avLst/>
          </a:prstGeom>
        </p:spPr>
      </p:pic>
      <p:sp>
        <p:nvSpPr>
          <p:cNvPr id="25" name="Text 20"/>
          <p:cNvSpPr txBox="1"/>
          <p:nvPr/>
        </p:nvSpPr>
        <p:spPr>
          <a:xfrm>
            <a:off x="8961120" y="2011680"/>
            <a:ext cx="914400" cy="228600"/>
          </a:xfrm>
          <a:prstGeom prst="rect">
            <a:avLst/>
          </a:prstGeom>
          <a:noFill/>
          <a:ln/>
        </p:spPr>
        <p:txBody>
          <a:bodyPr wrap="square" lIns="0" tIns="0" rIns="0" bIns="0" rtlCol="0" anchor="t"/>
          <a:lstStyle/>
          <a:p>
            <a:pPr indent="0" marL="0">
              <a:buNone/>
            </a:pPr>
            <a:r>
              <a:rPr lang="en-US" sz="1000" b="1" spc="200" kern="0" dirty="0">
                <a:solidFill>
                  <a:srgbClr val="34A853"/>
                </a:solidFill>
                <a:latin typeface="Arial" pitchFamily="34" charset="0"/>
                <a:ea typeface="Arial" pitchFamily="34" charset="-122"/>
                <a:cs typeface="Arial" pitchFamily="34" charset="-120"/>
              </a:rPr>
              <a:t>03</a:t>
            </a:r>
            <a:endParaRPr lang="en-US" sz="1000" dirty="0"/>
          </a:p>
        </p:txBody>
      </p:sp>
      <p:sp>
        <p:nvSpPr>
          <p:cNvPr id="26" name="Text 21"/>
          <p:cNvSpPr txBox="1"/>
          <p:nvPr/>
        </p:nvSpPr>
        <p:spPr>
          <a:xfrm>
            <a:off x="8961120" y="2212848"/>
            <a:ext cx="2468880" cy="365760"/>
          </a:xfrm>
          <a:prstGeom prst="rect">
            <a:avLst/>
          </a:prstGeom>
          <a:noFill/>
          <a:ln/>
        </p:spPr>
        <p:txBody>
          <a:bodyPr wrap="square" lIns="0" tIns="0" rIns="0" bIns="0" rtlCol="0" anchor="t"/>
          <a:lstStyle/>
          <a:p>
            <a:pPr indent="0" marL="0">
              <a:buNone/>
            </a:pPr>
            <a:r>
              <a:rPr lang="en-US" sz="1800" b="1" dirty="0">
                <a:solidFill>
                  <a:srgbClr val="202124"/>
                </a:solidFill>
                <a:latin typeface="Arial" pitchFamily="34" charset="0"/>
                <a:ea typeface="Arial" pitchFamily="34" charset="-122"/>
                <a:cs typeface="Arial" pitchFamily="34" charset="-120"/>
              </a:rPr>
              <a:t>Agentic assistant</a:t>
            </a:r>
            <a:endParaRPr lang="en-US" sz="1800" dirty="0"/>
          </a:p>
        </p:txBody>
      </p:sp>
      <p:sp>
        <p:nvSpPr>
          <p:cNvPr id="27" name="Text 22"/>
          <p:cNvSpPr txBox="1"/>
          <p:nvPr/>
        </p:nvSpPr>
        <p:spPr>
          <a:xfrm>
            <a:off x="8275320" y="2743200"/>
            <a:ext cx="3108960" cy="274320"/>
          </a:xfrm>
          <a:prstGeom prst="rect">
            <a:avLst/>
          </a:prstGeom>
          <a:noFill/>
          <a:ln/>
        </p:spPr>
        <p:txBody>
          <a:bodyPr wrap="square" lIns="0" tIns="0" rIns="0" bIns="0" rtlCol="0" anchor="t"/>
          <a:lstStyle/>
          <a:p>
            <a:pPr indent="0" marL="0">
              <a:buNone/>
            </a:pPr>
            <a:r>
              <a:rPr lang="en-US" sz="1200" b="1" dirty="0">
                <a:solidFill>
                  <a:srgbClr val="34A853"/>
                </a:solidFill>
                <a:latin typeface="Arial" pitchFamily="34" charset="0"/>
                <a:ea typeface="Arial" pitchFamily="34" charset="-122"/>
                <a:cs typeface="Arial" pitchFamily="34" charset="-120"/>
              </a:rPr>
              <a:t>Ask and act</a:t>
            </a:r>
            <a:endParaRPr lang="en-US" sz="1200" dirty="0"/>
          </a:p>
        </p:txBody>
      </p:sp>
      <p:sp>
        <p:nvSpPr>
          <p:cNvPr id="28" name="Text 23"/>
          <p:cNvSpPr txBox="1"/>
          <p:nvPr/>
        </p:nvSpPr>
        <p:spPr>
          <a:xfrm>
            <a:off x="8275320" y="3063240"/>
            <a:ext cx="3108960" cy="1463040"/>
          </a:xfrm>
          <a:prstGeom prst="rect">
            <a:avLst/>
          </a:prstGeom>
          <a:noFill/>
          <a:ln/>
        </p:spPr>
        <p:txBody>
          <a:bodyPr wrap="square" lIns="0" tIns="0" rIns="0" bIns="0" rtlCol="0" anchor="t"/>
          <a:lstStyle/>
          <a:p>
            <a:pPr indent="0" marL="0">
              <a:lnSpc>
                <a:spcPct val="120000"/>
              </a:lnSpc>
              <a:buNone/>
            </a:pPr>
            <a:r>
              <a:rPr lang="en-US" sz="1150" dirty="0">
                <a:solidFill>
                  <a:srgbClr val="5F6368"/>
                </a:solidFill>
                <a:latin typeface="Arial" pitchFamily="34" charset="0"/>
                <a:ea typeface="Arial" pitchFamily="34" charset="-122"/>
                <a:cs typeface="Arial" pitchFamily="34" charset="-120"/>
              </a:rPr>
              <a:t>Any clinician or director asks in plain language. Agents query the exchange, cite the national guideline, run the models, and draft actions a human signs.</a:t>
            </a:r>
            <a:endParaRPr lang="en-US" sz="1150" dirty="0"/>
          </a:p>
        </p:txBody>
      </p:sp>
      <p:sp>
        <p:nvSpPr>
          <p:cNvPr id="29" name="Text 24"/>
          <p:cNvSpPr txBox="1"/>
          <p:nvPr/>
        </p:nvSpPr>
        <p:spPr>
          <a:xfrm>
            <a:off x="8275320" y="4343400"/>
            <a:ext cx="3108960" cy="640080"/>
          </a:xfrm>
          <a:prstGeom prst="rect">
            <a:avLst/>
          </a:prstGeom>
          <a:noFill/>
          <a:ln/>
        </p:spPr>
        <p:txBody>
          <a:bodyPr wrap="square" lIns="0" tIns="0" rIns="0" bIns="0" rtlCol="0" anchor="t"/>
          <a:lstStyle/>
          <a:p>
            <a:pPr indent="0" marL="0">
              <a:lnSpc>
                <a:spcPct val="130000"/>
              </a:lnSpc>
              <a:buNone/>
            </a:pPr>
            <a:r>
              <a:rPr lang="en-US" sz="1050" dirty="0">
                <a:solidFill>
                  <a:srgbClr val="202124"/>
                </a:solidFill>
                <a:latin typeface="Arial" pitchFamily="34" charset="0"/>
                <a:ea typeface="Arial" pitchFamily="34" charset="-122"/>
                <a:cs typeface="Arial" pitchFamily="34" charset="-120"/>
              </a:rPr>
              <a:t>Who: every clinician, every director</a:t>
            </a:r>
            <a:endParaRPr lang="en-US" sz="1050" dirty="0"/>
          </a:p>
          <a:p>
            <a:pPr indent="0" marL="0">
              <a:lnSpc>
                <a:spcPct val="130000"/>
              </a:lnSpc>
              <a:buNone/>
            </a:pPr>
            <a:r>
              <a:rPr lang="en-US" sz="1050" dirty="0">
                <a:solidFill>
                  <a:srgbClr val="202124"/>
                </a:solidFill>
                <a:latin typeface="Arial" pitchFamily="34" charset="0"/>
                <a:ea typeface="Arial" pitchFamily="34" charset="-122"/>
                <a:cs typeface="Arial" pitchFamily="34" charset="-120"/>
              </a:rPr>
              <a:t>Answers: the question nobody anticipated</a:t>
            </a:r>
            <a:endParaRPr lang="en-US" sz="1050" dirty="0"/>
          </a:p>
        </p:txBody>
      </p:sp>
      <p:sp>
        <p:nvSpPr>
          <p:cNvPr id="30" name="Text 25"/>
          <p:cNvSpPr txBox="1"/>
          <p:nvPr/>
        </p:nvSpPr>
        <p:spPr>
          <a:xfrm>
            <a:off x="548640" y="5394960"/>
            <a:ext cx="11064240" cy="457200"/>
          </a:xfrm>
          <a:prstGeom prst="rect">
            <a:avLst/>
          </a:prstGeom>
          <a:noFill/>
          <a:ln/>
        </p:spPr>
        <p:txBody>
          <a:bodyPr wrap="square" lIns="0" tIns="0" rIns="0" bIns="0" rtlCol="0" anchor="t"/>
          <a:lstStyle/>
          <a:p>
            <a:pPr indent="0" marL="0">
              <a:buNone/>
            </a:pPr>
            <a:r>
              <a:rPr lang="en-US" sz="1250" b="1" dirty="0">
                <a:solidFill>
                  <a:srgbClr val="202124"/>
                </a:solidFill>
                <a:latin typeface="Arial" pitchFamily="34" charset="0"/>
                <a:ea typeface="Arial" pitchFamily="34" charset="-122"/>
                <a:cs typeface="Arial" pitchFamily="34" charset="-120"/>
              </a:rPr>
              <a:t>What changes: </a:t>
            </a:r>
            <a:pPr indent="0" marL="0">
              <a:buNone/>
            </a:pPr>
            <a:r>
              <a:rPr lang="en-US" sz="1250" dirty="0">
                <a:solidFill>
                  <a:srgbClr val="5F6368"/>
                </a:solidFill>
                <a:latin typeface="Arial" pitchFamily="34" charset="0"/>
                <a:ea typeface="Arial" pitchFamily="34" charset="-122"/>
                <a:cs typeface="Arial" pitchFamily="34" charset="-120"/>
              </a:rPr>
              <a:t>from dashboards people must find, to answers people can ask for, with the same rigour, the same models, and a human signature on every action.</a:t>
            </a:r>
            <a:endParaRPr lang="en-US" sz="1250" dirty="0"/>
          </a:p>
        </p:txBody>
      </p:sp>
      <p:sp>
        <p:nvSpPr>
          <p:cNvPr id="31" name="Text 26"/>
          <p:cNvSpPr txBox="1"/>
          <p:nvPr/>
        </p:nvSpPr>
        <p:spPr>
          <a:xfrm>
            <a:off x="548640" y="6446520"/>
            <a:ext cx="9144000" cy="228600"/>
          </a:xfrm>
          <a:prstGeom prst="rect">
            <a:avLst/>
          </a:prstGeom>
          <a:noFill/>
          <a:ln/>
        </p:spPr>
        <p:txBody>
          <a:bodyPr wrap="square" lIns="0" tIns="0" rIns="0" bIns="0" rtlCol="0" anchor="t"/>
          <a:lstStyle/>
          <a:p>
            <a:pPr indent="0" marL="0">
              <a:buNone/>
            </a:pPr>
            <a:r>
              <a:rPr lang="en-US" sz="850" dirty="0">
                <a:solidFill>
                  <a:srgbClr val="9AA0A6"/>
                </a:solidFill>
                <a:latin typeface="Arial" pitchFamily="34" charset="0"/>
                <a:ea typeface="Arial" pitchFamily="34" charset="-122"/>
                <a:cs typeface="Arial" pitchFamily="34" charset="-120"/>
              </a:rPr>
              <a:t>Nabd نبض · Diabetes population health on Google Cloud · Customer Engineering</a:t>
            </a:r>
            <a:endParaRPr lang="en-US" sz="850" dirty="0"/>
          </a:p>
        </p:txBody>
      </p:sp>
      <p:sp>
        <p:nvSpPr>
          <p:cNvPr id="32" name="Text 27"/>
          <p:cNvSpPr txBox="1"/>
          <p:nvPr/>
        </p:nvSpPr>
        <p:spPr>
          <a:xfrm>
            <a:off x="11155680" y="6446520"/>
            <a:ext cx="457200" cy="228600"/>
          </a:xfrm>
          <a:prstGeom prst="rect">
            <a:avLst/>
          </a:prstGeom>
          <a:noFill/>
          <a:ln/>
        </p:spPr>
        <p:txBody>
          <a:bodyPr wrap="square" lIns="0" tIns="0" rIns="0" bIns="0" rtlCol="0" anchor="t"/>
          <a:lstStyle/>
          <a:p>
            <a:pPr algn="r" indent="0" marL="0">
              <a:buNone/>
            </a:pPr>
            <a:r>
              <a:rPr lang="en-US" sz="850" dirty="0">
                <a:solidFill>
                  <a:srgbClr val="9AA0A6"/>
                </a:solidFill>
                <a:latin typeface="Arial" pitchFamily="34" charset="0"/>
                <a:ea typeface="Arial" pitchFamily="34" charset="-122"/>
                <a:cs typeface="Arial"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457200"/>
            <a:ext cx="11064240" cy="868680"/>
          </a:xfrm>
          <a:prstGeom prst="rect">
            <a:avLst/>
          </a:prstGeom>
          <a:noFill/>
          <a:ln/>
        </p:spPr>
        <p:txBody>
          <a:bodyPr wrap="square" lIns="0" tIns="0" rIns="0" bIns="0" rtlCol="0" anchor="t"/>
          <a:lstStyle/>
          <a:p>
            <a:pPr indent="0" marL="0">
              <a:lnSpc>
                <a:spcPct val="105000"/>
              </a:lnSpc>
              <a:buNone/>
            </a:pPr>
            <a:r>
              <a:rPr lang="en-US" sz="2600" b="1" dirty="0">
                <a:solidFill>
                  <a:srgbClr val="202124"/>
                </a:solidFill>
                <a:latin typeface="Arial" pitchFamily="34" charset="0"/>
                <a:ea typeface="Arial" pitchFamily="34" charset="-122"/>
                <a:cs typeface="Arial" pitchFamily="34" charset="-120"/>
              </a:rPr>
              <a:t>Nabd: one conversation over the exchange, the guidelines and the models</a:t>
            </a:r>
            <a:endParaRPr lang="en-US" sz="2600" dirty="0"/>
          </a:p>
        </p:txBody>
      </p:sp>
      <p:sp>
        <p:nvSpPr>
          <p:cNvPr id="3" name="Text 1"/>
          <p:cNvSpPr txBox="1"/>
          <p:nvPr/>
        </p:nvSpPr>
        <p:spPr>
          <a:xfrm>
            <a:off x="548640" y="1298448"/>
            <a:ext cx="11064240" cy="320040"/>
          </a:xfrm>
          <a:prstGeom prst="rect">
            <a:avLst/>
          </a:prstGeom>
          <a:noFill/>
          <a:ln/>
        </p:spPr>
        <p:txBody>
          <a:bodyPr wrap="square" lIns="0" tIns="0" rIns="0" bIns="0" rtlCol="0" anchor="t"/>
          <a:lstStyle/>
          <a:p>
            <a:pPr indent="0" marL="0">
              <a:buNone/>
            </a:pPr>
            <a:r>
              <a:rPr lang="en-US" sz="1300" dirty="0">
                <a:solidFill>
                  <a:srgbClr val="5F6368"/>
                </a:solidFill>
                <a:latin typeface="Arial" pitchFamily="34" charset="0"/>
                <a:ea typeface="Arial" pitchFamily="34" charset="-122"/>
                <a:cs typeface="Arial" pitchFamily="34" charset="-120"/>
              </a:rPr>
              <a:t>The same four capabilities as the predictive programme, available to anyone who can ask.</a:t>
            </a:r>
            <a:endParaRPr lang="en-US" sz="1300" dirty="0"/>
          </a:p>
        </p:txBody>
      </p:sp>
      <p:sp>
        <p:nvSpPr>
          <p:cNvPr id="4" name="Shape 2"/>
          <p:cNvSpPr/>
          <p:nvPr/>
        </p:nvSpPr>
        <p:spPr>
          <a:xfrm>
            <a:off x="548640" y="1783080"/>
            <a:ext cx="3063240" cy="1828800"/>
          </a:xfrm>
          <a:prstGeom prst="roundRect">
            <a:avLst>
              <a:gd name="adj" fmla="val 4000"/>
            </a:avLst>
          </a:prstGeom>
          <a:solidFill>
            <a:srgbClr val="F8F9FA"/>
          </a:solidFill>
          <a:ln w="12700">
            <a:solidFill>
              <a:srgbClr val="F8F9FA"/>
            </a:solidFill>
            <a:prstDash val="solid"/>
          </a:ln>
        </p:spPr>
      </p:sp>
      <p:sp>
        <p:nvSpPr>
          <p:cNvPr id="5" name="Shape 3"/>
          <p:cNvSpPr/>
          <p:nvPr/>
        </p:nvSpPr>
        <p:spPr>
          <a:xfrm>
            <a:off x="749808" y="1984248"/>
            <a:ext cx="457200" cy="457200"/>
          </a:xfrm>
          <a:prstGeom prst="ellipse">
            <a:avLst/>
          </a:prstGeom>
          <a:solidFill>
            <a:srgbClr val="4285F4"/>
          </a:solidFill>
          <a:ln w="12700">
            <a:solidFill>
              <a:srgbClr val="4285F4"/>
            </a:solidFill>
            <a:prstDash val="solid"/>
          </a:ln>
        </p:spPr>
      </p:sp>
      <p:pic>
        <p:nvPicPr>
          <p:cNvPr id="6" name="Image 0" descr="preencoded.png">    </p:cNvPr>
          <p:cNvPicPr>
            <a:picLocks noChangeAspect="1"/>
          </p:cNvPicPr>
          <p:nvPr/>
        </p:nvPicPr>
        <p:blipFill>
          <a:blip r:embed="rId1"/>
          <a:stretch>
            <a:fillRect/>
          </a:stretch>
        </p:blipFill>
        <p:spPr>
          <a:xfrm>
            <a:off x="859536" y="2093976"/>
            <a:ext cx="237744" cy="237744"/>
          </a:xfrm>
          <a:prstGeom prst="rect">
            <a:avLst/>
          </a:prstGeom>
        </p:spPr>
      </p:pic>
      <p:sp>
        <p:nvSpPr>
          <p:cNvPr id="7" name="Text 4"/>
          <p:cNvSpPr txBox="1"/>
          <p:nvPr/>
        </p:nvSpPr>
        <p:spPr>
          <a:xfrm>
            <a:off x="1325880" y="2002536"/>
            <a:ext cx="2194560" cy="457200"/>
          </a:xfrm>
          <a:prstGeom prst="rect">
            <a:avLst/>
          </a:prstGeom>
          <a:noFill/>
          <a:ln/>
        </p:spPr>
        <p:txBody>
          <a:bodyPr wrap="square" lIns="0" tIns="0" rIns="0" bIns="0" rtlCol="0" anchor="t"/>
          <a:lstStyle/>
          <a:p>
            <a:pPr indent="0" marL="0">
              <a:lnSpc>
                <a:spcPct val="100000"/>
              </a:lnSpc>
              <a:buNone/>
            </a:pPr>
            <a:r>
              <a:rPr lang="en-US" sz="1250" b="1" dirty="0">
                <a:solidFill>
                  <a:srgbClr val="202124"/>
                </a:solidFill>
                <a:latin typeface="Arial" pitchFamily="34" charset="0"/>
                <a:ea typeface="Arial" pitchFamily="34" charset="-122"/>
                <a:cs typeface="Arial" pitchFamily="34" charset="-120"/>
              </a:rPr>
              <a:t>Diabetic patient 360</a:t>
            </a:r>
            <a:endParaRPr lang="en-US" sz="1250" dirty="0"/>
          </a:p>
        </p:txBody>
      </p:sp>
      <p:sp>
        <p:nvSpPr>
          <p:cNvPr id="8" name="Text 5"/>
          <p:cNvSpPr txBox="1"/>
          <p:nvPr/>
        </p:nvSpPr>
        <p:spPr>
          <a:xfrm>
            <a:off x="749808" y="2560320"/>
            <a:ext cx="2697480" cy="1005840"/>
          </a:xfrm>
          <a:prstGeom prst="rect">
            <a:avLst/>
          </a:prstGeom>
          <a:noFill/>
          <a:ln/>
        </p:spPr>
        <p:txBody>
          <a:bodyPr wrap="square" lIns="0" tIns="0" rIns="0" bIns="0" rtlCol="0" anchor="t"/>
          <a:lstStyle/>
          <a:p>
            <a:pPr indent="0" marL="0">
              <a:lnSpc>
                <a:spcPct val="120000"/>
              </a:lnSpc>
              <a:buNone/>
            </a:pPr>
            <a:r>
              <a:rPr lang="en-US" sz="1050" dirty="0">
                <a:solidFill>
                  <a:srgbClr val="5F6368"/>
                </a:solidFill>
                <a:latin typeface="Arial" pitchFamily="34" charset="0"/>
                <a:ea typeface="Arial" pitchFamily="34" charset="-122"/>
                <a:cs typeface="Arial" pitchFamily="34" charset="-120"/>
              </a:rPr>
              <a:t>Summary, HbA1c trajectory, comorbidities, medications, open care gaps, assembled on request with consent enforced.</a:t>
            </a:r>
            <a:endParaRPr lang="en-US" sz="1050" dirty="0"/>
          </a:p>
        </p:txBody>
      </p:sp>
      <p:sp>
        <p:nvSpPr>
          <p:cNvPr id="9" name="Shape 6"/>
          <p:cNvSpPr/>
          <p:nvPr/>
        </p:nvSpPr>
        <p:spPr>
          <a:xfrm>
            <a:off x="3794760" y="1783080"/>
            <a:ext cx="3063240" cy="1828800"/>
          </a:xfrm>
          <a:prstGeom prst="roundRect">
            <a:avLst>
              <a:gd name="adj" fmla="val 4000"/>
            </a:avLst>
          </a:prstGeom>
          <a:solidFill>
            <a:srgbClr val="F8F9FA"/>
          </a:solidFill>
          <a:ln w="12700">
            <a:solidFill>
              <a:srgbClr val="F8F9FA"/>
            </a:solidFill>
            <a:prstDash val="solid"/>
          </a:ln>
        </p:spPr>
      </p:sp>
      <p:sp>
        <p:nvSpPr>
          <p:cNvPr id="10" name="Shape 7"/>
          <p:cNvSpPr/>
          <p:nvPr/>
        </p:nvSpPr>
        <p:spPr>
          <a:xfrm>
            <a:off x="3995928" y="1984248"/>
            <a:ext cx="457200" cy="457200"/>
          </a:xfrm>
          <a:prstGeom prst="ellipse">
            <a:avLst/>
          </a:prstGeom>
          <a:solidFill>
            <a:srgbClr val="FBBC04"/>
          </a:solidFill>
          <a:ln w="12700">
            <a:solidFill>
              <a:srgbClr val="FBBC04"/>
            </a:solidFill>
            <a:prstDash val="solid"/>
          </a:ln>
        </p:spPr>
      </p:sp>
      <p:pic>
        <p:nvPicPr>
          <p:cNvPr id="11" name="Image 1" descr="preencoded.png">    </p:cNvPr>
          <p:cNvPicPr>
            <a:picLocks noChangeAspect="1"/>
          </p:cNvPicPr>
          <p:nvPr/>
        </p:nvPicPr>
        <p:blipFill>
          <a:blip r:embed="rId2"/>
          <a:stretch>
            <a:fillRect/>
          </a:stretch>
        </p:blipFill>
        <p:spPr>
          <a:xfrm>
            <a:off x="4105656" y="2093976"/>
            <a:ext cx="237744" cy="237744"/>
          </a:xfrm>
          <a:prstGeom prst="rect">
            <a:avLst/>
          </a:prstGeom>
        </p:spPr>
      </p:pic>
      <p:sp>
        <p:nvSpPr>
          <p:cNvPr id="12" name="Text 8"/>
          <p:cNvSpPr txBox="1"/>
          <p:nvPr/>
        </p:nvSpPr>
        <p:spPr>
          <a:xfrm>
            <a:off x="4572000" y="2002536"/>
            <a:ext cx="2194560" cy="457200"/>
          </a:xfrm>
          <a:prstGeom prst="rect">
            <a:avLst/>
          </a:prstGeom>
          <a:noFill/>
          <a:ln/>
        </p:spPr>
        <p:txBody>
          <a:bodyPr wrap="square" lIns="0" tIns="0" rIns="0" bIns="0" rtlCol="0" anchor="t"/>
          <a:lstStyle/>
          <a:p>
            <a:pPr indent="0" marL="0">
              <a:lnSpc>
                <a:spcPct val="100000"/>
              </a:lnSpc>
              <a:buNone/>
            </a:pPr>
            <a:r>
              <a:rPr lang="en-US" sz="1250" b="1" dirty="0">
                <a:solidFill>
                  <a:srgbClr val="202124"/>
                </a:solidFill>
                <a:latin typeface="Arial" pitchFamily="34" charset="0"/>
                <a:ea typeface="Arial" pitchFamily="34" charset="-122"/>
                <a:cs typeface="Arial" pitchFamily="34" charset="-120"/>
              </a:rPr>
              <a:t>Risk stratification and visit prediction</a:t>
            </a:r>
            <a:endParaRPr lang="en-US" sz="1250" dirty="0"/>
          </a:p>
        </p:txBody>
      </p:sp>
      <p:sp>
        <p:nvSpPr>
          <p:cNvPr id="13" name="Text 9"/>
          <p:cNvSpPr txBox="1"/>
          <p:nvPr/>
        </p:nvSpPr>
        <p:spPr>
          <a:xfrm>
            <a:off x="3995928" y="2560320"/>
            <a:ext cx="2697480" cy="1005840"/>
          </a:xfrm>
          <a:prstGeom prst="rect">
            <a:avLst/>
          </a:prstGeom>
          <a:noFill/>
          <a:ln/>
        </p:spPr>
        <p:txBody>
          <a:bodyPr wrap="square" lIns="0" tIns="0" rIns="0" bIns="0" rtlCol="0" anchor="t"/>
          <a:lstStyle/>
          <a:p>
            <a:pPr indent="0" marL="0">
              <a:lnSpc>
                <a:spcPct val="120000"/>
              </a:lnSpc>
              <a:buNone/>
            </a:pPr>
            <a:r>
              <a:rPr lang="en-US" sz="1050" dirty="0">
                <a:solidFill>
                  <a:srgbClr val="5F6368"/>
                </a:solidFill>
                <a:latin typeface="Arial" pitchFamily="34" charset="0"/>
                <a:ea typeface="Arial" pitchFamily="34" charset="-122"/>
                <a:cs typeface="Arial" pitchFamily="34" charset="-120"/>
              </a:rPr>
              <a:t>Explainable 12-month deterioration risk, cohort bands, similar patients, and demand forecasts for planning.</a:t>
            </a:r>
            <a:endParaRPr lang="en-US" sz="1050" dirty="0"/>
          </a:p>
        </p:txBody>
      </p:sp>
      <p:sp>
        <p:nvSpPr>
          <p:cNvPr id="14" name="Shape 10"/>
          <p:cNvSpPr/>
          <p:nvPr/>
        </p:nvSpPr>
        <p:spPr>
          <a:xfrm>
            <a:off x="548640" y="3794760"/>
            <a:ext cx="3063240" cy="1828800"/>
          </a:xfrm>
          <a:prstGeom prst="roundRect">
            <a:avLst>
              <a:gd name="adj" fmla="val 4000"/>
            </a:avLst>
          </a:prstGeom>
          <a:solidFill>
            <a:srgbClr val="F8F9FA"/>
          </a:solidFill>
          <a:ln w="12700">
            <a:solidFill>
              <a:srgbClr val="F8F9FA"/>
            </a:solidFill>
            <a:prstDash val="solid"/>
          </a:ln>
        </p:spPr>
      </p:sp>
      <p:sp>
        <p:nvSpPr>
          <p:cNvPr id="15" name="Shape 11"/>
          <p:cNvSpPr/>
          <p:nvPr/>
        </p:nvSpPr>
        <p:spPr>
          <a:xfrm>
            <a:off x="749808" y="3995928"/>
            <a:ext cx="457200" cy="457200"/>
          </a:xfrm>
          <a:prstGeom prst="ellipse">
            <a:avLst/>
          </a:prstGeom>
          <a:solidFill>
            <a:srgbClr val="EA4335"/>
          </a:solidFill>
          <a:ln w="12700">
            <a:solidFill>
              <a:srgbClr val="EA4335"/>
            </a:solidFill>
            <a:prstDash val="solid"/>
          </a:ln>
        </p:spPr>
      </p:sp>
      <p:pic>
        <p:nvPicPr>
          <p:cNvPr id="16" name="Image 2" descr="preencoded.png">    </p:cNvPr>
          <p:cNvPicPr>
            <a:picLocks noChangeAspect="1"/>
          </p:cNvPicPr>
          <p:nvPr/>
        </p:nvPicPr>
        <p:blipFill>
          <a:blip r:embed="rId3"/>
          <a:stretch>
            <a:fillRect/>
          </a:stretch>
        </p:blipFill>
        <p:spPr>
          <a:xfrm>
            <a:off x="859536" y="4105656"/>
            <a:ext cx="237744" cy="237744"/>
          </a:xfrm>
          <a:prstGeom prst="rect">
            <a:avLst/>
          </a:prstGeom>
        </p:spPr>
      </p:pic>
      <p:sp>
        <p:nvSpPr>
          <p:cNvPr id="17" name="Text 12"/>
          <p:cNvSpPr txBox="1"/>
          <p:nvPr/>
        </p:nvSpPr>
        <p:spPr>
          <a:xfrm>
            <a:off x="1325880" y="4014216"/>
            <a:ext cx="2194560" cy="457200"/>
          </a:xfrm>
          <a:prstGeom prst="rect">
            <a:avLst/>
          </a:prstGeom>
          <a:noFill/>
          <a:ln/>
        </p:spPr>
        <p:txBody>
          <a:bodyPr wrap="square" lIns="0" tIns="0" rIns="0" bIns="0" rtlCol="0" anchor="t"/>
          <a:lstStyle/>
          <a:p>
            <a:pPr indent="0" marL="0">
              <a:lnSpc>
                <a:spcPct val="100000"/>
              </a:lnSpc>
              <a:buNone/>
            </a:pPr>
            <a:r>
              <a:rPr lang="en-US" sz="1250" b="1" dirty="0">
                <a:solidFill>
                  <a:srgbClr val="202124"/>
                </a:solidFill>
                <a:latin typeface="Arial" pitchFamily="34" charset="0"/>
                <a:ea typeface="Arial" pitchFamily="34" charset="-122"/>
                <a:cs typeface="Arial" pitchFamily="34" charset="-120"/>
              </a:rPr>
              <a:t>Guideline-grounded decision support</a:t>
            </a:r>
            <a:endParaRPr lang="en-US" sz="1250" dirty="0"/>
          </a:p>
        </p:txBody>
      </p:sp>
      <p:sp>
        <p:nvSpPr>
          <p:cNvPr id="18" name="Text 13"/>
          <p:cNvSpPr txBox="1"/>
          <p:nvPr/>
        </p:nvSpPr>
        <p:spPr>
          <a:xfrm>
            <a:off x="749808" y="4572000"/>
            <a:ext cx="2697480" cy="1005840"/>
          </a:xfrm>
          <a:prstGeom prst="rect">
            <a:avLst/>
          </a:prstGeom>
          <a:noFill/>
          <a:ln/>
        </p:spPr>
        <p:txBody>
          <a:bodyPr wrap="square" lIns="0" tIns="0" rIns="0" bIns="0" rtlCol="0" anchor="t"/>
          <a:lstStyle/>
          <a:p>
            <a:pPr indent="0" marL="0">
              <a:lnSpc>
                <a:spcPct val="120000"/>
              </a:lnSpc>
              <a:buNone/>
            </a:pPr>
            <a:r>
              <a:rPr lang="en-US" sz="1050" dirty="0">
                <a:solidFill>
                  <a:srgbClr val="5F6368"/>
                </a:solidFill>
                <a:latin typeface="Arial" pitchFamily="34" charset="0"/>
                <a:ea typeface="Arial" pitchFamily="34" charset="-122"/>
                <a:cs typeface="Arial" pitchFamily="34" charset="-120"/>
              </a:rPr>
              <a:t>Recommendations retrieved from the national clinical guidelines and cited to the page. No clinical claim without a source.</a:t>
            </a:r>
            <a:endParaRPr lang="en-US" sz="1050" dirty="0"/>
          </a:p>
        </p:txBody>
      </p:sp>
      <p:sp>
        <p:nvSpPr>
          <p:cNvPr id="19" name="Shape 14"/>
          <p:cNvSpPr/>
          <p:nvPr/>
        </p:nvSpPr>
        <p:spPr>
          <a:xfrm>
            <a:off x="3794760" y="3794760"/>
            <a:ext cx="3063240" cy="1828800"/>
          </a:xfrm>
          <a:prstGeom prst="roundRect">
            <a:avLst>
              <a:gd name="adj" fmla="val 4000"/>
            </a:avLst>
          </a:prstGeom>
          <a:solidFill>
            <a:srgbClr val="F8F9FA"/>
          </a:solidFill>
          <a:ln w="12700">
            <a:solidFill>
              <a:srgbClr val="F8F9FA"/>
            </a:solidFill>
            <a:prstDash val="solid"/>
          </a:ln>
        </p:spPr>
      </p:sp>
      <p:sp>
        <p:nvSpPr>
          <p:cNvPr id="20" name="Shape 15"/>
          <p:cNvSpPr/>
          <p:nvPr/>
        </p:nvSpPr>
        <p:spPr>
          <a:xfrm>
            <a:off x="3995928" y="3995928"/>
            <a:ext cx="457200" cy="457200"/>
          </a:xfrm>
          <a:prstGeom prst="ellipse">
            <a:avLst/>
          </a:prstGeom>
          <a:solidFill>
            <a:srgbClr val="34A853"/>
          </a:solidFill>
          <a:ln w="12700">
            <a:solidFill>
              <a:srgbClr val="34A853"/>
            </a:solidFill>
            <a:prstDash val="solid"/>
          </a:ln>
        </p:spPr>
      </p:sp>
      <p:pic>
        <p:nvPicPr>
          <p:cNvPr id="21" name="Image 3" descr="preencoded.png">    </p:cNvPr>
          <p:cNvPicPr>
            <a:picLocks noChangeAspect="1"/>
          </p:cNvPicPr>
          <p:nvPr/>
        </p:nvPicPr>
        <p:blipFill>
          <a:blip r:embed="rId4"/>
          <a:stretch>
            <a:fillRect/>
          </a:stretch>
        </p:blipFill>
        <p:spPr>
          <a:xfrm>
            <a:off x="4105656" y="4105656"/>
            <a:ext cx="237744" cy="237744"/>
          </a:xfrm>
          <a:prstGeom prst="rect">
            <a:avLst/>
          </a:prstGeom>
        </p:spPr>
      </p:pic>
      <p:sp>
        <p:nvSpPr>
          <p:cNvPr id="22" name="Text 16"/>
          <p:cNvSpPr txBox="1"/>
          <p:nvPr/>
        </p:nvSpPr>
        <p:spPr>
          <a:xfrm>
            <a:off x="4572000" y="4014216"/>
            <a:ext cx="2194560" cy="457200"/>
          </a:xfrm>
          <a:prstGeom prst="rect">
            <a:avLst/>
          </a:prstGeom>
          <a:noFill/>
          <a:ln/>
        </p:spPr>
        <p:txBody>
          <a:bodyPr wrap="square" lIns="0" tIns="0" rIns="0" bIns="0" rtlCol="0" anchor="t"/>
          <a:lstStyle/>
          <a:p>
            <a:pPr indent="0" marL="0">
              <a:lnSpc>
                <a:spcPct val="100000"/>
              </a:lnSpc>
              <a:buNone/>
            </a:pPr>
            <a:r>
              <a:rPr lang="en-US" sz="1250" b="1" dirty="0">
                <a:solidFill>
                  <a:srgbClr val="202124"/>
                </a:solidFill>
                <a:latin typeface="Arial" pitchFamily="34" charset="0"/>
                <a:ea typeface="Arial" pitchFamily="34" charset="-122"/>
                <a:cs typeface="Arial" pitchFamily="34" charset="-120"/>
              </a:rPr>
              <a:t>Population and cost simulation</a:t>
            </a:r>
            <a:endParaRPr lang="en-US" sz="1250" dirty="0"/>
          </a:p>
        </p:txBody>
      </p:sp>
      <p:sp>
        <p:nvSpPr>
          <p:cNvPr id="23" name="Text 17"/>
          <p:cNvSpPr txBox="1"/>
          <p:nvPr/>
        </p:nvSpPr>
        <p:spPr>
          <a:xfrm>
            <a:off x="3995928" y="4572000"/>
            <a:ext cx="2697480" cy="1005840"/>
          </a:xfrm>
          <a:prstGeom prst="rect">
            <a:avLst/>
          </a:prstGeom>
          <a:noFill/>
          <a:ln/>
        </p:spPr>
        <p:txBody>
          <a:bodyPr wrap="square" lIns="0" tIns="0" rIns="0" bIns="0" rtlCol="0" anchor="t"/>
          <a:lstStyle/>
          <a:p>
            <a:pPr indent="0" marL="0">
              <a:lnSpc>
                <a:spcPct val="120000"/>
              </a:lnSpc>
              <a:buNone/>
            </a:pPr>
            <a:r>
              <a:rPr lang="en-US" sz="1050" dirty="0">
                <a:solidFill>
                  <a:srgbClr val="5F6368"/>
                </a:solidFill>
                <a:latin typeface="Arial" pitchFamily="34" charset="0"/>
                <a:ea typeface="Arial" pitchFamily="34" charset="-122"/>
                <a:cs typeface="Arial" pitchFamily="34" charset="-120"/>
              </a:rPr>
              <a:t>Control rates, care gaps and cost by facility and nationality; what-if simulation of programmes before money is spent.</a:t>
            </a:r>
            <a:endParaRPr lang="en-US" sz="1050" dirty="0"/>
          </a:p>
        </p:txBody>
      </p:sp>
      <p:sp>
        <p:nvSpPr>
          <p:cNvPr id="24" name="Shape 18"/>
          <p:cNvSpPr/>
          <p:nvPr/>
        </p:nvSpPr>
        <p:spPr>
          <a:xfrm>
            <a:off x="7315200" y="1783080"/>
            <a:ext cx="4297680" cy="3840480"/>
          </a:xfrm>
          <a:prstGeom prst="roundRect">
            <a:avLst>
              <a:gd name="adj" fmla="val 1905"/>
            </a:avLst>
          </a:prstGeom>
          <a:solidFill>
            <a:srgbClr val="E8F0FE"/>
          </a:solidFill>
          <a:ln w="12700">
            <a:solidFill>
              <a:srgbClr val="E8F0FE"/>
            </a:solidFill>
            <a:prstDash val="solid"/>
          </a:ln>
        </p:spPr>
      </p:sp>
      <p:sp>
        <p:nvSpPr>
          <p:cNvPr id="25" name="Text 19"/>
          <p:cNvSpPr txBox="1"/>
          <p:nvPr/>
        </p:nvSpPr>
        <p:spPr>
          <a:xfrm>
            <a:off x="7589520" y="1965960"/>
            <a:ext cx="3840480" cy="320040"/>
          </a:xfrm>
          <a:prstGeom prst="rect">
            <a:avLst/>
          </a:prstGeom>
          <a:noFill/>
          <a:ln/>
        </p:spPr>
        <p:txBody>
          <a:bodyPr wrap="square" lIns="0" tIns="0" rIns="0" bIns="0" rtlCol="0" anchor="t"/>
          <a:lstStyle/>
          <a:p>
            <a:pPr indent="0" marL="0">
              <a:buNone/>
            </a:pPr>
            <a:r>
              <a:rPr lang="en-US" sz="1400" b="1" dirty="0">
                <a:solidFill>
                  <a:srgbClr val="1A73E8"/>
                </a:solidFill>
                <a:latin typeface="Arial" pitchFamily="34" charset="0"/>
                <a:ea typeface="Arial" pitchFamily="34" charset="-122"/>
                <a:cs typeface="Arial" pitchFamily="34" charset="-120"/>
              </a:rPr>
              <a:t>Controls, enforced in code</a:t>
            </a:r>
            <a:endParaRPr lang="en-US" sz="1400" dirty="0"/>
          </a:p>
        </p:txBody>
      </p:sp>
      <p:pic>
        <p:nvPicPr>
          <p:cNvPr id="26" name="Image 4" descr="preencoded.png">    </p:cNvPr>
          <p:cNvPicPr>
            <a:picLocks noChangeAspect="1"/>
          </p:cNvPicPr>
          <p:nvPr/>
        </p:nvPicPr>
        <p:blipFill>
          <a:blip r:embed="rId5"/>
          <a:stretch>
            <a:fillRect/>
          </a:stretch>
        </p:blipFill>
        <p:spPr>
          <a:xfrm>
            <a:off x="7589520" y="2450592"/>
            <a:ext cx="274320" cy="274320"/>
          </a:xfrm>
          <a:prstGeom prst="rect">
            <a:avLst/>
          </a:prstGeom>
        </p:spPr>
      </p:pic>
      <p:sp>
        <p:nvSpPr>
          <p:cNvPr id="27" name="Text 20"/>
          <p:cNvSpPr txBox="1"/>
          <p:nvPr/>
        </p:nvSpPr>
        <p:spPr>
          <a:xfrm>
            <a:off x="8001000" y="2423160"/>
            <a:ext cx="3566160" cy="256032"/>
          </a:xfrm>
          <a:prstGeom prst="rect">
            <a:avLst/>
          </a:prstGeom>
          <a:noFill/>
          <a:ln/>
        </p:spPr>
        <p:txBody>
          <a:bodyPr wrap="square" lIns="0" tIns="0" rIns="0" bIns="0" rtlCol="0" anchor="t"/>
          <a:lstStyle/>
          <a:p>
            <a:pPr indent="0" marL="0">
              <a:buNone/>
            </a:pPr>
            <a:r>
              <a:rPr lang="en-US" sz="1150" b="1" dirty="0">
                <a:solidFill>
                  <a:srgbClr val="202124"/>
                </a:solidFill>
                <a:latin typeface="Arial" pitchFamily="34" charset="0"/>
                <a:ea typeface="Arial" pitchFamily="34" charset="-122"/>
                <a:cs typeface="Arial" pitchFamily="34" charset="-120"/>
              </a:rPr>
              <a:t>Numbers only from tools</a:t>
            </a:r>
            <a:endParaRPr lang="en-US" sz="1150" dirty="0"/>
          </a:p>
        </p:txBody>
      </p:sp>
      <p:sp>
        <p:nvSpPr>
          <p:cNvPr id="28" name="Text 21"/>
          <p:cNvSpPr txBox="1"/>
          <p:nvPr/>
        </p:nvSpPr>
        <p:spPr>
          <a:xfrm>
            <a:off x="8001000" y="2679192"/>
            <a:ext cx="3566160" cy="274320"/>
          </a:xfrm>
          <a:prstGeom prst="rect">
            <a:avLst/>
          </a:prstGeom>
          <a:noFill/>
          <a:ln/>
        </p:spPr>
        <p:txBody>
          <a:bodyPr wrap="square" lIns="0" tIns="0" rIns="0" bIns="0" rtlCol="0" anchor="t"/>
          <a:lstStyle/>
          <a:p>
            <a:pPr indent="0" marL="0">
              <a:buNone/>
            </a:pPr>
            <a:r>
              <a:rPr lang="en-US" sz="1000" dirty="0">
                <a:solidFill>
                  <a:srgbClr val="5F6368"/>
                </a:solidFill>
                <a:latin typeface="Arial" pitchFamily="34" charset="0"/>
                <a:ea typeface="Arial" pitchFamily="34" charset="-122"/>
                <a:cs typeface="Arial" pitchFamily="34" charset="-120"/>
              </a:rPr>
              <a:t>the model narrates; it never invents a value</a:t>
            </a:r>
            <a:endParaRPr lang="en-US" sz="1000" dirty="0"/>
          </a:p>
        </p:txBody>
      </p:sp>
      <p:pic>
        <p:nvPicPr>
          <p:cNvPr id="29" name="Image 5" descr="preencoded.png">    </p:cNvPr>
          <p:cNvPicPr>
            <a:picLocks noChangeAspect="1"/>
          </p:cNvPicPr>
          <p:nvPr/>
        </p:nvPicPr>
        <p:blipFill>
          <a:blip r:embed="rId6"/>
          <a:stretch>
            <a:fillRect/>
          </a:stretch>
        </p:blipFill>
        <p:spPr>
          <a:xfrm>
            <a:off x="7589520" y="3072384"/>
            <a:ext cx="274320" cy="274320"/>
          </a:xfrm>
          <a:prstGeom prst="rect">
            <a:avLst/>
          </a:prstGeom>
        </p:spPr>
      </p:pic>
      <p:sp>
        <p:nvSpPr>
          <p:cNvPr id="30" name="Text 22"/>
          <p:cNvSpPr txBox="1"/>
          <p:nvPr/>
        </p:nvSpPr>
        <p:spPr>
          <a:xfrm>
            <a:off x="8001000" y="3044952"/>
            <a:ext cx="3566160" cy="256032"/>
          </a:xfrm>
          <a:prstGeom prst="rect">
            <a:avLst/>
          </a:prstGeom>
          <a:noFill/>
          <a:ln/>
        </p:spPr>
        <p:txBody>
          <a:bodyPr wrap="square" lIns="0" tIns="0" rIns="0" bIns="0" rtlCol="0" anchor="t"/>
          <a:lstStyle/>
          <a:p>
            <a:pPr indent="0" marL="0">
              <a:buNone/>
            </a:pPr>
            <a:r>
              <a:rPr lang="en-US" sz="1150" b="1" dirty="0">
                <a:solidFill>
                  <a:srgbClr val="202124"/>
                </a:solidFill>
                <a:latin typeface="Arial" pitchFamily="34" charset="0"/>
                <a:ea typeface="Arial" pitchFamily="34" charset="-122"/>
                <a:cs typeface="Arial" pitchFamily="34" charset="-120"/>
              </a:rPr>
              <a:t>Claims only with a citation</a:t>
            </a:r>
            <a:endParaRPr lang="en-US" sz="1150" dirty="0"/>
          </a:p>
        </p:txBody>
      </p:sp>
      <p:sp>
        <p:nvSpPr>
          <p:cNvPr id="31" name="Text 23"/>
          <p:cNvSpPr txBox="1"/>
          <p:nvPr/>
        </p:nvSpPr>
        <p:spPr>
          <a:xfrm>
            <a:off x="8001000" y="3300984"/>
            <a:ext cx="3566160" cy="274320"/>
          </a:xfrm>
          <a:prstGeom prst="rect">
            <a:avLst/>
          </a:prstGeom>
          <a:noFill/>
          <a:ln/>
        </p:spPr>
        <p:txBody>
          <a:bodyPr wrap="square" lIns="0" tIns="0" rIns="0" bIns="0" rtlCol="0" anchor="t"/>
          <a:lstStyle/>
          <a:p>
            <a:pPr indent="0" marL="0">
              <a:buNone/>
            </a:pPr>
            <a:r>
              <a:rPr lang="en-US" sz="1000" dirty="0">
                <a:solidFill>
                  <a:srgbClr val="5F6368"/>
                </a:solidFill>
                <a:latin typeface="Arial" pitchFamily="34" charset="0"/>
                <a:ea typeface="Arial" pitchFamily="34" charset="-122"/>
                <a:cs typeface="Arial" pitchFamily="34" charset="-120"/>
              </a:rPr>
              <a:t>document and page from the national guideline</a:t>
            </a:r>
            <a:endParaRPr lang="en-US" sz="1000" dirty="0"/>
          </a:p>
        </p:txBody>
      </p:sp>
      <p:pic>
        <p:nvPicPr>
          <p:cNvPr id="32" name="Image 6" descr="preencoded.png">    </p:cNvPr>
          <p:cNvPicPr>
            <a:picLocks noChangeAspect="1"/>
          </p:cNvPicPr>
          <p:nvPr/>
        </p:nvPicPr>
        <p:blipFill>
          <a:blip r:embed="rId7"/>
          <a:stretch>
            <a:fillRect/>
          </a:stretch>
        </p:blipFill>
        <p:spPr>
          <a:xfrm>
            <a:off x="7589520" y="3694176"/>
            <a:ext cx="274320" cy="274320"/>
          </a:xfrm>
          <a:prstGeom prst="rect">
            <a:avLst/>
          </a:prstGeom>
        </p:spPr>
      </p:pic>
      <p:sp>
        <p:nvSpPr>
          <p:cNvPr id="33" name="Text 24"/>
          <p:cNvSpPr txBox="1"/>
          <p:nvPr/>
        </p:nvSpPr>
        <p:spPr>
          <a:xfrm>
            <a:off x="8001000" y="3666744"/>
            <a:ext cx="3566160" cy="256032"/>
          </a:xfrm>
          <a:prstGeom prst="rect">
            <a:avLst/>
          </a:prstGeom>
          <a:noFill/>
          <a:ln/>
        </p:spPr>
        <p:txBody>
          <a:bodyPr wrap="square" lIns="0" tIns="0" rIns="0" bIns="0" rtlCol="0" anchor="t"/>
          <a:lstStyle/>
          <a:p>
            <a:pPr indent="0" marL="0">
              <a:buNone/>
            </a:pPr>
            <a:r>
              <a:rPr lang="en-US" sz="1150" b="1" dirty="0">
                <a:solidFill>
                  <a:srgbClr val="202124"/>
                </a:solidFill>
                <a:latin typeface="Arial" pitchFamily="34" charset="0"/>
                <a:ea typeface="Arial" pitchFamily="34" charset="-122"/>
                <a:cs typeface="Arial" pitchFamily="34" charset="-120"/>
              </a:rPr>
              <a:t>Actions only with a signature</a:t>
            </a:r>
            <a:endParaRPr lang="en-US" sz="1150" dirty="0"/>
          </a:p>
        </p:txBody>
      </p:sp>
      <p:sp>
        <p:nvSpPr>
          <p:cNvPr id="34" name="Text 25"/>
          <p:cNvSpPr txBox="1"/>
          <p:nvPr/>
        </p:nvSpPr>
        <p:spPr>
          <a:xfrm>
            <a:off x="8001000" y="3922776"/>
            <a:ext cx="3566160" cy="274320"/>
          </a:xfrm>
          <a:prstGeom prst="rect">
            <a:avLst/>
          </a:prstGeom>
          <a:noFill/>
          <a:ln/>
        </p:spPr>
        <p:txBody>
          <a:bodyPr wrap="square" lIns="0" tIns="0" rIns="0" bIns="0" rtlCol="0" anchor="t"/>
          <a:lstStyle/>
          <a:p>
            <a:pPr indent="0" marL="0">
              <a:buNone/>
            </a:pPr>
            <a:r>
              <a:rPr lang="en-US" sz="1000" dirty="0">
                <a:solidFill>
                  <a:srgbClr val="5F6368"/>
                </a:solidFill>
                <a:latin typeface="Arial" pitchFamily="34" charset="0"/>
                <a:ea typeface="Arial" pitchFamily="34" charset="-122"/>
                <a:cs typeface="Arial" pitchFamily="34" charset="-120"/>
              </a:rPr>
              <a:t>drafts wait in a queue for a named clinician</a:t>
            </a:r>
            <a:endParaRPr lang="en-US" sz="1000" dirty="0"/>
          </a:p>
        </p:txBody>
      </p:sp>
      <p:pic>
        <p:nvPicPr>
          <p:cNvPr id="35" name="Image 7" descr="preencoded.png">    </p:cNvPr>
          <p:cNvPicPr>
            <a:picLocks noChangeAspect="1"/>
          </p:cNvPicPr>
          <p:nvPr/>
        </p:nvPicPr>
        <p:blipFill>
          <a:blip r:embed="rId8"/>
          <a:stretch>
            <a:fillRect/>
          </a:stretch>
        </p:blipFill>
        <p:spPr>
          <a:xfrm>
            <a:off x="7589520" y="4315968"/>
            <a:ext cx="274320" cy="274320"/>
          </a:xfrm>
          <a:prstGeom prst="rect">
            <a:avLst/>
          </a:prstGeom>
        </p:spPr>
      </p:pic>
      <p:sp>
        <p:nvSpPr>
          <p:cNvPr id="36" name="Text 26"/>
          <p:cNvSpPr txBox="1"/>
          <p:nvPr/>
        </p:nvSpPr>
        <p:spPr>
          <a:xfrm>
            <a:off x="8001000" y="4288536"/>
            <a:ext cx="3566160" cy="256032"/>
          </a:xfrm>
          <a:prstGeom prst="rect">
            <a:avLst/>
          </a:prstGeom>
          <a:noFill/>
          <a:ln/>
        </p:spPr>
        <p:txBody>
          <a:bodyPr wrap="square" lIns="0" tIns="0" rIns="0" bIns="0" rtlCol="0" anchor="t"/>
          <a:lstStyle/>
          <a:p>
            <a:pPr indent="0" marL="0">
              <a:buNone/>
            </a:pPr>
            <a:r>
              <a:rPr lang="en-US" sz="1150" b="1" dirty="0">
                <a:solidFill>
                  <a:srgbClr val="202124"/>
                </a:solidFill>
                <a:latin typeface="Arial" pitchFamily="34" charset="0"/>
                <a:ea typeface="Arial" pitchFamily="34" charset="-122"/>
                <a:cs typeface="Arial" pitchFamily="34" charset="-120"/>
              </a:rPr>
              <a:t>Every step audited</a:t>
            </a:r>
            <a:endParaRPr lang="en-US" sz="1150" dirty="0"/>
          </a:p>
        </p:txBody>
      </p:sp>
      <p:sp>
        <p:nvSpPr>
          <p:cNvPr id="37" name="Text 27"/>
          <p:cNvSpPr txBox="1"/>
          <p:nvPr/>
        </p:nvSpPr>
        <p:spPr>
          <a:xfrm>
            <a:off x="8001000" y="4544568"/>
            <a:ext cx="3566160" cy="274320"/>
          </a:xfrm>
          <a:prstGeom prst="rect">
            <a:avLst/>
          </a:prstGeom>
          <a:noFill/>
          <a:ln/>
        </p:spPr>
        <p:txBody>
          <a:bodyPr wrap="square" lIns="0" tIns="0" rIns="0" bIns="0" rtlCol="0" anchor="t"/>
          <a:lstStyle/>
          <a:p>
            <a:pPr indent="0" marL="0">
              <a:buNone/>
            </a:pPr>
            <a:r>
              <a:rPr lang="en-US" sz="1000" dirty="0">
                <a:solidFill>
                  <a:srgbClr val="5F6368"/>
                </a:solidFill>
                <a:latin typeface="Arial" pitchFamily="34" charset="0"/>
                <a:ea typeface="Arial" pitchFamily="34" charset="-122"/>
                <a:cs typeface="Arial" pitchFamily="34" charset="-120"/>
              </a:rPr>
              <a:t>tool calls, scores, citations and decisions</a:t>
            </a:r>
            <a:endParaRPr lang="en-US" sz="1000" dirty="0"/>
          </a:p>
        </p:txBody>
      </p:sp>
      <p:pic>
        <p:nvPicPr>
          <p:cNvPr id="38" name="Image 8" descr="preencoded.png">    </p:cNvPr>
          <p:cNvPicPr>
            <a:picLocks noChangeAspect="1"/>
          </p:cNvPicPr>
          <p:nvPr/>
        </p:nvPicPr>
        <p:blipFill>
          <a:blip r:embed="rId9"/>
          <a:stretch>
            <a:fillRect/>
          </a:stretch>
        </p:blipFill>
        <p:spPr>
          <a:xfrm>
            <a:off x="7589520" y="4937760"/>
            <a:ext cx="274320" cy="274320"/>
          </a:xfrm>
          <a:prstGeom prst="rect">
            <a:avLst/>
          </a:prstGeom>
        </p:spPr>
      </p:pic>
      <p:sp>
        <p:nvSpPr>
          <p:cNvPr id="39" name="Text 28"/>
          <p:cNvSpPr txBox="1"/>
          <p:nvPr/>
        </p:nvSpPr>
        <p:spPr>
          <a:xfrm>
            <a:off x="8001000" y="4910328"/>
            <a:ext cx="3566160" cy="256032"/>
          </a:xfrm>
          <a:prstGeom prst="rect">
            <a:avLst/>
          </a:prstGeom>
          <a:noFill/>
          <a:ln/>
        </p:spPr>
        <p:txBody>
          <a:bodyPr wrap="square" lIns="0" tIns="0" rIns="0" bIns="0" rtlCol="0" anchor="t"/>
          <a:lstStyle/>
          <a:p>
            <a:pPr indent="0" marL="0">
              <a:buNone/>
            </a:pPr>
            <a:r>
              <a:rPr lang="en-US" sz="1150" b="1" dirty="0">
                <a:solidFill>
                  <a:srgbClr val="202124"/>
                </a:solidFill>
                <a:latin typeface="Arial" pitchFamily="34" charset="0"/>
                <a:ea typeface="Arial" pitchFamily="34" charset="-122"/>
                <a:cs typeface="Arial" pitchFamily="34" charset="-120"/>
              </a:rPr>
              <a:t>Arabic and English, by voice</a:t>
            </a:r>
            <a:endParaRPr lang="en-US" sz="1150" dirty="0"/>
          </a:p>
        </p:txBody>
      </p:sp>
      <p:sp>
        <p:nvSpPr>
          <p:cNvPr id="40" name="Text 29"/>
          <p:cNvSpPr txBox="1"/>
          <p:nvPr/>
        </p:nvSpPr>
        <p:spPr>
          <a:xfrm>
            <a:off x="8001000" y="5166360"/>
            <a:ext cx="3566160" cy="274320"/>
          </a:xfrm>
          <a:prstGeom prst="rect">
            <a:avLst/>
          </a:prstGeom>
          <a:noFill/>
          <a:ln/>
        </p:spPr>
        <p:txBody>
          <a:bodyPr wrap="square" lIns="0" tIns="0" rIns="0" bIns="0" rtlCol="0" anchor="t"/>
          <a:lstStyle/>
          <a:p>
            <a:pPr indent="0" marL="0">
              <a:buNone/>
            </a:pPr>
            <a:r>
              <a:rPr lang="en-US" sz="1000" dirty="0">
                <a:solidFill>
                  <a:srgbClr val="5F6368"/>
                </a:solidFill>
                <a:latin typeface="Arial" pitchFamily="34" charset="0"/>
                <a:ea typeface="Arial" pitchFamily="34" charset="-122"/>
                <a:cs typeface="Arial" pitchFamily="34" charset="-120"/>
              </a:rPr>
              <a:t>ask between patients, or from the car</a:t>
            </a:r>
            <a:endParaRPr lang="en-US" sz="1000" dirty="0"/>
          </a:p>
        </p:txBody>
      </p:sp>
      <p:sp>
        <p:nvSpPr>
          <p:cNvPr id="41" name="Text 30"/>
          <p:cNvSpPr txBox="1"/>
          <p:nvPr/>
        </p:nvSpPr>
        <p:spPr>
          <a:xfrm>
            <a:off x="548640" y="5852160"/>
            <a:ext cx="11064240" cy="411480"/>
          </a:xfrm>
          <a:prstGeom prst="rect">
            <a:avLst/>
          </a:prstGeom>
          <a:noFill/>
          <a:ln/>
        </p:spPr>
        <p:txBody>
          <a:bodyPr wrap="square" lIns="0" tIns="0" rIns="0" bIns="0" rtlCol="0" anchor="t"/>
          <a:lstStyle/>
          <a:p>
            <a:pPr indent="0" marL="0">
              <a:buNone/>
            </a:pPr>
            <a:r>
              <a:rPr lang="en-US" sz="1100" b="1" dirty="0">
                <a:solidFill>
                  <a:srgbClr val="202124"/>
                </a:solidFill>
                <a:latin typeface="Arial" pitchFamily="34" charset="0"/>
                <a:ea typeface="Arial" pitchFamily="34" charset="-122"/>
                <a:cs typeface="Arial" pitchFamily="34" charset="-120"/>
              </a:rPr>
              <a:t>Scope of this build: </a:t>
            </a:r>
            <a:pPr indent="0" marL="0">
              <a:buNone/>
            </a:pPr>
            <a:r>
              <a:rPr lang="en-US" sz="1100" dirty="0">
                <a:solidFill>
                  <a:srgbClr val="5F6368"/>
                </a:solidFill>
                <a:latin typeface="Arial" pitchFamily="34" charset="0"/>
                <a:ea typeface="Arial" pitchFamily="34" charset="-122"/>
                <a:cs typeface="Arial" pitchFamily="34" charset="-120"/>
              </a:rPr>
              <a:t>type 2 diabetes, a 4,000-patient synthetic exchange shaped like the national HIE (FHIR R4 export, LOINC / ICD-10 / ATC coded, 36 months). Zero PHI.</a:t>
            </a:r>
            <a:endParaRPr lang="en-US" sz="1100" dirty="0"/>
          </a:p>
        </p:txBody>
      </p:sp>
      <p:sp>
        <p:nvSpPr>
          <p:cNvPr id="42" name="Text 31"/>
          <p:cNvSpPr txBox="1"/>
          <p:nvPr/>
        </p:nvSpPr>
        <p:spPr>
          <a:xfrm>
            <a:off x="548640" y="6446520"/>
            <a:ext cx="9144000" cy="228600"/>
          </a:xfrm>
          <a:prstGeom prst="rect">
            <a:avLst/>
          </a:prstGeom>
          <a:noFill/>
          <a:ln/>
        </p:spPr>
        <p:txBody>
          <a:bodyPr wrap="square" lIns="0" tIns="0" rIns="0" bIns="0" rtlCol="0" anchor="t"/>
          <a:lstStyle/>
          <a:p>
            <a:pPr indent="0" marL="0">
              <a:buNone/>
            </a:pPr>
            <a:r>
              <a:rPr lang="en-US" sz="850" dirty="0">
                <a:solidFill>
                  <a:srgbClr val="9AA0A6"/>
                </a:solidFill>
                <a:latin typeface="Arial" pitchFamily="34" charset="0"/>
                <a:ea typeface="Arial" pitchFamily="34" charset="-122"/>
                <a:cs typeface="Arial" pitchFamily="34" charset="-120"/>
              </a:rPr>
              <a:t>Nabd نبض · Diabetes population health on Google Cloud · Customer Engineering</a:t>
            </a:r>
            <a:endParaRPr lang="en-US" sz="850" dirty="0"/>
          </a:p>
        </p:txBody>
      </p:sp>
      <p:sp>
        <p:nvSpPr>
          <p:cNvPr id="43" name="Text 32"/>
          <p:cNvSpPr txBox="1"/>
          <p:nvPr/>
        </p:nvSpPr>
        <p:spPr>
          <a:xfrm>
            <a:off x="11155680" y="6446520"/>
            <a:ext cx="457200" cy="228600"/>
          </a:xfrm>
          <a:prstGeom prst="rect">
            <a:avLst/>
          </a:prstGeom>
          <a:noFill/>
          <a:ln/>
        </p:spPr>
        <p:txBody>
          <a:bodyPr wrap="square" lIns="0" tIns="0" rIns="0" bIns="0" rtlCol="0" anchor="t"/>
          <a:lstStyle/>
          <a:p>
            <a:pPr algn="r" indent="0" marL="0">
              <a:buNone/>
            </a:pPr>
            <a:r>
              <a:rPr lang="en-US" sz="850" dirty="0">
                <a:solidFill>
                  <a:srgbClr val="9AA0A6"/>
                </a:solidFill>
                <a:latin typeface="Arial" pitchFamily="34" charset="0"/>
                <a:ea typeface="Arial" pitchFamily="34" charset="-122"/>
                <a:cs typeface="Arial"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457200"/>
            <a:ext cx="11064240" cy="868680"/>
          </a:xfrm>
          <a:prstGeom prst="rect">
            <a:avLst/>
          </a:prstGeom>
          <a:noFill/>
          <a:ln/>
        </p:spPr>
        <p:txBody>
          <a:bodyPr wrap="square" lIns="0" tIns="0" rIns="0" bIns="0" rtlCol="0" anchor="t"/>
          <a:lstStyle/>
          <a:p>
            <a:pPr indent="0" marL="0">
              <a:lnSpc>
                <a:spcPct val="105000"/>
              </a:lnSpc>
              <a:buNone/>
            </a:pPr>
            <a:r>
              <a:rPr lang="en-US" sz="2600" b="1" dirty="0">
                <a:solidFill>
                  <a:srgbClr val="202124"/>
                </a:solidFill>
                <a:latin typeface="Arial" pitchFamily="34" charset="0"/>
                <a:ea typeface="Arial" pitchFamily="34" charset="-122"/>
                <a:cs typeface="Arial" pitchFamily="34" charset="-120"/>
              </a:rPr>
              <a:t>How it works: one supervisor, five specialists</a:t>
            </a:r>
            <a:endParaRPr lang="en-US" sz="2600" dirty="0"/>
          </a:p>
        </p:txBody>
      </p:sp>
      <p:sp>
        <p:nvSpPr>
          <p:cNvPr id="3" name="Text 1"/>
          <p:cNvSpPr txBox="1"/>
          <p:nvPr/>
        </p:nvSpPr>
        <p:spPr>
          <a:xfrm>
            <a:off x="548640" y="1298448"/>
            <a:ext cx="11064240" cy="320040"/>
          </a:xfrm>
          <a:prstGeom prst="rect">
            <a:avLst/>
          </a:prstGeom>
          <a:noFill/>
          <a:ln/>
        </p:spPr>
        <p:txBody>
          <a:bodyPr wrap="square" lIns="0" tIns="0" rIns="0" bIns="0" rtlCol="0" anchor="t"/>
          <a:lstStyle/>
          <a:p>
            <a:pPr indent="0" marL="0">
              <a:buNone/>
            </a:pPr>
            <a:r>
              <a:rPr lang="en-US" sz="1300" dirty="0">
                <a:solidFill>
                  <a:srgbClr val="5F6368"/>
                </a:solidFill>
                <a:latin typeface="Arial" pitchFamily="34" charset="0"/>
                <a:ea typeface="Arial" pitchFamily="34" charset="-122"/>
                <a:cs typeface="Arial" pitchFamily="34" charset="-120"/>
              </a:rPr>
              <a:t>Each specialist carries only the tools it needs. The supervisor plans and composes; it never produces a number itself.</a:t>
            </a:r>
            <a:endParaRPr lang="en-US" sz="1300" dirty="0"/>
          </a:p>
        </p:txBody>
      </p:sp>
      <p:sp>
        <p:nvSpPr>
          <p:cNvPr id="4" name="Shape 2"/>
          <p:cNvSpPr/>
          <p:nvPr/>
        </p:nvSpPr>
        <p:spPr>
          <a:xfrm>
            <a:off x="4480560" y="1737360"/>
            <a:ext cx="3246120" cy="457200"/>
          </a:xfrm>
          <a:prstGeom prst="roundRect">
            <a:avLst>
              <a:gd name="adj" fmla="val 16000"/>
            </a:avLst>
          </a:prstGeom>
          <a:solidFill>
            <a:srgbClr val="F1F3F4"/>
          </a:solidFill>
          <a:ln w="12700">
            <a:solidFill>
              <a:srgbClr val="F1F3F4"/>
            </a:solidFill>
            <a:prstDash val="solid"/>
          </a:ln>
        </p:spPr>
      </p:sp>
      <p:pic>
        <p:nvPicPr>
          <p:cNvPr id="5" name="Image 0" descr="preencoded.png">    </p:cNvPr>
          <p:cNvPicPr>
            <a:picLocks noChangeAspect="1"/>
          </p:cNvPicPr>
          <p:nvPr/>
        </p:nvPicPr>
        <p:blipFill>
          <a:blip r:embed="rId1"/>
          <a:stretch>
            <a:fillRect/>
          </a:stretch>
        </p:blipFill>
        <p:spPr>
          <a:xfrm>
            <a:off x="4617720" y="1837944"/>
            <a:ext cx="256032" cy="256032"/>
          </a:xfrm>
          <a:prstGeom prst="rect">
            <a:avLst/>
          </a:prstGeom>
        </p:spPr>
      </p:pic>
      <p:sp>
        <p:nvSpPr>
          <p:cNvPr id="6" name="Text 3"/>
          <p:cNvSpPr txBox="1"/>
          <p:nvPr/>
        </p:nvSpPr>
        <p:spPr>
          <a:xfrm>
            <a:off x="4956048" y="1737360"/>
            <a:ext cx="2743200" cy="457200"/>
          </a:xfrm>
          <a:prstGeom prst="rect">
            <a:avLst/>
          </a:prstGeom>
          <a:noFill/>
          <a:ln/>
        </p:spPr>
        <p:txBody>
          <a:bodyPr wrap="square" lIns="0" tIns="0" rIns="0" bIns="0" rtlCol="0" anchor="ctr"/>
          <a:lstStyle/>
          <a:p>
            <a:pPr indent="0" marL="0">
              <a:buNone/>
            </a:pPr>
            <a:r>
              <a:rPr lang="en-US" sz="1050" i="1" dirty="0">
                <a:solidFill>
                  <a:srgbClr val="202124"/>
                </a:solidFill>
                <a:latin typeface="Arial" pitchFamily="34" charset="0"/>
                <a:ea typeface="Arial" pitchFamily="34" charset="-122"/>
                <a:cs typeface="Arial" pitchFamily="34" charset="-120"/>
              </a:rPr>
              <a:t>"Who on my panel needs attention today?"</a:t>
            </a:r>
            <a:endParaRPr lang="en-US" sz="1050" dirty="0"/>
          </a:p>
        </p:txBody>
      </p:sp>
      <p:sp>
        <p:nvSpPr>
          <p:cNvPr id="7" name="Shape 4"/>
          <p:cNvSpPr/>
          <p:nvPr/>
        </p:nvSpPr>
        <p:spPr>
          <a:xfrm>
            <a:off x="6099048" y="2212848"/>
            <a:ext cx="0" cy="192024"/>
          </a:xfrm>
          <a:prstGeom prst="line">
            <a:avLst/>
          </a:prstGeom>
          <a:noFill/>
          <a:ln w="15875">
            <a:solidFill>
              <a:srgbClr val="5F6368"/>
            </a:solidFill>
            <a:prstDash val="solid"/>
            <a:tailEnd type="triangle"/>
          </a:ln>
        </p:spPr>
      </p:sp>
      <p:sp>
        <p:nvSpPr>
          <p:cNvPr id="8" name="Shape 5"/>
          <p:cNvSpPr/>
          <p:nvPr/>
        </p:nvSpPr>
        <p:spPr>
          <a:xfrm>
            <a:off x="3931920" y="2423160"/>
            <a:ext cx="4343400" cy="777240"/>
          </a:xfrm>
          <a:prstGeom prst="roundRect">
            <a:avLst>
              <a:gd name="adj" fmla="val 9412"/>
            </a:avLst>
          </a:prstGeom>
          <a:solidFill>
            <a:srgbClr val="4285F4"/>
          </a:solidFill>
          <a:ln w="12700">
            <a:solidFill>
              <a:srgbClr val="4285F4"/>
            </a:solidFill>
            <a:prstDash val="solid"/>
          </a:ln>
        </p:spPr>
      </p:sp>
      <p:sp>
        <p:nvSpPr>
          <p:cNvPr id="9" name="Text 6"/>
          <p:cNvSpPr txBox="1"/>
          <p:nvPr/>
        </p:nvSpPr>
        <p:spPr>
          <a:xfrm>
            <a:off x="4114800" y="2478024"/>
            <a:ext cx="4023360" cy="32004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Nabd supervisor</a:t>
            </a:r>
            <a:endParaRPr lang="en-US" sz="1400" dirty="0"/>
          </a:p>
        </p:txBody>
      </p:sp>
      <p:sp>
        <p:nvSpPr>
          <p:cNvPr id="10" name="Text 7"/>
          <p:cNvSpPr txBox="1"/>
          <p:nvPr/>
        </p:nvSpPr>
        <p:spPr>
          <a:xfrm>
            <a:off x="4114800" y="2788920"/>
            <a:ext cx="4023360" cy="365760"/>
          </a:xfrm>
          <a:prstGeom prst="rect">
            <a:avLst/>
          </a:prstGeom>
          <a:noFill/>
          <a:ln/>
        </p:spPr>
        <p:txBody>
          <a:bodyPr wrap="square" lIns="0" tIns="0" rIns="0" bIns="0" rtlCol="0" anchor="t"/>
          <a:lstStyle/>
          <a:p>
            <a:pPr indent="0" marL="0">
              <a:buNone/>
            </a:pPr>
            <a:r>
              <a:rPr lang="en-US" sz="950" dirty="0">
                <a:solidFill>
                  <a:srgbClr val="FFFFFF"/>
                </a:solidFill>
                <a:latin typeface="Arial" pitchFamily="34" charset="0"/>
                <a:ea typeface="Arial" pitchFamily="34" charset="-122"/>
                <a:cs typeface="Arial" pitchFamily="34" charset="-120"/>
              </a:rPr>
              <a:t>Gemini Flash on the Agent Development Kit: plans, routes and composes; never guesses a number</a:t>
            </a:r>
            <a:endParaRPr lang="en-US" sz="950" dirty="0"/>
          </a:p>
        </p:txBody>
      </p:sp>
      <p:sp>
        <p:nvSpPr>
          <p:cNvPr id="11" name="Shape 8"/>
          <p:cNvSpPr/>
          <p:nvPr/>
        </p:nvSpPr>
        <p:spPr>
          <a:xfrm flipH="1">
            <a:off x="1600200" y="3200400"/>
            <a:ext cx="4498848" cy="384048"/>
          </a:xfrm>
          <a:prstGeom prst="line">
            <a:avLst/>
          </a:prstGeom>
          <a:noFill/>
          <a:ln w="15875">
            <a:solidFill>
              <a:srgbClr val="DADCE0"/>
            </a:solidFill>
            <a:prstDash val="solid"/>
            <a:tailEnd type="triangle"/>
          </a:ln>
        </p:spPr>
      </p:sp>
      <p:sp>
        <p:nvSpPr>
          <p:cNvPr id="12" name="Shape 9"/>
          <p:cNvSpPr/>
          <p:nvPr/>
        </p:nvSpPr>
        <p:spPr>
          <a:xfrm>
            <a:off x="548640" y="3611880"/>
            <a:ext cx="2103120" cy="658368"/>
          </a:xfrm>
          <a:prstGeom prst="roundRect">
            <a:avLst>
              <a:gd name="adj" fmla="val 11111"/>
            </a:avLst>
          </a:prstGeom>
          <a:solidFill>
            <a:srgbClr val="FFFFFF"/>
          </a:solidFill>
          <a:ln w="9525">
            <a:solidFill>
              <a:srgbClr val="DADCE0"/>
            </a:solidFill>
            <a:prstDash val="solid"/>
          </a:ln>
        </p:spPr>
      </p:sp>
      <p:sp>
        <p:nvSpPr>
          <p:cNvPr id="13" name="Shape 10"/>
          <p:cNvSpPr/>
          <p:nvPr/>
        </p:nvSpPr>
        <p:spPr>
          <a:xfrm>
            <a:off x="658368" y="3712464"/>
            <a:ext cx="457200" cy="457200"/>
          </a:xfrm>
          <a:prstGeom prst="ellipse">
            <a:avLst/>
          </a:prstGeom>
          <a:solidFill>
            <a:srgbClr val="4285F4"/>
          </a:solidFill>
          <a:ln w="12700">
            <a:solidFill>
              <a:srgbClr val="4285F4"/>
            </a:solidFill>
            <a:prstDash val="solid"/>
          </a:ln>
        </p:spPr>
      </p:sp>
      <p:pic>
        <p:nvPicPr>
          <p:cNvPr id="14" name="Image 1" descr="preencoded.png">    </p:cNvPr>
          <p:cNvPicPr>
            <a:picLocks noChangeAspect="1"/>
          </p:cNvPicPr>
          <p:nvPr/>
        </p:nvPicPr>
        <p:blipFill>
          <a:blip r:embed="rId2"/>
          <a:stretch>
            <a:fillRect/>
          </a:stretch>
        </p:blipFill>
        <p:spPr>
          <a:xfrm>
            <a:off x="768096" y="3822192"/>
            <a:ext cx="237744" cy="237744"/>
          </a:xfrm>
          <a:prstGeom prst="rect">
            <a:avLst/>
          </a:prstGeom>
        </p:spPr>
      </p:pic>
      <p:sp>
        <p:nvSpPr>
          <p:cNvPr id="15" name="Text 11"/>
          <p:cNvSpPr txBox="1"/>
          <p:nvPr/>
        </p:nvSpPr>
        <p:spPr>
          <a:xfrm>
            <a:off x="1188720" y="3639312"/>
            <a:ext cx="1389888" cy="603504"/>
          </a:xfrm>
          <a:prstGeom prst="rect">
            <a:avLst/>
          </a:prstGeom>
          <a:noFill/>
          <a:ln/>
        </p:spPr>
        <p:txBody>
          <a:bodyPr wrap="square" lIns="0" tIns="0" rIns="0" bIns="0" rtlCol="0" anchor="ctr"/>
          <a:lstStyle/>
          <a:p>
            <a:pPr indent="0" marL="0">
              <a:lnSpc>
                <a:spcPct val="100000"/>
              </a:lnSpc>
              <a:buNone/>
            </a:pPr>
            <a:r>
              <a:rPr lang="en-US" sz="1100" b="1" dirty="0">
                <a:solidFill>
                  <a:srgbClr val="202124"/>
                </a:solidFill>
                <a:latin typeface="Arial" pitchFamily="34" charset="0"/>
                <a:ea typeface="Arial" pitchFamily="34" charset="-122"/>
                <a:cs typeface="Arial" pitchFamily="34" charset="-120"/>
              </a:rPr>
              <a:t>Data specialist</a:t>
            </a:r>
            <a:endParaRPr lang="en-US" sz="1100" dirty="0"/>
          </a:p>
        </p:txBody>
      </p:sp>
      <p:sp>
        <p:nvSpPr>
          <p:cNvPr id="16" name="Shape 12"/>
          <p:cNvSpPr/>
          <p:nvPr/>
        </p:nvSpPr>
        <p:spPr>
          <a:xfrm>
            <a:off x="1600200" y="4270248"/>
            <a:ext cx="0" cy="192024"/>
          </a:xfrm>
          <a:prstGeom prst="line">
            <a:avLst/>
          </a:prstGeom>
          <a:noFill/>
          <a:ln w="15875">
            <a:solidFill>
              <a:srgbClr val="DADCE0"/>
            </a:solidFill>
            <a:prstDash val="solid"/>
            <a:tailEnd type="triangle"/>
          </a:ln>
        </p:spPr>
      </p:sp>
      <p:sp>
        <p:nvSpPr>
          <p:cNvPr id="17" name="Shape 13"/>
          <p:cNvSpPr/>
          <p:nvPr/>
        </p:nvSpPr>
        <p:spPr>
          <a:xfrm>
            <a:off x="548640" y="4480560"/>
            <a:ext cx="2103120" cy="1143000"/>
          </a:xfrm>
          <a:prstGeom prst="roundRect">
            <a:avLst>
              <a:gd name="adj" fmla="val 6400"/>
            </a:avLst>
          </a:prstGeom>
          <a:solidFill>
            <a:srgbClr val="F8F9FA"/>
          </a:solidFill>
          <a:ln w="12700">
            <a:solidFill>
              <a:srgbClr val="F8F9FA"/>
            </a:solidFill>
            <a:prstDash val="solid"/>
          </a:ln>
        </p:spPr>
      </p:sp>
      <p:sp>
        <p:nvSpPr>
          <p:cNvPr id="18" name="Text 14"/>
          <p:cNvSpPr txBox="1"/>
          <p:nvPr/>
        </p:nvSpPr>
        <p:spPr>
          <a:xfrm>
            <a:off x="685800" y="4572000"/>
            <a:ext cx="1828800" cy="594360"/>
          </a:xfrm>
          <a:prstGeom prst="rect">
            <a:avLst/>
          </a:prstGeom>
          <a:noFill/>
          <a:ln/>
        </p:spPr>
        <p:txBody>
          <a:bodyPr wrap="square" lIns="0" tIns="0" rIns="0" bIns="0" rtlCol="0" anchor="t"/>
          <a:lstStyle/>
          <a:p>
            <a:pPr indent="0" marL="0">
              <a:lnSpc>
                <a:spcPct val="115000"/>
              </a:lnSpc>
              <a:buNone/>
            </a:pPr>
            <a:r>
              <a:rPr lang="en-US" sz="1000" dirty="0">
                <a:solidFill>
                  <a:srgbClr val="202124"/>
                </a:solidFill>
                <a:latin typeface="Arial" pitchFamily="34" charset="0"/>
                <a:ea typeface="Arial" pitchFamily="34" charset="-122"/>
                <a:cs typeface="Arial" pitchFamily="34" charset="-120"/>
              </a:rPr>
              <a:t>Cohorts, timelines, group-bys over the exchange</a:t>
            </a:r>
            <a:endParaRPr lang="en-US" sz="1000" dirty="0"/>
          </a:p>
        </p:txBody>
      </p:sp>
      <p:sp>
        <p:nvSpPr>
          <p:cNvPr id="19" name="Text 15"/>
          <p:cNvSpPr txBox="1"/>
          <p:nvPr/>
        </p:nvSpPr>
        <p:spPr>
          <a:xfrm>
            <a:off x="685800" y="5138928"/>
            <a:ext cx="1828800" cy="457200"/>
          </a:xfrm>
          <a:prstGeom prst="rect">
            <a:avLst/>
          </a:prstGeom>
          <a:noFill/>
          <a:ln/>
        </p:spPr>
        <p:txBody>
          <a:bodyPr wrap="square" lIns="0" tIns="0" rIns="0" bIns="0" rtlCol="0" anchor="t"/>
          <a:lstStyle/>
          <a:p>
            <a:pPr indent="0" marL="0">
              <a:lnSpc>
                <a:spcPct val="110000"/>
              </a:lnSpc>
              <a:buNone/>
            </a:pPr>
            <a:r>
              <a:rPr lang="en-US" sz="900" b="1" dirty="0">
                <a:solidFill>
                  <a:srgbClr val="4285F4"/>
                </a:solidFill>
                <a:latin typeface="Arial" pitchFamily="34" charset="0"/>
                <a:ea typeface="Arial" pitchFamily="34" charset="-122"/>
                <a:cs typeface="Arial" pitchFamily="34" charset="-120"/>
              </a:rPr>
              <a:t>HIE tables in the demo · BigQuery on Google Cloud</a:t>
            </a:r>
            <a:endParaRPr lang="en-US" sz="900" dirty="0"/>
          </a:p>
        </p:txBody>
      </p:sp>
      <p:sp>
        <p:nvSpPr>
          <p:cNvPr id="20" name="Shape 16"/>
          <p:cNvSpPr/>
          <p:nvPr/>
        </p:nvSpPr>
        <p:spPr>
          <a:xfrm flipH="1">
            <a:off x="3840480" y="3200400"/>
            <a:ext cx="2258568" cy="384048"/>
          </a:xfrm>
          <a:prstGeom prst="line">
            <a:avLst/>
          </a:prstGeom>
          <a:noFill/>
          <a:ln w="15875">
            <a:solidFill>
              <a:srgbClr val="DADCE0"/>
            </a:solidFill>
            <a:prstDash val="solid"/>
            <a:tailEnd type="triangle"/>
          </a:ln>
        </p:spPr>
      </p:sp>
      <p:sp>
        <p:nvSpPr>
          <p:cNvPr id="21" name="Shape 17"/>
          <p:cNvSpPr/>
          <p:nvPr/>
        </p:nvSpPr>
        <p:spPr>
          <a:xfrm>
            <a:off x="2788920" y="3611880"/>
            <a:ext cx="2103120" cy="658368"/>
          </a:xfrm>
          <a:prstGeom prst="roundRect">
            <a:avLst>
              <a:gd name="adj" fmla="val 11111"/>
            </a:avLst>
          </a:prstGeom>
          <a:solidFill>
            <a:srgbClr val="FFFFFF"/>
          </a:solidFill>
          <a:ln w="9525">
            <a:solidFill>
              <a:srgbClr val="DADCE0"/>
            </a:solidFill>
            <a:prstDash val="solid"/>
          </a:ln>
        </p:spPr>
      </p:sp>
      <p:sp>
        <p:nvSpPr>
          <p:cNvPr id="22" name="Shape 18"/>
          <p:cNvSpPr/>
          <p:nvPr/>
        </p:nvSpPr>
        <p:spPr>
          <a:xfrm>
            <a:off x="2898648" y="3712464"/>
            <a:ext cx="457200" cy="457200"/>
          </a:xfrm>
          <a:prstGeom prst="ellipse">
            <a:avLst/>
          </a:prstGeom>
          <a:solidFill>
            <a:srgbClr val="EA4335"/>
          </a:solidFill>
          <a:ln w="12700">
            <a:solidFill>
              <a:srgbClr val="EA4335"/>
            </a:solidFill>
            <a:prstDash val="solid"/>
          </a:ln>
        </p:spPr>
      </p:sp>
      <p:pic>
        <p:nvPicPr>
          <p:cNvPr id="23" name="Image 2" descr="preencoded.png">    </p:cNvPr>
          <p:cNvPicPr>
            <a:picLocks noChangeAspect="1"/>
          </p:cNvPicPr>
          <p:nvPr/>
        </p:nvPicPr>
        <p:blipFill>
          <a:blip r:embed="rId3"/>
          <a:stretch>
            <a:fillRect/>
          </a:stretch>
        </p:blipFill>
        <p:spPr>
          <a:xfrm>
            <a:off x="3008376" y="3822192"/>
            <a:ext cx="237744" cy="237744"/>
          </a:xfrm>
          <a:prstGeom prst="rect">
            <a:avLst/>
          </a:prstGeom>
        </p:spPr>
      </p:pic>
      <p:sp>
        <p:nvSpPr>
          <p:cNvPr id="24" name="Text 19"/>
          <p:cNvSpPr txBox="1"/>
          <p:nvPr/>
        </p:nvSpPr>
        <p:spPr>
          <a:xfrm>
            <a:off x="3429000" y="3639312"/>
            <a:ext cx="1389888" cy="603504"/>
          </a:xfrm>
          <a:prstGeom prst="rect">
            <a:avLst/>
          </a:prstGeom>
          <a:noFill/>
          <a:ln/>
        </p:spPr>
        <p:txBody>
          <a:bodyPr wrap="square" lIns="0" tIns="0" rIns="0" bIns="0" rtlCol="0" anchor="ctr"/>
          <a:lstStyle/>
          <a:p>
            <a:pPr indent="0" marL="0">
              <a:lnSpc>
                <a:spcPct val="100000"/>
              </a:lnSpc>
              <a:buNone/>
            </a:pPr>
            <a:r>
              <a:rPr lang="en-US" sz="1100" b="1" dirty="0">
                <a:solidFill>
                  <a:srgbClr val="202124"/>
                </a:solidFill>
                <a:latin typeface="Arial" pitchFamily="34" charset="0"/>
                <a:ea typeface="Arial" pitchFamily="34" charset="-122"/>
                <a:cs typeface="Arial" pitchFamily="34" charset="-120"/>
              </a:rPr>
              <a:t>Guideline specialist</a:t>
            </a:r>
            <a:endParaRPr lang="en-US" sz="1100" dirty="0"/>
          </a:p>
        </p:txBody>
      </p:sp>
      <p:sp>
        <p:nvSpPr>
          <p:cNvPr id="25" name="Shape 20"/>
          <p:cNvSpPr/>
          <p:nvPr/>
        </p:nvSpPr>
        <p:spPr>
          <a:xfrm>
            <a:off x="3840480" y="4270248"/>
            <a:ext cx="0" cy="192024"/>
          </a:xfrm>
          <a:prstGeom prst="line">
            <a:avLst/>
          </a:prstGeom>
          <a:noFill/>
          <a:ln w="15875">
            <a:solidFill>
              <a:srgbClr val="DADCE0"/>
            </a:solidFill>
            <a:prstDash val="solid"/>
            <a:tailEnd type="triangle"/>
          </a:ln>
        </p:spPr>
      </p:sp>
      <p:sp>
        <p:nvSpPr>
          <p:cNvPr id="26" name="Shape 21"/>
          <p:cNvSpPr/>
          <p:nvPr/>
        </p:nvSpPr>
        <p:spPr>
          <a:xfrm>
            <a:off x="2788920" y="4480560"/>
            <a:ext cx="2103120" cy="1143000"/>
          </a:xfrm>
          <a:prstGeom prst="roundRect">
            <a:avLst>
              <a:gd name="adj" fmla="val 6400"/>
            </a:avLst>
          </a:prstGeom>
          <a:solidFill>
            <a:srgbClr val="F8F9FA"/>
          </a:solidFill>
          <a:ln w="12700">
            <a:solidFill>
              <a:srgbClr val="F8F9FA"/>
            </a:solidFill>
            <a:prstDash val="solid"/>
          </a:ln>
        </p:spPr>
      </p:sp>
      <p:sp>
        <p:nvSpPr>
          <p:cNvPr id="27" name="Text 22"/>
          <p:cNvSpPr txBox="1"/>
          <p:nvPr/>
        </p:nvSpPr>
        <p:spPr>
          <a:xfrm>
            <a:off x="2926080" y="4572000"/>
            <a:ext cx="1828800" cy="594360"/>
          </a:xfrm>
          <a:prstGeom prst="rect">
            <a:avLst/>
          </a:prstGeom>
          <a:noFill/>
          <a:ln/>
        </p:spPr>
        <p:txBody>
          <a:bodyPr wrap="square" lIns="0" tIns="0" rIns="0" bIns="0" rtlCol="0" anchor="t"/>
          <a:lstStyle/>
          <a:p>
            <a:pPr indent="0" marL="0">
              <a:lnSpc>
                <a:spcPct val="115000"/>
              </a:lnSpc>
              <a:buNone/>
            </a:pPr>
            <a:r>
              <a:rPr lang="en-US" sz="1000" dirty="0">
                <a:solidFill>
                  <a:srgbClr val="202124"/>
                </a:solidFill>
                <a:latin typeface="Arial" pitchFamily="34" charset="0"/>
                <a:ea typeface="Arial" pitchFamily="34" charset="-122"/>
                <a:cs typeface="Arial" pitchFamily="34" charset="-120"/>
              </a:rPr>
              <a:t>Retrieval over the national guidelines with page citations</a:t>
            </a:r>
            <a:endParaRPr lang="en-US" sz="1000" dirty="0"/>
          </a:p>
        </p:txBody>
      </p:sp>
      <p:sp>
        <p:nvSpPr>
          <p:cNvPr id="28" name="Text 23"/>
          <p:cNvSpPr txBox="1"/>
          <p:nvPr/>
        </p:nvSpPr>
        <p:spPr>
          <a:xfrm>
            <a:off x="2926080" y="5138928"/>
            <a:ext cx="1828800" cy="457200"/>
          </a:xfrm>
          <a:prstGeom prst="rect">
            <a:avLst/>
          </a:prstGeom>
          <a:noFill/>
          <a:ln/>
        </p:spPr>
        <p:txBody>
          <a:bodyPr wrap="square" lIns="0" tIns="0" rIns="0" bIns="0" rtlCol="0" anchor="t"/>
          <a:lstStyle/>
          <a:p>
            <a:pPr indent="0" marL="0">
              <a:lnSpc>
                <a:spcPct val="110000"/>
              </a:lnSpc>
              <a:buNone/>
            </a:pPr>
            <a:r>
              <a:rPr lang="en-US" sz="900" b="1" dirty="0">
                <a:solidFill>
                  <a:srgbClr val="EA4335"/>
                </a:solidFill>
                <a:latin typeface="Arial" pitchFamily="34" charset="0"/>
                <a:ea typeface="Arial" pitchFamily="34" charset="-122"/>
                <a:cs typeface="Arial" pitchFamily="34" charset="-120"/>
              </a:rPr>
              <a:t>Hybrid search · Vertex AI RAG Engine on Google Cloud</a:t>
            </a:r>
            <a:endParaRPr lang="en-US" sz="900" dirty="0"/>
          </a:p>
        </p:txBody>
      </p:sp>
      <p:sp>
        <p:nvSpPr>
          <p:cNvPr id="29" name="Shape 24"/>
          <p:cNvSpPr/>
          <p:nvPr/>
        </p:nvSpPr>
        <p:spPr>
          <a:xfrm flipH="1">
            <a:off x="6080760" y="3200400"/>
            <a:ext cx="18288" cy="384048"/>
          </a:xfrm>
          <a:prstGeom prst="line">
            <a:avLst/>
          </a:prstGeom>
          <a:noFill/>
          <a:ln w="15875">
            <a:solidFill>
              <a:srgbClr val="DADCE0"/>
            </a:solidFill>
            <a:prstDash val="solid"/>
            <a:tailEnd type="triangle"/>
          </a:ln>
        </p:spPr>
      </p:sp>
      <p:sp>
        <p:nvSpPr>
          <p:cNvPr id="30" name="Shape 25"/>
          <p:cNvSpPr/>
          <p:nvPr/>
        </p:nvSpPr>
        <p:spPr>
          <a:xfrm>
            <a:off x="5029200" y="3611880"/>
            <a:ext cx="2103120" cy="658368"/>
          </a:xfrm>
          <a:prstGeom prst="roundRect">
            <a:avLst>
              <a:gd name="adj" fmla="val 11111"/>
            </a:avLst>
          </a:prstGeom>
          <a:solidFill>
            <a:srgbClr val="FFFFFF"/>
          </a:solidFill>
          <a:ln w="9525">
            <a:solidFill>
              <a:srgbClr val="DADCE0"/>
            </a:solidFill>
            <a:prstDash val="solid"/>
          </a:ln>
        </p:spPr>
      </p:sp>
      <p:sp>
        <p:nvSpPr>
          <p:cNvPr id="31" name="Shape 26"/>
          <p:cNvSpPr/>
          <p:nvPr/>
        </p:nvSpPr>
        <p:spPr>
          <a:xfrm>
            <a:off x="5138928" y="3712464"/>
            <a:ext cx="457200" cy="457200"/>
          </a:xfrm>
          <a:prstGeom prst="ellipse">
            <a:avLst/>
          </a:prstGeom>
          <a:solidFill>
            <a:srgbClr val="FBBC04"/>
          </a:solidFill>
          <a:ln w="12700">
            <a:solidFill>
              <a:srgbClr val="FBBC04"/>
            </a:solidFill>
            <a:prstDash val="solid"/>
          </a:ln>
        </p:spPr>
      </p:sp>
      <p:pic>
        <p:nvPicPr>
          <p:cNvPr id="32" name="Image 3" descr="preencoded.png">    </p:cNvPr>
          <p:cNvPicPr>
            <a:picLocks noChangeAspect="1"/>
          </p:cNvPicPr>
          <p:nvPr/>
        </p:nvPicPr>
        <p:blipFill>
          <a:blip r:embed="rId4"/>
          <a:stretch>
            <a:fillRect/>
          </a:stretch>
        </p:blipFill>
        <p:spPr>
          <a:xfrm>
            <a:off x="5248656" y="3822192"/>
            <a:ext cx="237744" cy="237744"/>
          </a:xfrm>
          <a:prstGeom prst="rect">
            <a:avLst/>
          </a:prstGeom>
        </p:spPr>
      </p:pic>
      <p:sp>
        <p:nvSpPr>
          <p:cNvPr id="33" name="Text 27"/>
          <p:cNvSpPr txBox="1"/>
          <p:nvPr/>
        </p:nvSpPr>
        <p:spPr>
          <a:xfrm>
            <a:off x="5669280" y="3639312"/>
            <a:ext cx="1389888" cy="603504"/>
          </a:xfrm>
          <a:prstGeom prst="rect">
            <a:avLst/>
          </a:prstGeom>
          <a:noFill/>
          <a:ln/>
        </p:spPr>
        <p:txBody>
          <a:bodyPr wrap="square" lIns="0" tIns="0" rIns="0" bIns="0" rtlCol="0" anchor="ctr"/>
          <a:lstStyle/>
          <a:p>
            <a:pPr indent="0" marL="0">
              <a:lnSpc>
                <a:spcPct val="100000"/>
              </a:lnSpc>
              <a:buNone/>
            </a:pPr>
            <a:r>
              <a:rPr lang="en-US" sz="1100" b="1" dirty="0">
                <a:solidFill>
                  <a:srgbClr val="202124"/>
                </a:solidFill>
                <a:latin typeface="Arial" pitchFamily="34" charset="0"/>
                <a:ea typeface="Arial" pitchFamily="34" charset="-122"/>
                <a:cs typeface="Arial" pitchFamily="34" charset="-120"/>
              </a:rPr>
              <a:t>Risk specialist</a:t>
            </a:r>
            <a:endParaRPr lang="en-US" sz="1100" dirty="0"/>
          </a:p>
        </p:txBody>
      </p:sp>
      <p:sp>
        <p:nvSpPr>
          <p:cNvPr id="34" name="Shape 28"/>
          <p:cNvSpPr/>
          <p:nvPr/>
        </p:nvSpPr>
        <p:spPr>
          <a:xfrm>
            <a:off x="6080760" y="4270248"/>
            <a:ext cx="0" cy="192024"/>
          </a:xfrm>
          <a:prstGeom prst="line">
            <a:avLst/>
          </a:prstGeom>
          <a:noFill/>
          <a:ln w="15875">
            <a:solidFill>
              <a:srgbClr val="DADCE0"/>
            </a:solidFill>
            <a:prstDash val="solid"/>
            <a:tailEnd type="triangle"/>
          </a:ln>
        </p:spPr>
      </p:sp>
      <p:sp>
        <p:nvSpPr>
          <p:cNvPr id="35" name="Shape 29"/>
          <p:cNvSpPr/>
          <p:nvPr/>
        </p:nvSpPr>
        <p:spPr>
          <a:xfrm>
            <a:off x="5029200" y="4480560"/>
            <a:ext cx="2103120" cy="1143000"/>
          </a:xfrm>
          <a:prstGeom prst="roundRect">
            <a:avLst>
              <a:gd name="adj" fmla="val 6400"/>
            </a:avLst>
          </a:prstGeom>
          <a:solidFill>
            <a:srgbClr val="F8F9FA"/>
          </a:solidFill>
          <a:ln w="12700">
            <a:solidFill>
              <a:srgbClr val="F8F9FA"/>
            </a:solidFill>
            <a:prstDash val="solid"/>
          </a:ln>
        </p:spPr>
      </p:sp>
      <p:sp>
        <p:nvSpPr>
          <p:cNvPr id="36" name="Text 30"/>
          <p:cNvSpPr txBox="1"/>
          <p:nvPr/>
        </p:nvSpPr>
        <p:spPr>
          <a:xfrm>
            <a:off x="5166360" y="4572000"/>
            <a:ext cx="1828800" cy="594360"/>
          </a:xfrm>
          <a:prstGeom prst="rect">
            <a:avLst/>
          </a:prstGeom>
          <a:noFill/>
          <a:ln/>
        </p:spPr>
        <p:txBody>
          <a:bodyPr wrap="square" lIns="0" tIns="0" rIns="0" bIns="0" rtlCol="0" anchor="t"/>
          <a:lstStyle/>
          <a:p>
            <a:pPr indent="0" marL="0">
              <a:lnSpc>
                <a:spcPct val="115000"/>
              </a:lnSpc>
              <a:buNone/>
            </a:pPr>
            <a:r>
              <a:rPr lang="en-US" sz="1000" dirty="0">
                <a:solidFill>
                  <a:srgbClr val="202124"/>
                </a:solidFill>
                <a:latin typeface="Arial" pitchFamily="34" charset="0"/>
                <a:ea typeface="Arial" pitchFamily="34" charset="-122"/>
                <a:cs typeface="Arial" pitchFamily="34" charset="-120"/>
              </a:rPr>
              <a:t>Scores, explains, forecasts, simulates</a:t>
            </a:r>
            <a:endParaRPr lang="en-US" sz="1000" dirty="0"/>
          </a:p>
        </p:txBody>
      </p:sp>
      <p:sp>
        <p:nvSpPr>
          <p:cNvPr id="37" name="Text 31"/>
          <p:cNvSpPr txBox="1"/>
          <p:nvPr/>
        </p:nvSpPr>
        <p:spPr>
          <a:xfrm>
            <a:off x="5166360" y="5138928"/>
            <a:ext cx="1828800" cy="457200"/>
          </a:xfrm>
          <a:prstGeom prst="rect">
            <a:avLst/>
          </a:prstGeom>
          <a:noFill/>
          <a:ln/>
        </p:spPr>
        <p:txBody>
          <a:bodyPr wrap="square" lIns="0" tIns="0" rIns="0" bIns="0" rtlCol="0" anchor="t"/>
          <a:lstStyle/>
          <a:p>
            <a:pPr indent="0" marL="0">
              <a:lnSpc>
                <a:spcPct val="110000"/>
              </a:lnSpc>
              <a:buNone/>
            </a:pPr>
            <a:r>
              <a:rPr lang="en-US" sz="900" b="1" dirty="0">
                <a:solidFill>
                  <a:srgbClr val="B06000"/>
                </a:solidFill>
                <a:latin typeface="Arial" pitchFamily="34" charset="0"/>
                <a:ea typeface="Arial" pitchFamily="34" charset="-122"/>
                <a:cs typeface="Arial" pitchFamily="34" charset="-120"/>
              </a:rPr>
              <a:t>XGBoost risk model (AUC 0.85) · segments · forecast</a:t>
            </a:r>
            <a:endParaRPr lang="en-US" sz="900" dirty="0"/>
          </a:p>
        </p:txBody>
      </p:sp>
      <p:sp>
        <p:nvSpPr>
          <p:cNvPr id="38" name="Shape 32"/>
          <p:cNvSpPr/>
          <p:nvPr/>
        </p:nvSpPr>
        <p:spPr>
          <a:xfrm>
            <a:off x="6099048" y="3200400"/>
            <a:ext cx="2221992" cy="384048"/>
          </a:xfrm>
          <a:prstGeom prst="line">
            <a:avLst/>
          </a:prstGeom>
          <a:noFill/>
          <a:ln w="15875">
            <a:solidFill>
              <a:srgbClr val="DADCE0"/>
            </a:solidFill>
            <a:prstDash val="solid"/>
            <a:tailEnd type="triangle"/>
          </a:ln>
        </p:spPr>
      </p:sp>
      <p:sp>
        <p:nvSpPr>
          <p:cNvPr id="39" name="Shape 33"/>
          <p:cNvSpPr/>
          <p:nvPr/>
        </p:nvSpPr>
        <p:spPr>
          <a:xfrm>
            <a:off x="7269480" y="3611880"/>
            <a:ext cx="2103120" cy="658368"/>
          </a:xfrm>
          <a:prstGeom prst="roundRect">
            <a:avLst>
              <a:gd name="adj" fmla="val 11111"/>
            </a:avLst>
          </a:prstGeom>
          <a:solidFill>
            <a:srgbClr val="FFFFFF"/>
          </a:solidFill>
          <a:ln w="9525">
            <a:solidFill>
              <a:srgbClr val="DADCE0"/>
            </a:solidFill>
            <a:prstDash val="solid"/>
          </a:ln>
        </p:spPr>
      </p:sp>
      <p:sp>
        <p:nvSpPr>
          <p:cNvPr id="40" name="Shape 34"/>
          <p:cNvSpPr/>
          <p:nvPr/>
        </p:nvSpPr>
        <p:spPr>
          <a:xfrm>
            <a:off x="7379208" y="3712464"/>
            <a:ext cx="457200" cy="457200"/>
          </a:xfrm>
          <a:prstGeom prst="ellipse">
            <a:avLst/>
          </a:prstGeom>
          <a:solidFill>
            <a:srgbClr val="34A853"/>
          </a:solidFill>
          <a:ln w="12700">
            <a:solidFill>
              <a:srgbClr val="34A853"/>
            </a:solidFill>
            <a:prstDash val="solid"/>
          </a:ln>
        </p:spPr>
      </p:sp>
      <p:pic>
        <p:nvPicPr>
          <p:cNvPr id="41" name="Image 4" descr="preencoded.png">    </p:cNvPr>
          <p:cNvPicPr>
            <a:picLocks noChangeAspect="1"/>
          </p:cNvPicPr>
          <p:nvPr/>
        </p:nvPicPr>
        <p:blipFill>
          <a:blip r:embed="rId5"/>
          <a:stretch>
            <a:fillRect/>
          </a:stretch>
        </p:blipFill>
        <p:spPr>
          <a:xfrm>
            <a:off x="7488936" y="3822192"/>
            <a:ext cx="237744" cy="237744"/>
          </a:xfrm>
          <a:prstGeom prst="rect">
            <a:avLst/>
          </a:prstGeom>
        </p:spPr>
      </p:pic>
      <p:sp>
        <p:nvSpPr>
          <p:cNvPr id="42" name="Text 35"/>
          <p:cNvSpPr txBox="1"/>
          <p:nvPr/>
        </p:nvSpPr>
        <p:spPr>
          <a:xfrm>
            <a:off x="7909560" y="3639312"/>
            <a:ext cx="1389888" cy="603504"/>
          </a:xfrm>
          <a:prstGeom prst="rect">
            <a:avLst/>
          </a:prstGeom>
          <a:noFill/>
          <a:ln/>
        </p:spPr>
        <p:txBody>
          <a:bodyPr wrap="square" lIns="0" tIns="0" rIns="0" bIns="0" rtlCol="0" anchor="ctr"/>
          <a:lstStyle/>
          <a:p>
            <a:pPr indent="0" marL="0">
              <a:lnSpc>
                <a:spcPct val="100000"/>
              </a:lnSpc>
              <a:buNone/>
            </a:pPr>
            <a:r>
              <a:rPr lang="en-US" sz="1100" b="1" dirty="0">
                <a:solidFill>
                  <a:srgbClr val="202124"/>
                </a:solidFill>
                <a:latin typeface="Arial" pitchFamily="34" charset="0"/>
                <a:ea typeface="Arial" pitchFamily="34" charset="-122"/>
                <a:cs typeface="Arial" pitchFamily="34" charset="-120"/>
              </a:rPr>
              <a:t>Population-health MCP</a:t>
            </a:r>
            <a:endParaRPr lang="en-US" sz="1100" dirty="0"/>
          </a:p>
        </p:txBody>
      </p:sp>
      <p:sp>
        <p:nvSpPr>
          <p:cNvPr id="43" name="Shape 36"/>
          <p:cNvSpPr/>
          <p:nvPr/>
        </p:nvSpPr>
        <p:spPr>
          <a:xfrm>
            <a:off x="8321040" y="4270248"/>
            <a:ext cx="0" cy="192024"/>
          </a:xfrm>
          <a:prstGeom prst="line">
            <a:avLst/>
          </a:prstGeom>
          <a:noFill/>
          <a:ln w="15875">
            <a:solidFill>
              <a:srgbClr val="DADCE0"/>
            </a:solidFill>
            <a:prstDash val="solid"/>
            <a:tailEnd type="triangle"/>
          </a:ln>
        </p:spPr>
      </p:sp>
      <p:sp>
        <p:nvSpPr>
          <p:cNvPr id="44" name="Shape 37"/>
          <p:cNvSpPr/>
          <p:nvPr/>
        </p:nvSpPr>
        <p:spPr>
          <a:xfrm>
            <a:off x="7269480" y="4480560"/>
            <a:ext cx="2103120" cy="1143000"/>
          </a:xfrm>
          <a:prstGeom prst="roundRect">
            <a:avLst>
              <a:gd name="adj" fmla="val 6400"/>
            </a:avLst>
          </a:prstGeom>
          <a:solidFill>
            <a:srgbClr val="F8F9FA"/>
          </a:solidFill>
          <a:ln w="12700">
            <a:solidFill>
              <a:srgbClr val="F8F9FA"/>
            </a:solidFill>
            <a:prstDash val="solid"/>
          </a:ln>
        </p:spPr>
      </p:sp>
      <p:sp>
        <p:nvSpPr>
          <p:cNvPr id="45" name="Text 38"/>
          <p:cNvSpPr txBox="1"/>
          <p:nvPr/>
        </p:nvSpPr>
        <p:spPr>
          <a:xfrm>
            <a:off x="7406640" y="4572000"/>
            <a:ext cx="1828800" cy="594360"/>
          </a:xfrm>
          <a:prstGeom prst="rect">
            <a:avLst/>
          </a:prstGeom>
          <a:noFill/>
          <a:ln/>
        </p:spPr>
        <p:txBody>
          <a:bodyPr wrap="square" lIns="0" tIns="0" rIns="0" bIns="0" rtlCol="0" anchor="t"/>
          <a:lstStyle/>
          <a:p>
            <a:pPr indent="0" marL="0">
              <a:lnSpc>
                <a:spcPct val="115000"/>
              </a:lnSpc>
              <a:buNone/>
            </a:pPr>
            <a:r>
              <a:rPr lang="en-US" sz="1000" dirty="0">
                <a:solidFill>
                  <a:srgbClr val="202124"/>
                </a:solidFill>
                <a:latin typeface="Arial" pitchFamily="34" charset="0"/>
                <a:ea typeface="Arial" pitchFamily="34" charset="-122"/>
                <a:cs typeface="Arial" pitchFamily="34" charset="-120"/>
              </a:rPr>
              <a:t>Care gaps, quality measures, stratification</a:t>
            </a:r>
            <a:endParaRPr lang="en-US" sz="1000" dirty="0"/>
          </a:p>
        </p:txBody>
      </p:sp>
      <p:sp>
        <p:nvSpPr>
          <p:cNvPr id="46" name="Text 39"/>
          <p:cNvSpPr txBox="1"/>
          <p:nvPr/>
        </p:nvSpPr>
        <p:spPr>
          <a:xfrm>
            <a:off x="7406640" y="5138928"/>
            <a:ext cx="1828800" cy="457200"/>
          </a:xfrm>
          <a:prstGeom prst="rect">
            <a:avLst/>
          </a:prstGeom>
          <a:noFill/>
          <a:ln/>
        </p:spPr>
        <p:txBody>
          <a:bodyPr wrap="square" lIns="0" tIns="0" rIns="0" bIns="0" rtlCol="0" anchor="t"/>
          <a:lstStyle/>
          <a:p>
            <a:pPr indent="0" marL="0">
              <a:lnSpc>
                <a:spcPct val="110000"/>
              </a:lnSpc>
              <a:buNone/>
            </a:pPr>
            <a:r>
              <a:rPr lang="en-US" sz="900" b="1" dirty="0">
                <a:solidFill>
                  <a:srgbClr val="34A853"/>
                </a:solidFill>
                <a:latin typeface="Arial" pitchFamily="34" charset="0"/>
                <a:ea typeface="Arial" pitchFamily="34" charset="-122"/>
                <a:cs typeface="Arial" pitchFamily="34" charset="-120"/>
              </a:rPr>
              <a:t>Nabd MCP server, seven tools, any MCP client</a:t>
            </a:r>
            <a:endParaRPr lang="en-US" sz="900" dirty="0"/>
          </a:p>
        </p:txBody>
      </p:sp>
      <p:sp>
        <p:nvSpPr>
          <p:cNvPr id="47" name="Shape 40"/>
          <p:cNvSpPr/>
          <p:nvPr/>
        </p:nvSpPr>
        <p:spPr>
          <a:xfrm>
            <a:off x="6099048" y="3200400"/>
            <a:ext cx="4462272" cy="384048"/>
          </a:xfrm>
          <a:prstGeom prst="line">
            <a:avLst/>
          </a:prstGeom>
          <a:noFill/>
          <a:ln w="15875">
            <a:solidFill>
              <a:srgbClr val="DADCE0"/>
            </a:solidFill>
            <a:prstDash val="solid"/>
            <a:tailEnd type="triangle"/>
          </a:ln>
        </p:spPr>
      </p:sp>
      <p:sp>
        <p:nvSpPr>
          <p:cNvPr id="48" name="Shape 41"/>
          <p:cNvSpPr/>
          <p:nvPr/>
        </p:nvSpPr>
        <p:spPr>
          <a:xfrm>
            <a:off x="9509760" y="3611880"/>
            <a:ext cx="2103120" cy="658368"/>
          </a:xfrm>
          <a:prstGeom prst="roundRect">
            <a:avLst>
              <a:gd name="adj" fmla="val 11111"/>
            </a:avLst>
          </a:prstGeom>
          <a:solidFill>
            <a:srgbClr val="FFFFFF"/>
          </a:solidFill>
          <a:ln w="9525">
            <a:solidFill>
              <a:srgbClr val="DADCE0"/>
            </a:solidFill>
            <a:prstDash val="solid"/>
          </a:ln>
        </p:spPr>
      </p:sp>
      <p:sp>
        <p:nvSpPr>
          <p:cNvPr id="49" name="Shape 42"/>
          <p:cNvSpPr/>
          <p:nvPr/>
        </p:nvSpPr>
        <p:spPr>
          <a:xfrm>
            <a:off x="9619488" y="3712464"/>
            <a:ext cx="457200" cy="457200"/>
          </a:xfrm>
          <a:prstGeom prst="ellipse">
            <a:avLst/>
          </a:prstGeom>
          <a:solidFill>
            <a:srgbClr val="5F6368"/>
          </a:solidFill>
          <a:ln w="12700">
            <a:solidFill>
              <a:srgbClr val="5F6368"/>
            </a:solidFill>
            <a:prstDash val="solid"/>
          </a:ln>
        </p:spPr>
      </p:sp>
      <p:pic>
        <p:nvPicPr>
          <p:cNvPr id="50" name="Image 5" descr="preencoded.png">    </p:cNvPr>
          <p:cNvPicPr>
            <a:picLocks noChangeAspect="1"/>
          </p:cNvPicPr>
          <p:nvPr/>
        </p:nvPicPr>
        <p:blipFill>
          <a:blip r:embed="rId6"/>
          <a:stretch>
            <a:fillRect/>
          </a:stretch>
        </p:blipFill>
        <p:spPr>
          <a:xfrm>
            <a:off x="9729216" y="3822192"/>
            <a:ext cx="237744" cy="237744"/>
          </a:xfrm>
          <a:prstGeom prst="rect">
            <a:avLst/>
          </a:prstGeom>
        </p:spPr>
      </p:pic>
      <p:sp>
        <p:nvSpPr>
          <p:cNvPr id="51" name="Text 43"/>
          <p:cNvSpPr txBox="1"/>
          <p:nvPr/>
        </p:nvSpPr>
        <p:spPr>
          <a:xfrm>
            <a:off x="10149840" y="3639312"/>
            <a:ext cx="1389888" cy="603504"/>
          </a:xfrm>
          <a:prstGeom prst="rect">
            <a:avLst/>
          </a:prstGeom>
          <a:noFill/>
          <a:ln/>
        </p:spPr>
        <p:txBody>
          <a:bodyPr wrap="square" lIns="0" tIns="0" rIns="0" bIns="0" rtlCol="0" anchor="ctr"/>
          <a:lstStyle/>
          <a:p>
            <a:pPr indent="0" marL="0">
              <a:lnSpc>
                <a:spcPct val="100000"/>
              </a:lnSpc>
              <a:buNone/>
            </a:pPr>
            <a:r>
              <a:rPr lang="en-US" sz="1100" b="1" dirty="0">
                <a:solidFill>
                  <a:srgbClr val="202124"/>
                </a:solidFill>
                <a:latin typeface="Arial" pitchFamily="34" charset="0"/>
                <a:ea typeface="Arial" pitchFamily="34" charset="-122"/>
                <a:cs typeface="Arial" pitchFamily="34" charset="-120"/>
              </a:rPr>
              <a:t>Action specialist</a:t>
            </a:r>
            <a:endParaRPr lang="en-US" sz="1100" dirty="0"/>
          </a:p>
        </p:txBody>
      </p:sp>
      <p:sp>
        <p:nvSpPr>
          <p:cNvPr id="52" name="Shape 44"/>
          <p:cNvSpPr/>
          <p:nvPr/>
        </p:nvSpPr>
        <p:spPr>
          <a:xfrm>
            <a:off x="10561320" y="4270248"/>
            <a:ext cx="0" cy="192024"/>
          </a:xfrm>
          <a:prstGeom prst="line">
            <a:avLst/>
          </a:prstGeom>
          <a:noFill/>
          <a:ln w="15875">
            <a:solidFill>
              <a:srgbClr val="DADCE0"/>
            </a:solidFill>
            <a:prstDash val="solid"/>
            <a:tailEnd type="triangle"/>
          </a:ln>
        </p:spPr>
      </p:sp>
      <p:sp>
        <p:nvSpPr>
          <p:cNvPr id="53" name="Shape 45"/>
          <p:cNvSpPr/>
          <p:nvPr/>
        </p:nvSpPr>
        <p:spPr>
          <a:xfrm>
            <a:off x="9509760" y="4480560"/>
            <a:ext cx="2103120" cy="1143000"/>
          </a:xfrm>
          <a:prstGeom prst="roundRect">
            <a:avLst>
              <a:gd name="adj" fmla="val 6400"/>
            </a:avLst>
          </a:prstGeom>
          <a:solidFill>
            <a:srgbClr val="F8F9FA"/>
          </a:solidFill>
          <a:ln w="12700">
            <a:solidFill>
              <a:srgbClr val="F8F9FA"/>
            </a:solidFill>
            <a:prstDash val="solid"/>
          </a:ln>
        </p:spPr>
      </p:sp>
      <p:sp>
        <p:nvSpPr>
          <p:cNvPr id="54" name="Text 46"/>
          <p:cNvSpPr txBox="1"/>
          <p:nvPr/>
        </p:nvSpPr>
        <p:spPr>
          <a:xfrm>
            <a:off x="9646920" y="4572000"/>
            <a:ext cx="1828800" cy="594360"/>
          </a:xfrm>
          <a:prstGeom prst="rect">
            <a:avLst/>
          </a:prstGeom>
          <a:noFill/>
          <a:ln/>
        </p:spPr>
        <p:txBody>
          <a:bodyPr wrap="square" lIns="0" tIns="0" rIns="0" bIns="0" rtlCol="0" anchor="t"/>
          <a:lstStyle/>
          <a:p>
            <a:pPr indent="0" marL="0">
              <a:lnSpc>
                <a:spcPct val="115000"/>
              </a:lnSpc>
              <a:buNone/>
            </a:pPr>
            <a:r>
              <a:rPr lang="en-US" sz="1000" dirty="0">
                <a:solidFill>
                  <a:srgbClr val="202124"/>
                </a:solidFill>
                <a:latin typeface="Arial" pitchFamily="34" charset="0"/>
                <a:ea typeface="Arial" pitchFamily="34" charset="-122"/>
                <a:cs typeface="Arial" pitchFamily="34" charset="-120"/>
              </a:rPr>
              <a:t>Drafts prescriptions, recalls, referrals</a:t>
            </a:r>
            <a:endParaRPr lang="en-US" sz="1000" dirty="0"/>
          </a:p>
        </p:txBody>
      </p:sp>
      <p:sp>
        <p:nvSpPr>
          <p:cNvPr id="55" name="Text 47"/>
          <p:cNvSpPr txBox="1"/>
          <p:nvPr/>
        </p:nvSpPr>
        <p:spPr>
          <a:xfrm>
            <a:off x="9646920" y="5138928"/>
            <a:ext cx="1828800" cy="457200"/>
          </a:xfrm>
          <a:prstGeom prst="rect">
            <a:avLst/>
          </a:prstGeom>
          <a:noFill/>
          <a:ln/>
        </p:spPr>
        <p:txBody>
          <a:bodyPr wrap="square" lIns="0" tIns="0" rIns="0" bIns="0" rtlCol="0" anchor="t"/>
          <a:lstStyle/>
          <a:p>
            <a:pPr indent="0" marL="0">
              <a:lnSpc>
                <a:spcPct val="110000"/>
              </a:lnSpc>
              <a:buNone/>
            </a:pPr>
            <a:r>
              <a:rPr lang="en-US" sz="900" b="1" dirty="0">
                <a:solidFill>
                  <a:srgbClr val="5F6368"/>
                </a:solidFill>
                <a:latin typeface="Arial" pitchFamily="34" charset="0"/>
                <a:ea typeface="Arial" pitchFamily="34" charset="-122"/>
                <a:cs typeface="Arial" pitchFamily="34" charset="-120"/>
              </a:rPr>
              <a:t>Human-in-the-loop approval queue</a:t>
            </a:r>
            <a:endParaRPr lang="en-US" sz="900" dirty="0"/>
          </a:p>
        </p:txBody>
      </p:sp>
      <p:sp>
        <p:nvSpPr>
          <p:cNvPr id="56" name="Shape 48"/>
          <p:cNvSpPr/>
          <p:nvPr/>
        </p:nvSpPr>
        <p:spPr>
          <a:xfrm>
            <a:off x="548640" y="5760720"/>
            <a:ext cx="11064240" cy="566928"/>
          </a:xfrm>
          <a:prstGeom prst="roundRect">
            <a:avLst>
              <a:gd name="adj" fmla="val 12903"/>
            </a:avLst>
          </a:prstGeom>
          <a:solidFill>
            <a:srgbClr val="E6F4EA"/>
          </a:solidFill>
          <a:ln w="12700">
            <a:solidFill>
              <a:srgbClr val="E6F4EA"/>
            </a:solidFill>
            <a:prstDash val="solid"/>
          </a:ln>
        </p:spPr>
      </p:sp>
      <p:pic>
        <p:nvPicPr>
          <p:cNvPr id="57" name="Image 6" descr="preencoded.png">    </p:cNvPr>
          <p:cNvPicPr>
            <a:picLocks noChangeAspect="1"/>
          </p:cNvPicPr>
          <p:nvPr/>
        </p:nvPicPr>
        <p:blipFill>
          <a:blip r:embed="rId7"/>
          <a:stretch>
            <a:fillRect/>
          </a:stretch>
        </p:blipFill>
        <p:spPr>
          <a:xfrm>
            <a:off x="731520" y="5907024"/>
            <a:ext cx="274320" cy="274320"/>
          </a:xfrm>
          <a:prstGeom prst="rect">
            <a:avLst/>
          </a:prstGeom>
        </p:spPr>
      </p:pic>
      <p:sp>
        <p:nvSpPr>
          <p:cNvPr id="58" name="Text 49"/>
          <p:cNvSpPr txBox="1"/>
          <p:nvPr/>
        </p:nvSpPr>
        <p:spPr>
          <a:xfrm>
            <a:off x="1097280" y="5779008"/>
            <a:ext cx="10424160" cy="548640"/>
          </a:xfrm>
          <a:prstGeom prst="rect">
            <a:avLst/>
          </a:prstGeom>
          <a:noFill/>
          <a:ln/>
        </p:spPr>
        <p:txBody>
          <a:bodyPr wrap="square" lIns="0" tIns="0" rIns="0" bIns="0" rtlCol="0" anchor="ctr"/>
          <a:lstStyle/>
          <a:p>
            <a:pPr indent="0" marL="0">
              <a:lnSpc>
                <a:spcPct val="110000"/>
              </a:lnSpc>
              <a:buNone/>
            </a:pPr>
            <a:r>
              <a:rPr lang="en-US" sz="1000" b="1" dirty="0">
                <a:solidFill>
                  <a:srgbClr val="202124"/>
                </a:solidFill>
                <a:latin typeface="Arial" pitchFamily="34" charset="0"/>
                <a:ea typeface="Arial" pitchFamily="34" charset="-122"/>
                <a:cs typeface="Arial" pitchFamily="34" charset="-120"/>
              </a:rPr>
              <a:t>Every answer ships with its evidence: </a:t>
            </a:r>
            <a:pPr indent="0" marL="0">
              <a:lnSpc>
                <a:spcPct val="110000"/>
              </a:lnSpc>
              <a:buNone/>
            </a:pPr>
            <a:r>
              <a:rPr lang="en-US" sz="1000" dirty="0">
                <a:solidFill>
                  <a:srgbClr val="5F6368"/>
                </a:solidFill>
                <a:latin typeface="Arial" pitchFamily="34" charset="0"/>
                <a:ea typeface="Arial" pitchFamily="34" charset="-122"/>
                <a:cs typeface="Arial" pitchFamily="34" charset="-120"/>
              </a:rPr>
              <a:t>the tool trace, guideline citations, model drivers and any drafted action, streamed live so the user watches the agents work.</a:t>
            </a:r>
            <a:endParaRPr lang="en-US" sz="1000" dirty="0"/>
          </a:p>
        </p:txBody>
      </p:sp>
      <p:sp>
        <p:nvSpPr>
          <p:cNvPr id="59" name="Text 50"/>
          <p:cNvSpPr txBox="1"/>
          <p:nvPr/>
        </p:nvSpPr>
        <p:spPr>
          <a:xfrm>
            <a:off x="548640" y="6446520"/>
            <a:ext cx="9144000" cy="228600"/>
          </a:xfrm>
          <a:prstGeom prst="rect">
            <a:avLst/>
          </a:prstGeom>
          <a:noFill/>
          <a:ln/>
        </p:spPr>
        <p:txBody>
          <a:bodyPr wrap="square" lIns="0" tIns="0" rIns="0" bIns="0" rtlCol="0" anchor="t"/>
          <a:lstStyle/>
          <a:p>
            <a:pPr indent="0" marL="0">
              <a:buNone/>
            </a:pPr>
            <a:r>
              <a:rPr lang="en-US" sz="850" dirty="0">
                <a:solidFill>
                  <a:srgbClr val="9AA0A6"/>
                </a:solidFill>
                <a:latin typeface="Arial" pitchFamily="34" charset="0"/>
                <a:ea typeface="Arial" pitchFamily="34" charset="-122"/>
                <a:cs typeface="Arial" pitchFamily="34" charset="-120"/>
              </a:rPr>
              <a:t>Nabd نبض · Diabetes population health on Google Cloud · Customer Engineering</a:t>
            </a:r>
            <a:endParaRPr lang="en-US" sz="850" dirty="0"/>
          </a:p>
        </p:txBody>
      </p:sp>
      <p:sp>
        <p:nvSpPr>
          <p:cNvPr id="60" name="Text 51"/>
          <p:cNvSpPr txBox="1"/>
          <p:nvPr/>
        </p:nvSpPr>
        <p:spPr>
          <a:xfrm>
            <a:off x="11155680" y="6446520"/>
            <a:ext cx="457200" cy="228600"/>
          </a:xfrm>
          <a:prstGeom prst="rect">
            <a:avLst/>
          </a:prstGeom>
          <a:noFill/>
          <a:ln/>
        </p:spPr>
        <p:txBody>
          <a:bodyPr wrap="square" lIns="0" tIns="0" rIns="0" bIns="0" rtlCol="0" anchor="t"/>
          <a:lstStyle/>
          <a:p>
            <a:pPr algn="r" indent="0" marL="0">
              <a:buNone/>
            </a:pPr>
            <a:r>
              <a:rPr lang="en-US" sz="850" dirty="0">
                <a:solidFill>
                  <a:srgbClr val="9AA0A6"/>
                </a:solidFill>
                <a:latin typeface="Arial" pitchFamily="34" charset="0"/>
                <a:ea typeface="Arial" pitchFamily="34" charset="-122"/>
                <a:cs typeface="Arial"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457200"/>
            <a:ext cx="11064240" cy="868680"/>
          </a:xfrm>
          <a:prstGeom prst="rect">
            <a:avLst/>
          </a:prstGeom>
          <a:noFill/>
          <a:ln/>
        </p:spPr>
        <p:txBody>
          <a:bodyPr wrap="square" lIns="0" tIns="0" rIns="0" bIns="0" rtlCol="0" anchor="t"/>
          <a:lstStyle/>
          <a:p>
            <a:pPr indent="0" marL="0">
              <a:lnSpc>
                <a:spcPct val="105000"/>
              </a:lnSpc>
              <a:buNone/>
            </a:pPr>
            <a:r>
              <a:rPr lang="en-US" sz="2600" b="1" dirty="0">
                <a:solidFill>
                  <a:srgbClr val="202124"/>
                </a:solidFill>
                <a:latin typeface="Arial" pitchFamily="34" charset="0"/>
                <a:ea typeface="Arial" pitchFamily="34" charset="-122"/>
                <a:cs typeface="Arial" pitchFamily="34" charset="-120"/>
              </a:rPr>
              <a:t>Reference architecture A: SAS Viya, the first working version</a:t>
            </a:r>
            <a:endParaRPr lang="en-US" sz="2600" dirty="0"/>
          </a:p>
        </p:txBody>
      </p:sp>
      <p:sp>
        <p:nvSpPr>
          <p:cNvPr id="3" name="Text 1"/>
          <p:cNvSpPr txBox="1"/>
          <p:nvPr/>
        </p:nvSpPr>
        <p:spPr>
          <a:xfrm>
            <a:off x="548640" y="1298448"/>
            <a:ext cx="11064240" cy="320040"/>
          </a:xfrm>
          <a:prstGeom prst="rect">
            <a:avLst/>
          </a:prstGeom>
          <a:noFill/>
          <a:ln/>
        </p:spPr>
        <p:txBody>
          <a:bodyPr wrap="square" lIns="0" tIns="0" rIns="0" bIns="0" rtlCol="0" anchor="t"/>
          <a:lstStyle/>
          <a:p>
            <a:pPr indent="0" marL="0">
              <a:buNone/>
            </a:pPr>
            <a:r>
              <a:rPr lang="en-US" sz="1300" dirty="0">
                <a:solidFill>
                  <a:srgbClr val="5F6368"/>
                </a:solidFill>
                <a:latin typeface="Arial" pitchFamily="34" charset="0"/>
                <a:ea typeface="Arial" pitchFamily="34" charset="-122"/>
                <a:cs typeface="Arial" pitchFamily="34" charset="-120"/>
              </a:rPr>
              <a:t>What was built and proven first: agentic retrieval over guidelines, structured data in CAS, tools behind an MCP server.</a:t>
            </a:r>
            <a:endParaRPr lang="en-US" sz="1300" dirty="0"/>
          </a:p>
        </p:txBody>
      </p:sp>
      <p:sp>
        <p:nvSpPr>
          <p:cNvPr id="4" name="Shape 2"/>
          <p:cNvSpPr/>
          <p:nvPr/>
        </p:nvSpPr>
        <p:spPr>
          <a:xfrm>
            <a:off x="548640" y="1783080"/>
            <a:ext cx="2834640" cy="2606040"/>
          </a:xfrm>
          <a:prstGeom prst="roundRect">
            <a:avLst>
              <a:gd name="adj" fmla="val 4211"/>
            </a:avLst>
          </a:prstGeom>
          <a:solidFill>
            <a:srgbClr val="FFFFFF">
              <a:alpha val="0"/>
            </a:srgbClr>
          </a:solidFill>
          <a:ln w="12700">
            <a:solidFill>
              <a:srgbClr val="4285F4"/>
            </a:solidFill>
            <a:prstDash val="dash"/>
          </a:ln>
        </p:spPr>
      </p:sp>
      <p:sp>
        <p:nvSpPr>
          <p:cNvPr id="5" name="Text 3"/>
          <p:cNvSpPr txBox="1"/>
          <p:nvPr/>
        </p:nvSpPr>
        <p:spPr>
          <a:xfrm>
            <a:off x="731520" y="1874520"/>
            <a:ext cx="2560320" cy="201168"/>
          </a:xfrm>
          <a:prstGeom prst="rect">
            <a:avLst/>
          </a:prstGeom>
          <a:noFill/>
          <a:ln/>
        </p:spPr>
        <p:txBody>
          <a:bodyPr wrap="square" lIns="0" tIns="0" rIns="0" bIns="0" rtlCol="0" anchor="t"/>
          <a:lstStyle/>
          <a:p>
            <a:pPr indent="0" marL="0">
              <a:buNone/>
            </a:pPr>
            <a:r>
              <a:rPr lang="en-US" sz="850" b="1" spc="150" kern="0" dirty="0">
                <a:solidFill>
                  <a:srgbClr val="1A73E8"/>
                </a:solidFill>
                <a:latin typeface="Arial" pitchFamily="34" charset="0"/>
                <a:ea typeface="Arial" pitchFamily="34" charset="-122"/>
                <a:cs typeface="Arial" pitchFamily="34" charset="-120"/>
              </a:rPr>
              <a:t>UNSTRUCTURED DATA</a:t>
            </a:r>
            <a:endParaRPr lang="en-US" sz="850" dirty="0"/>
          </a:p>
        </p:txBody>
      </p:sp>
      <p:sp>
        <p:nvSpPr>
          <p:cNvPr id="6" name="Shape 4"/>
          <p:cNvSpPr/>
          <p:nvPr/>
        </p:nvSpPr>
        <p:spPr>
          <a:xfrm>
            <a:off x="731520" y="2103120"/>
            <a:ext cx="2468880" cy="713232"/>
          </a:xfrm>
          <a:prstGeom prst="roundRect">
            <a:avLst>
              <a:gd name="adj" fmla="val 7692"/>
            </a:avLst>
          </a:prstGeom>
          <a:solidFill>
            <a:srgbClr val="FFFFFF"/>
          </a:solidFill>
          <a:ln w="9525">
            <a:solidFill>
              <a:srgbClr val="DADCE0"/>
            </a:solidFill>
            <a:prstDash val="solid"/>
          </a:ln>
        </p:spPr>
      </p:sp>
      <p:pic>
        <p:nvPicPr>
          <p:cNvPr id="7" name="Image 0" descr="preencoded.png">    </p:cNvPr>
          <p:cNvPicPr>
            <a:picLocks noChangeAspect="1"/>
          </p:cNvPicPr>
          <p:nvPr/>
        </p:nvPicPr>
        <p:blipFill>
          <a:blip r:embed="rId1"/>
          <a:stretch>
            <a:fillRect/>
          </a:stretch>
        </p:blipFill>
        <p:spPr>
          <a:xfrm>
            <a:off x="841248" y="2203704"/>
            <a:ext cx="237744" cy="237744"/>
          </a:xfrm>
          <a:prstGeom prst="rect">
            <a:avLst/>
          </a:prstGeom>
        </p:spPr>
      </p:pic>
      <p:sp>
        <p:nvSpPr>
          <p:cNvPr id="8" name="Text 5"/>
          <p:cNvSpPr txBox="1"/>
          <p:nvPr/>
        </p:nvSpPr>
        <p:spPr>
          <a:xfrm>
            <a:off x="1152144" y="2176272"/>
            <a:ext cx="1975104" cy="274320"/>
          </a:xfrm>
          <a:prstGeom prst="rect">
            <a:avLst/>
          </a:prstGeom>
          <a:noFill/>
          <a:ln/>
        </p:spPr>
        <p:txBody>
          <a:bodyPr wrap="square" lIns="0" tIns="0" rIns="0" bIns="0" rtlCol="0" anchor="t"/>
          <a:lstStyle/>
          <a:p>
            <a:pPr indent="0" marL="0">
              <a:buNone/>
            </a:pPr>
            <a:r>
              <a:rPr lang="en-US" sz="1050" b="1" dirty="0">
                <a:solidFill>
                  <a:srgbClr val="202124"/>
                </a:solidFill>
                <a:latin typeface="Arial" pitchFamily="34" charset="0"/>
                <a:ea typeface="Arial" pitchFamily="34" charset="-122"/>
                <a:cs typeface="Arial" pitchFamily="34" charset="-120"/>
              </a:rPr>
              <a:t>Clinical guidelines and policy</a:t>
            </a:r>
            <a:endParaRPr lang="en-US" sz="1050" dirty="0"/>
          </a:p>
        </p:txBody>
      </p:sp>
      <p:sp>
        <p:nvSpPr>
          <p:cNvPr id="9" name="Text 6"/>
          <p:cNvSpPr txBox="1"/>
          <p:nvPr/>
        </p:nvSpPr>
        <p:spPr>
          <a:xfrm>
            <a:off x="841248" y="2432304"/>
            <a:ext cx="2286000" cy="347472"/>
          </a:xfrm>
          <a:prstGeom prst="rect">
            <a:avLst/>
          </a:prstGeom>
          <a:noFill/>
          <a:ln/>
        </p:spPr>
        <p:txBody>
          <a:bodyPr wrap="square" lIns="0" tIns="0" rIns="0" bIns="0" rtlCol="0" anchor="t"/>
          <a:lstStyle/>
          <a:p>
            <a:pPr indent="0" marL="0">
              <a:lnSpc>
                <a:spcPct val="105000"/>
              </a:lnSpc>
              <a:buNone/>
            </a:pPr>
            <a:r>
              <a:rPr lang="en-US" sz="850" dirty="0">
                <a:solidFill>
                  <a:srgbClr val="5F6368"/>
                </a:solidFill>
                <a:latin typeface="Arial" pitchFamily="34" charset="0"/>
                <a:ea typeface="Arial" pitchFamily="34" charset="-122"/>
                <a:cs typeface="Arial" pitchFamily="34" charset="-120"/>
              </a:rPr>
              <a:t>national guidelines · care protocols · policy frameworks</a:t>
            </a:r>
            <a:endParaRPr lang="en-US" sz="850" dirty="0"/>
          </a:p>
        </p:txBody>
      </p:sp>
      <p:sp>
        <p:nvSpPr>
          <p:cNvPr id="10" name="Shape 7"/>
          <p:cNvSpPr/>
          <p:nvPr/>
        </p:nvSpPr>
        <p:spPr>
          <a:xfrm>
            <a:off x="1965960" y="2816352"/>
            <a:ext cx="0" cy="182880"/>
          </a:xfrm>
          <a:prstGeom prst="line">
            <a:avLst/>
          </a:prstGeom>
          <a:noFill/>
          <a:ln w="15875">
            <a:solidFill>
              <a:srgbClr val="5F6368"/>
            </a:solidFill>
            <a:prstDash val="solid"/>
            <a:tailEnd type="triangle"/>
          </a:ln>
        </p:spPr>
      </p:sp>
      <p:sp>
        <p:nvSpPr>
          <p:cNvPr id="11" name="Shape 8"/>
          <p:cNvSpPr/>
          <p:nvPr/>
        </p:nvSpPr>
        <p:spPr>
          <a:xfrm>
            <a:off x="731520" y="3017520"/>
            <a:ext cx="2468880" cy="384048"/>
          </a:xfrm>
          <a:prstGeom prst="roundRect">
            <a:avLst>
              <a:gd name="adj" fmla="val 14286"/>
            </a:avLst>
          </a:prstGeom>
          <a:solidFill>
            <a:srgbClr val="E8F0FE"/>
          </a:solidFill>
          <a:ln w="9525">
            <a:solidFill>
              <a:srgbClr val="E8F0FE"/>
            </a:solidFill>
            <a:prstDash val="solid"/>
          </a:ln>
        </p:spPr>
      </p:sp>
      <p:sp>
        <p:nvSpPr>
          <p:cNvPr id="12" name="Text 9"/>
          <p:cNvSpPr txBox="1"/>
          <p:nvPr/>
        </p:nvSpPr>
        <p:spPr>
          <a:xfrm>
            <a:off x="841248" y="3090672"/>
            <a:ext cx="2286000" cy="237744"/>
          </a:xfrm>
          <a:prstGeom prst="rect">
            <a:avLst/>
          </a:prstGeom>
          <a:noFill/>
          <a:ln/>
        </p:spPr>
        <p:txBody>
          <a:bodyPr wrap="square" lIns="0" tIns="0" rIns="0" bIns="0" rtlCol="0" anchor="ctr"/>
          <a:lstStyle/>
          <a:p>
            <a:pPr indent="0" marL="0">
              <a:buNone/>
            </a:pPr>
            <a:r>
              <a:rPr lang="en-US" sz="1050" b="1" dirty="0">
                <a:solidFill>
                  <a:srgbClr val="202124"/>
                </a:solidFill>
                <a:latin typeface="Arial" pitchFamily="34" charset="0"/>
                <a:ea typeface="Arial" pitchFamily="34" charset="-122"/>
                <a:cs typeface="Arial" pitchFamily="34" charset="-120"/>
              </a:rPr>
              <a:t>Embedding model</a:t>
            </a:r>
            <a:endParaRPr lang="en-US" sz="1050" dirty="0"/>
          </a:p>
        </p:txBody>
      </p:sp>
      <p:sp>
        <p:nvSpPr>
          <p:cNvPr id="13" name="Shape 10"/>
          <p:cNvSpPr/>
          <p:nvPr/>
        </p:nvSpPr>
        <p:spPr>
          <a:xfrm>
            <a:off x="1965960" y="3401568"/>
            <a:ext cx="0" cy="182880"/>
          </a:xfrm>
          <a:prstGeom prst="line">
            <a:avLst/>
          </a:prstGeom>
          <a:noFill/>
          <a:ln w="15875">
            <a:solidFill>
              <a:srgbClr val="5F6368"/>
            </a:solidFill>
            <a:prstDash val="solid"/>
            <a:tailEnd type="triangle"/>
          </a:ln>
        </p:spPr>
      </p:sp>
      <p:sp>
        <p:nvSpPr>
          <p:cNvPr id="14" name="Shape 11"/>
          <p:cNvSpPr/>
          <p:nvPr/>
        </p:nvSpPr>
        <p:spPr>
          <a:xfrm>
            <a:off x="731520" y="3602736"/>
            <a:ext cx="2468880" cy="603504"/>
          </a:xfrm>
          <a:prstGeom prst="roundRect">
            <a:avLst>
              <a:gd name="adj" fmla="val 9091"/>
            </a:avLst>
          </a:prstGeom>
          <a:solidFill>
            <a:srgbClr val="1A73E8"/>
          </a:solidFill>
          <a:ln w="9525">
            <a:solidFill>
              <a:srgbClr val="1A73E8"/>
            </a:solidFill>
            <a:prstDash val="solid"/>
          </a:ln>
        </p:spPr>
      </p:sp>
      <p:sp>
        <p:nvSpPr>
          <p:cNvPr id="15" name="Text 12"/>
          <p:cNvSpPr txBox="1"/>
          <p:nvPr/>
        </p:nvSpPr>
        <p:spPr>
          <a:xfrm>
            <a:off x="841248" y="3675888"/>
            <a:ext cx="2286000" cy="274320"/>
          </a:xfrm>
          <a:prstGeom prst="rect">
            <a:avLst/>
          </a:prstGeom>
          <a:noFill/>
          <a:ln/>
        </p:spPr>
        <p:txBody>
          <a:bodyPr wrap="square" lIns="0" tIns="0" rIns="0" bIns="0" rtlCol="0" anchor="t"/>
          <a:lstStyle/>
          <a:p>
            <a:pPr indent="0" marL="0">
              <a:buNone/>
            </a:pPr>
            <a:r>
              <a:rPr lang="en-US" sz="1050" b="1" dirty="0">
                <a:solidFill>
                  <a:srgbClr val="FFFFFF"/>
                </a:solidFill>
                <a:latin typeface="Arial" pitchFamily="34" charset="0"/>
                <a:ea typeface="Arial" pitchFamily="34" charset="-122"/>
                <a:cs typeface="Arial" pitchFamily="34" charset="-120"/>
              </a:rPr>
              <a:t>Vector store (RAG)</a:t>
            </a:r>
            <a:endParaRPr lang="en-US" sz="1050" dirty="0"/>
          </a:p>
        </p:txBody>
      </p:sp>
      <p:sp>
        <p:nvSpPr>
          <p:cNvPr id="16" name="Text 13"/>
          <p:cNvSpPr txBox="1"/>
          <p:nvPr/>
        </p:nvSpPr>
        <p:spPr>
          <a:xfrm>
            <a:off x="841248" y="3931920"/>
            <a:ext cx="2286000" cy="237744"/>
          </a:xfrm>
          <a:prstGeom prst="rect">
            <a:avLst/>
          </a:prstGeom>
          <a:noFill/>
          <a:ln/>
        </p:spPr>
        <p:txBody>
          <a:bodyPr wrap="square" lIns="0" tIns="0" rIns="0" bIns="0" rtlCol="0" anchor="t"/>
          <a:lstStyle/>
          <a:p>
            <a:pPr indent="0" marL="0">
              <a:lnSpc>
                <a:spcPct val="105000"/>
              </a:lnSpc>
              <a:buNone/>
            </a:pPr>
            <a:r>
              <a:rPr lang="en-US" sz="850" dirty="0">
                <a:solidFill>
                  <a:srgbClr val="FFFFFF"/>
                </a:solidFill>
                <a:latin typeface="Arial" pitchFamily="34" charset="0"/>
                <a:ea typeface="Arial" pitchFamily="34" charset="-122"/>
                <a:cs typeface="Arial" pitchFamily="34" charset="-120"/>
              </a:rPr>
              <a:t>agentic retrieval at question time</a:t>
            </a:r>
            <a:endParaRPr lang="en-US" sz="850" dirty="0"/>
          </a:p>
        </p:txBody>
      </p:sp>
      <p:sp>
        <p:nvSpPr>
          <p:cNvPr id="17" name="Shape 14"/>
          <p:cNvSpPr/>
          <p:nvPr/>
        </p:nvSpPr>
        <p:spPr>
          <a:xfrm>
            <a:off x="548640" y="4572000"/>
            <a:ext cx="2834640" cy="1325880"/>
          </a:xfrm>
          <a:prstGeom prst="roundRect">
            <a:avLst>
              <a:gd name="adj" fmla="val 8276"/>
            </a:avLst>
          </a:prstGeom>
          <a:solidFill>
            <a:srgbClr val="FFFFFF">
              <a:alpha val="0"/>
            </a:srgbClr>
          </a:solidFill>
          <a:ln w="12700">
            <a:solidFill>
              <a:srgbClr val="4285F4"/>
            </a:solidFill>
            <a:prstDash val="dash"/>
          </a:ln>
        </p:spPr>
      </p:sp>
      <p:sp>
        <p:nvSpPr>
          <p:cNvPr id="18" name="Text 15"/>
          <p:cNvSpPr txBox="1"/>
          <p:nvPr/>
        </p:nvSpPr>
        <p:spPr>
          <a:xfrm>
            <a:off x="731520" y="4663440"/>
            <a:ext cx="2560320" cy="201168"/>
          </a:xfrm>
          <a:prstGeom prst="rect">
            <a:avLst/>
          </a:prstGeom>
          <a:noFill/>
          <a:ln/>
        </p:spPr>
        <p:txBody>
          <a:bodyPr wrap="square" lIns="0" tIns="0" rIns="0" bIns="0" rtlCol="0" anchor="t"/>
          <a:lstStyle/>
          <a:p>
            <a:pPr indent="0" marL="0">
              <a:buNone/>
            </a:pPr>
            <a:r>
              <a:rPr lang="en-US" sz="850" b="1" spc="150" kern="0" dirty="0">
                <a:solidFill>
                  <a:srgbClr val="1A73E8"/>
                </a:solidFill>
                <a:latin typeface="Arial" pitchFamily="34" charset="0"/>
                <a:ea typeface="Arial" pitchFamily="34" charset="-122"/>
                <a:cs typeface="Arial" pitchFamily="34" charset="-120"/>
              </a:rPr>
              <a:t>STRUCTURED DATA</a:t>
            </a:r>
            <a:endParaRPr lang="en-US" sz="850" dirty="0"/>
          </a:p>
        </p:txBody>
      </p:sp>
      <p:sp>
        <p:nvSpPr>
          <p:cNvPr id="19" name="Shape 16"/>
          <p:cNvSpPr/>
          <p:nvPr/>
        </p:nvSpPr>
        <p:spPr>
          <a:xfrm>
            <a:off x="731520" y="4892040"/>
            <a:ext cx="2468880" cy="868680"/>
          </a:xfrm>
          <a:prstGeom prst="roundRect">
            <a:avLst>
              <a:gd name="adj" fmla="val 6316"/>
            </a:avLst>
          </a:prstGeom>
          <a:solidFill>
            <a:srgbClr val="FFFFFF"/>
          </a:solidFill>
          <a:ln w="9525">
            <a:solidFill>
              <a:srgbClr val="DADCE0"/>
            </a:solidFill>
            <a:prstDash val="solid"/>
          </a:ln>
        </p:spPr>
      </p:sp>
      <p:pic>
        <p:nvPicPr>
          <p:cNvPr id="20" name="Image 1" descr="preencoded.png">    </p:cNvPr>
          <p:cNvPicPr>
            <a:picLocks noChangeAspect="1"/>
          </p:cNvPicPr>
          <p:nvPr/>
        </p:nvPicPr>
        <p:blipFill>
          <a:blip r:embed="rId2"/>
          <a:stretch>
            <a:fillRect/>
          </a:stretch>
        </p:blipFill>
        <p:spPr>
          <a:xfrm>
            <a:off x="841248" y="4992624"/>
            <a:ext cx="237744" cy="237744"/>
          </a:xfrm>
          <a:prstGeom prst="rect">
            <a:avLst/>
          </a:prstGeom>
        </p:spPr>
      </p:pic>
      <p:sp>
        <p:nvSpPr>
          <p:cNvPr id="21" name="Text 17"/>
          <p:cNvSpPr txBox="1"/>
          <p:nvPr/>
        </p:nvSpPr>
        <p:spPr>
          <a:xfrm>
            <a:off x="1152144" y="4965192"/>
            <a:ext cx="1975104" cy="274320"/>
          </a:xfrm>
          <a:prstGeom prst="rect">
            <a:avLst/>
          </a:prstGeom>
          <a:noFill/>
          <a:ln/>
        </p:spPr>
        <p:txBody>
          <a:bodyPr wrap="square" lIns="0" tIns="0" rIns="0" bIns="0" rtlCol="0" anchor="t"/>
          <a:lstStyle/>
          <a:p>
            <a:pPr indent="0" marL="0">
              <a:buNone/>
            </a:pPr>
            <a:r>
              <a:rPr lang="en-US" sz="1050" b="1" dirty="0">
                <a:solidFill>
                  <a:srgbClr val="202124"/>
                </a:solidFill>
                <a:latin typeface="Arial" pitchFamily="34" charset="0"/>
                <a:ea typeface="Arial" pitchFamily="34" charset="-122"/>
                <a:cs typeface="Arial" pitchFamily="34" charset="-120"/>
              </a:rPr>
              <a:t>National HIE</a:t>
            </a:r>
            <a:endParaRPr lang="en-US" sz="1050" dirty="0"/>
          </a:p>
        </p:txBody>
      </p:sp>
      <p:sp>
        <p:nvSpPr>
          <p:cNvPr id="22" name="Text 18"/>
          <p:cNvSpPr txBox="1"/>
          <p:nvPr/>
        </p:nvSpPr>
        <p:spPr>
          <a:xfrm>
            <a:off x="841248" y="5221224"/>
            <a:ext cx="2286000" cy="502920"/>
          </a:xfrm>
          <a:prstGeom prst="rect">
            <a:avLst/>
          </a:prstGeom>
          <a:noFill/>
          <a:ln/>
        </p:spPr>
        <p:txBody>
          <a:bodyPr wrap="square" lIns="0" tIns="0" rIns="0" bIns="0" rtlCol="0" anchor="t"/>
          <a:lstStyle/>
          <a:p>
            <a:pPr indent="0" marL="0">
              <a:lnSpc>
                <a:spcPct val="105000"/>
              </a:lnSpc>
              <a:buNone/>
            </a:pPr>
            <a:r>
              <a:rPr lang="en-US" sz="850" dirty="0">
                <a:solidFill>
                  <a:srgbClr val="5F6368"/>
                </a:solidFill>
                <a:latin typeface="Arial" pitchFamily="34" charset="0"/>
                <a:ea typeface="Arial" pitchFamily="34" charset="-122"/>
                <a:cs typeface="Arial" pitchFamily="34" charset="-120"/>
              </a:rPr>
              <a:t>patients · encounters · diagnoses · facilities (tabular)</a:t>
            </a:r>
            <a:endParaRPr lang="en-US" sz="850" dirty="0"/>
          </a:p>
        </p:txBody>
      </p:sp>
      <p:sp>
        <p:nvSpPr>
          <p:cNvPr id="23" name="Shape 19"/>
          <p:cNvSpPr/>
          <p:nvPr/>
        </p:nvSpPr>
        <p:spPr>
          <a:xfrm>
            <a:off x="3931920" y="4892040"/>
            <a:ext cx="2468880" cy="868680"/>
          </a:xfrm>
          <a:prstGeom prst="roundRect">
            <a:avLst>
              <a:gd name="adj" fmla="val 6316"/>
            </a:avLst>
          </a:prstGeom>
          <a:solidFill>
            <a:srgbClr val="F8F9FA"/>
          </a:solidFill>
          <a:ln w="9525">
            <a:solidFill>
              <a:srgbClr val="F8F9FA"/>
            </a:solidFill>
            <a:prstDash val="solid"/>
          </a:ln>
        </p:spPr>
      </p:sp>
      <p:pic>
        <p:nvPicPr>
          <p:cNvPr id="24" name="Image 2" descr="preencoded.png">    </p:cNvPr>
          <p:cNvPicPr>
            <a:picLocks noChangeAspect="1"/>
          </p:cNvPicPr>
          <p:nvPr/>
        </p:nvPicPr>
        <p:blipFill>
          <a:blip r:embed="rId3"/>
          <a:stretch>
            <a:fillRect/>
          </a:stretch>
        </p:blipFill>
        <p:spPr>
          <a:xfrm>
            <a:off x="4041648" y="4992624"/>
            <a:ext cx="237744" cy="237744"/>
          </a:xfrm>
          <a:prstGeom prst="rect">
            <a:avLst/>
          </a:prstGeom>
        </p:spPr>
      </p:pic>
      <p:sp>
        <p:nvSpPr>
          <p:cNvPr id="25" name="Text 20"/>
          <p:cNvSpPr txBox="1"/>
          <p:nvPr/>
        </p:nvSpPr>
        <p:spPr>
          <a:xfrm>
            <a:off x="4352544" y="4965192"/>
            <a:ext cx="1975104" cy="274320"/>
          </a:xfrm>
          <a:prstGeom prst="rect">
            <a:avLst/>
          </a:prstGeom>
          <a:noFill/>
          <a:ln/>
        </p:spPr>
        <p:txBody>
          <a:bodyPr wrap="square" lIns="0" tIns="0" rIns="0" bIns="0" rtlCol="0" anchor="t"/>
          <a:lstStyle/>
          <a:p>
            <a:pPr indent="0" marL="0">
              <a:buNone/>
            </a:pPr>
            <a:r>
              <a:rPr lang="en-US" sz="1050" b="1" dirty="0">
                <a:solidFill>
                  <a:srgbClr val="202124"/>
                </a:solidFill>
                <a:latin typeface="Arial" pitchFamily="34" charset="0"/>
                <a:ea typeface="Arial" pitchFamily="34" charset="-122"/>
                <a:cs typeface="Arial" pitchFamily="34" charset="-120"/>
              </a:rPr>
              <a:t>CAS table (SAS Viya)</a:t>
            </a:r>
            <a:endParaRPr lang="en-US" sz="1050" dirty="0"/>
          </a:p>
        </p:txBody>
      </p:sp>
      <p:sp>
        <p:nvSpPr>
          <p:cNvPr id="26" name="Text 21"/>
          <p:cNvSpPr txBox="1"/>
          <p:nvPr/>
        </p:nvSpPr>
        <p:spPr>
          <a:xfrm>
            <a:off x="4041648" y="5221224"/>
            <a:ext cx="2286000" cy="502920"/>
          </a:xfrm>
          <a:prstGeom prst="rect">
            <a:avLst/>
          </a:prstGeom>
          <a:noFill/>
          <a:ln/>
        </p:spPr>
        <p:txBody>
          <a:bodyPr wrap="square" lIns="0" tIns="0" rIns="0" bIns="0" rtlCol="0" anchor="t"/>
          <a:lstStyle/>
          <a:p>
            <a:pPr indent="0" marL="0">
              <a:lnSpc>
                <a:spcPct val="105000"/>
              </a:lnSpc>
              <a:buNone/>
            </a:pPr>
            <a:r>
              <a:rPr lang="en-US" sz="850" dirty="0">
                <a:solidFill>
                  <a:srgbClr val="5F6368"/>
                </a:solidFill>
                <a:latin typeface="Arial" pitchFamily="34" charset="0"/>
                <a:ea typeface="Arial" pitchFamily="34" charset="-122"/>
                <a:cs typeface="Arial" pitchFamily="34" charset="-120"/>
              </a:rPr>
              <a:t>in-memory analytics tables · read by the SQL tool</a:t>
            </a:r>
            <a:endParaRPr lang="en-US" sz="850" dirty="0"/>
          </a:p>
        </p:txBody>
      </p:sp>
      <p:sp>
        <p:nvSpPr>
          <p:cNvPr id="27" name="Shape 22"/>
          <p:cNvSpPr/>
          <p:nvPr/>
        </p:nvSpPr>
        <p:spPr>
          <a:xfrm>
            <a:off x="3200400" y="5321808"/>
            <a:ext cx="731520" cy="0"/>
          </a:xfrm>
          <a:prstGeom prst="line">
            <a:avLst/>
          </a:prstGeom>
          <a:noFill/>
          <a:ln w="15875">
            <a:solidFill>
              <a:srgbClr val="5F6368"/>
            </a:solidFill>
            <a:prstDash val="dash"/>
            <a:tailEnd type="triangle"/>
          </a:ln>
        </p:spPr>
      </p:sp>
      <p:sp>
        <p:nvSpPr>
          <p:cNvPr id="28" name="Shape 23"/>
          <p:cNvSpPr/>
          <p:nvPr/>
        </p:nvSpPr>
        <p:spPr>
          <a:xfrm>
            <a:off x="3931920" y="1783080"/>
            <a:ext cx="2743200" cy="2560320"/>
          </a:xfrm>
          <a:prstGeom prst="roundRect">
            <a:avLst>
              <a:gd name="adj" fmla="val 2857"/>
            </a:avLst>
          </a:prstGeom>
          <a:solidFill>
            <a:srgbClr val="4285F4"/>
          </a:solidFill>
          <a:ln w="12700">
            <a:solidFill>
              <a:srgbClr val="4285F4"/>
            </a:solidFill>
            <a:prstDash val="solid"/>
          </a:ln>
        </p:spPr>
      </p:sp>
      <p:sp>
        <p:nvSpPr>
          <p:cNvPr id="29" name="Text 24"/>
          <p:cNvSpPr txBox="1"/>
          <p:nvPr/>
        </p:nvSpPr>
        <p:spPr>
          <a:xfrm>
            <a:off x="4114800" y="1920240"/>
            <a:ext cx="2468880" cy="320040"/>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Health Analytics Agent</a:t>
            </a:r>
            <a:endParaRPr lang="en-US" sz="1300" dirty="0"/>
          </a:p>
        </p:txBody>
      </p:sp>
      <p:sp>
        <p:nvSpPr>
          <p:cNvPr id="30" name="Text 25"/>
          <p:cNvSpPr txBox="1"/>
          <p:nvPr/>
        </p:nvSpPr>
        <p:spPr>
          <a:xfrm>
            <a:off x="4114800" y="2286000"/>
            <a:ext cx="2468880" cy="822960"/>
          </a:xfrm>
          <a:prstGeom prst="rect">
            <a:avLst/>
          </a:prstGeom>
          <a:noFill/>
          <a:ln/>
        </p:spPr>
        <p:txBody>
          <a:bodyPr wrap="square" lIns="0" tIns="0" rIns="0" bIns="0" rtlCol="0" anchor="t"/>
          <a:lstStyle/>
          <a:p>
            <a:pPr indent="0" marL="0">
              <a:lnSpc>
                <a:spcPct val="115000"/>
              </a:lnSpc>
              <a:buNone/>
            </a:pPr>
            <a:r>
              <a:rPr lang="en-US" sz="950" dirty="0">
                <a:solidFill>
                  <a:srgbClr val="FFFFFF"/>
                </a:solidFill>
                <a:latin typeface="Arial" pitchFamily="34" charset="0"/>
                <a:ea typeface="Arial" pitchFamily="34" charset="-122"/>
                <a:cs typeface="Arial" pitchFamily="34" charset="-120"/>
              </a:rPr>
              <a:t>Patient-level queries, population insights, cost forecasting, policy simulation, with traceable, cited reasoning</a:t>
            </a:r>
            <a:endParaRPr lang="en-US" sz="950" dirty="0"/>
          </a:p>
        </p:txBody>
      </p:sp>
      <p:sp>
        <p:nvSpPr>
          <p:cNvPr id="31" name="Shape 26"/>
          <p:cNvSpPr/>
          <p:nvPr/>
        </p:nvSpPr>
        <p:spPr>
          <a:xfrm>
            <a:off x="4114800" y="3200400"/>
            <a:ext cx="2377440" cy="960120"/>
          </a:xfrm>
          <a:prstGeom prst="roundRect">
            <a:avLst>
              <a:gd name="adj" fmla="val 7619"/>
            </a:avLst>
          </a:prstGeom>
          <a:solidFill>
            <a:srgbClr val="FFFFFF"/>
          </a:solidFill>
          <a:ln w="12700">
            <a:solidFill>
              <a:srgbClr val="FFFFFF"/>
            </a:solidFill>
            <a:prstDash val="solid"/>
          </a:ln>
        </p:spPr>
      </p:sp>
      <p:sp>
        <p:nvSpPr>
          <p:cNvPr id="32" name="Text 27"/>
          <p:cNvSpPr txBox="1"/>
          <p:nvPr/>
        </p:nvSpPr>
        <p:spPr>
          <a:xfrm>
            <a:off x="4206240" y="3273552"/>
            <a:ext cx="2194560" cy="822960"/>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202124"/>
                </a:solidFill>
                <a:latin typeface="Arial" pitchFamily="34" charset="0"/>
                <a:ea typeface="Arial" pitchFamily="34" charset="-122"/>
                <a:cs typeface="Arial" pitchFamily="34" charset="-120"/>
              </a:rPr>
              <a:t>Orchestrator</a:t>
            </a:r>
            <a:endParaRPr lang="en-US" sz="1000" dirty="0"/>
          </a:p>
          <a:p>
            <a:pPr marL="342900" indent="-342900">
              <a:spcAft>
                <a:spcPts val="200"/>
              </a:spcAft>
              <a:buSzPct val="100000"/>
              <a:buChar char="•"/>
            </a:pPr>
            <a:r>
              <a:rPr lang="en-US" sz="1000" dirty="0">
                <a:solidFill>
                  <a:srgbClr val="202124"/>
                </a:solidFill>
                <a:latin typeface="Arial" pitchFamily="34" charset="0"/>
                <a:ea typeface="Arial" pitchFamily="34" charset="-122"/>
                <a:cs typeface="Arial" pitchFamily="34" charset="-120"/>
              </a:rPr>
              <a:t>Guideline grounding</a:t>
            </a:r>
            <a:endParaRPr lang="en-US" sz="1000" dirty="0"/>
          </a:p>
          <a:p>
            <a:pPr marL="342900" indent="-342900">
              <a:spcAft>
                <a:spcPts val="200"/>
              </a:spcAft>
              <a:buSzPct val="100000"/>
              <a:buChar char="•"/>
            </a:pPr>
            <a:r>
              <a:rPr lang="en-US" sz="1000" dirty="0">
                <a:solidFill>
                  <a:srgbClr val="202124"/>
                </a:solidFill>
                <a:latin typeface="Arial" pitchFamily="34" charset="0"/>
                <a:ea typeface="Arial" pitchFamily="34" charset="-122"/>
                <a:cs typeface="Arial" pitchFamily="34" charset="-120"/>
              </a:rPr>
              <a:t>Audit log</a:t>
            </a:r>
            <a:endParaRPr lang="en-US" sz="1000" dirty="0"/>
          </a:p>
        </p:txBody>
      </p:sp>
      <p:sp>
        <p:nvSpPr>
          <p:cNvPr id="33" name="Shape 28"/>
          <p:cNvSpPr/>
          <p:nvPr/>
        </p:nvSpPr>
        <p:spPr>
          <a:xfrm>
            <a:off x="3383280" y="3017520"/>
            <a:ext cx="548640" cy="0"/>
          </a:xfrm>
          <a:prstGeom prst="line">
            <a:avLst/>
          </a:prstGeom>
          <a:noFill/>
          <a:ln w="15875">
            <a:solidFill>
              <a:srgbClr val="1A73E8"/>
            </a:solidFill>
            <a:prstDash val="solid"/>
            <a:tailEnd type="triangle"/>
          </a:ln>
        </p:spPr>
      </p:sp>
      <p:sp>
        <p:nvSpPr>
          <p:cNvPr id="34" name="Shape 29"/>
          <p:cNvSpPr/>
          <p:nvPr/>
        </p:nvSpPr>
        <p:spPr>
          <a:xfrm>
            <a:off x="7086600" y="2468880"/>
            <a:ext cx="1417320" cy="1188720"/>
          </a:xfrm>
          <a:prstGeom prst="roundRect">
            <a:avLst>
              <a:gd name="adj" fmla="val 4615"/>
            </a:avLst>
          </a:prstGeom>
          <a:solidFill>
            <a:srgbClr val="E8F0FE"/>
          </a:solidFill>
          <a:ln w="9525">
            <a:solidFill>
              <a:srgbClr val="E8F0FE"/>
            </a:solidFill>
            <a:prstDash val="solid"/>
          </a:ln>
        </p:spPr>
      </p:sp>
      <p:pic>
        <p:nvPicPr>
          <p:cNvPr id="35" name="Image 3" descr="preencoded.png">    </p:cNvPr>
          <p:cNvPicPr>
            <a:picLocks noChangeAspect="1"/>
          </p:cNvPicPr>
          <p:nvPr/>
        </p:nvPicPr>
        <p:blipFill>
          <a:blip r:embed="rId4"/>
          <a:stretch>
            <a:fillRect/>
          </a:stretch>
        </p:blipFill>
        <p:spPr>
          <a:xfrm>
            <a:off x="7196328" y="2569464"/>
            <a:ext cx="237744" cy="237744"/>
          </a:xfrm>
          <a:prstGeom prst="rect">
            <a:avLst/>
          </a:prstGeom>
        </p:spPr>
      </p:pic>
      <p:sp>
        <p:nvSpPr>
          <p:cNvPr id="36" name="Text 30"/>
          <p:cNvSpPr txBox="1"/>
          <p:nvPr/>
        </p:nvSpPr>
        <p:spPr>
          <a:xfrm>
            <a:off x="7507224" y="2542032"/>
            <a:ext cx="923544" cy="274320"/>
          </a:xfrm>
          <a:prstGeom prst="rect">
            <a:avLst/>
          </a:prstGeom>
          <a:noFill/>
          <a:ln/>
        </p:spPr>
        <p:txBody>
          <a:bodyPr wrap="square" lIns="0" tIns="0" rIns="0" bIns="0" rtlCol="0" anchor="t"/>
          <a:lstStyle/>
          <a:p>
            <a:pPr indent="0" marL="0">
              <a:buNone/>
            </a:pPr>
            <a:r>
              <a:rPr lang="en-US" sz="1050" b="1" dirty="0">
                <a:solidFill>
                  <a:srgbClr val="1A73E8"/>
                </a:solidFill>
                <a:latin typeface="Arial" pitchFamily="34" charset="0"/>
                <a:ea typeface="Arial" pitchFamily="34" charset="-122"/>
                <a:cs typeface="Arial" pitchFamily="34" charset="-120"/>
              </a:rPr>
              <a:t>MCP server</a:t>
            </a:r>
            <a:endParaRPr lang="en-US" sz="1050" dirty="0"/>
          </a:p>
        </p:txBody>
      </p:sp>
      <p:sp>
        <p:nvSpPr>
          <p:cNvPr id="37" name="Text 31"/>
          <p:cNvSpPr txBox="1"/>
          <p:nvPr/>
        </p:nvSpPr>
        <p:spPr>
          <a:xfrm>
            <a:off x="7196328" y="2798064"/>
            <a:ext cx="1234440" cy="822960"/>
          </a:xfrm>
          <a:prstGeom prst="rect">
            <a:avLst/>
          </a:prstGeom>
          <a:noFill/>
          <a:ln/>
        </p:spPr>
        <p:txBody>
          <a:bodyPr wrap="square" lIns="0" tIns="0" rIns="0" bIns="0" rtlCol="0" anchor="t"/>
          <a:lstStyle/>
          <a:p>
            <a:pPr indent="0" marL="0">
              <a:lnSpc>
                <a:spcPct val="105000"/>
              </a:lnSpc>
              <a:buNone/>
            </a:pPr>
            <a:r>
              <a:rPr lang="en-US" sz="850" dirty="0">
                <a:solidFill>
                  <a:srgbClr val="5F6368"/>
                </a:solidFill>
                <a:latin typeface="Arial" pitchFamily="34" charset="0"/>
                <a:ea typeface="Arial" pitchFamily="34" charset="-122"/>
                <a:cs typeface="Arial" pitchFamily="34" charset="-120"/>
              </a:rPr>
              <a:t>tool gateway</a:t>
            </a:r>
            <a:endParaRPr lang="en-US" sz="850" dirty="0"/>
          </a:p>
        </p:txBody>
      </p:sp>
      <p:sp>
        <p:nvSpPr>
          <p:cNvPr id="38" name="Shape 32"/>
          <p:cNvSpPr/>
          <p:nvPr/>
        </p:nvSpPr>
        <p:spPr>
          <a:xfrm>
            <a:off x="6675120" y="3063240"/>
            <a:ext cx="411480" cy="0"/>
          </a:xfrm>
          <a:prstGeom prst="line">
            <a:avLst/>
          </a:prstGeom>
          <a:noFill/>
          <a:ln w="15875">
            <a:solidFill>
              <a:srgbClr val="1A73E8"/>
            </a:solidFill>
            <a:prstDash val="solid"/>
            <a:tailEnd type="triangle"/>
          </a:ln>
        </p:spPr>
      </p:sp>
      <p:sp>
        <p:nvSpPr>
          <p:cNvPr id="39" name="Text 33"/>
          <p:cNvSpPr txBox="1"/>
          <p:nvPr/>
        </p:nvSpPr>
        <p:spPr>
          <a:xfrm>
            <a:off x="8915400" y="1810512"/>
            <a:ext cx="2743200" cy="201168"/>
          </a:xfrm>
          <a:prstGeom prst="rect">
            <a:avLst/>
          </a:prstGeom>
          <a:noFill/>
          <a:ln/>
        </p:spPr>
        <p:txBody>
          <a:bodyPr wrap="square" lIns="0" tIns="0" rIns="0" bIns="0" rtlCol="0" anchor="t"/>
          <a:lstStyle/>
          <a:p>
            <a:pPr indent="0" marL="0">
              <a:buNone/>
            </a:pPr>
            <a:r>
              <a:rPr lang="en-US" sz="850" b="1" spc="150" kern="0" dirty="0">
                <a:solidFill>
                  <a:srgbClr val="1A73E8"/>
                </a:solidFill>
                <a:latin typeface="Arial" pitchFamily="34" charset="0"/>
                <a:ea typeface="Arial" pitchFamily="34" charset="-122"/>
                <a:cs typeface="Arial" pitchFamily="34" charset="-120"/>
              </a:rPr>
              <a:t>TOOLS</a:t>
            </a:r>
            <a:endParaRPr lang="en-US" sz="850" dirty="0"/>
          </a:p>
        </p:txBody>
      </p:sp>
      <p:sp>
        <p:nvSpPr>
          <p:cNvPr id="40" name="Shape 34"/>
          <p:cNvSpPr/>
          <p:nvPr/>
        </p:nvSpPr>
        <p:spPr>
          <a:xfrm>
            <a:off x="8915400" y="2057400"/>
            <a:ext cx="2697480" cy="548640"/>
          </a:xfrm>
          <a:prstGeom prst="roundRect">
            <a:avLst>
              <a:gd name="adj" fmla="val 10000"/>
            </a:avLst>
          </a:prstGeom>
          <a:solidFill>
            <a:srgbClr val="F1F3F4"/>
          </a:solidFill>
          <a:ln w="9525">
            <a:solidFill>
              <a:srgbClr val="F1F3F4"/>
            </a:solidFill>
            <a:prstDash val="solid"/>
          </a:ln>
        </p:spPr>
      </p:sp>
      <p:sp>
        <p:nvSpPr>
          <p:cNvPr id="41" name="Text 35"/>
          <p:cNvSpPr txBox="1"/>
          <p:nvPr/>
        </p:nvSpPr>
        <p:spPr>
          <a:xfrm>
            <a:off x="9025128" y="2130552"/>
            <a:ext cx="2514600" cy="274320"/>
          </a:xfrm>
          <a:prstGeom prst="rect">
            <a:avLst/>
          </a:prstGeom>
          <a:noFill/>
          <a:ln/>
        </p:spPr>
        <p:txBody>
          <a:bodyPr wrap="square" lIns="0" tIns="0" rIns="0" bIns="0" rtlCol="0" anchor="t"/>
          <a:lstStyle/>
          <a:p>
            <a:pPr indent="0" marL="0">
              <a:buNone/>
            </a:pPr>
            <a:r>
              <a:rPr lang="en-US" sz="1000" b="1" dirty="0">
                <a:solidFill>
                  <a:srgbClr val="202124"/>
                </a:solidFill>
                <a:latin typeface="Arial" pitchFamily="34" charset="0"/>
                <a:ea typeface="Arial" pitchFamily="34" charset="-122"/>
                <a:cs typeface="Arial" pitchFamily="34" charset="-120"/>
              </a:rPr>
              <a:t>Run and build ML model</a:t>
            </a:r>
            <a:endParaRPr lang="en-US" sz="1000" dirty="0"/>
          </a:p>
        </p:txBody>
      </p:sp>
      <p:sp>
        <p:nvSpPr>
          <p:cNvPr id="42" name="Text 36"/>
          <p:cNvSpPr txBox="1"/>
          <p:nvPr/>
        </p:nvSpPr>
        <p:spPr>
          <a:xfrm>
            <a:off x="9025128" y="2386584"/>
            <a:ext cx="2514600" cy="182880"/>
          </a:xfrm>
          <a:prstGeom prst="rect">
            <a:avLst/>
          </a:prstGeom>
          <a:noFill/>
          <a:ln/>
        </p:spPr>
        <p:txBody>
          <a:bodyPr wrap="square" lIns="0" tIns="0" rIns="0" bIns="0" rtlCol="0" anchor="t"/>
          <a:lstStyle/>
          <a:p>
            <a:pPr indent="0" marL="0">
              <a:lnSpc>
                <a:spcPct val="105000"/>
              </a:lnSpc>
              <a:buNone/>
            </a:pPr>
            <a:r>
              <a:rPr lang="en-US" sz="800" dirty="0">
                <a:solidFill>
                  <a:srgbClr val="5F6368"/>
                </a:solidFill>
                <a:latin typeface="Arial" pitchFamily="34" charset="0"/>
                <a:ea typeface="Arial" pitchFamily="34" charset="-122"/>
                <a:cs typeface="Arial" pitchFamily="34" charset="-120"/>
              </a:rPr>
              <a:t>forecasting · simulation</a:t>
            </a:r>
            <a:endParaRPr lang="en-US" sz="800" dirty="0"/>
          </a:p>
        </p:txBody>
      </p:sp>
      <p:sp>
        <p:nvSpPr>
          <p:cNvPr id="43" name="Shape 37"/>
          <p:cNvSpPr/>
          <p:nvPr/>
        </p:nvSpPr>
        <p:spPr>
          <a:xfrm flipV="1">
            <a:off x="8503920" y="2331720"/>
            <a:ext cx="411480" cy="731520"/>
          </a:xfrm>
          <a:prstGeom prst="line">
            <a:avLst/>
          </a:prstGeom>
          <a:noFill/>
          <a:ln w="15875">
            <a:solidFill>
              <a:srgbClr val="1A73E8"/>
            </a:solidFill>
            <a:prstDash val="solid"/>
            <a:tailEnd type="triangle"/>
          </a:ln>
        </p:spPr>
      </p:sp>
      <p:sp>
        <p:nvSpPr>
          <p:cNvPr id="44" name="Shape 38"/>
          <p:cNvSpPr/>
          <p:nvPr/>
        </p:nvSpPr>
        <p:spPr>
          <a:xfrm>
            <a:off x="8915400" y="2697480"/>
            <a:ext cx="2697480" cy="548640"/>
          </a:xfrm>
          <a:prstGeom prst="roundRect">
            <a:avLst>
              <a:gd name="adj" fmla="val 10000"/>
            </a:avLst>
          </a:prstGeom>
          <a:solidFill>
            <a:srgbClr val="E8F0FE"/>
          </a:solidFill>
          <a:ln w="9525">
            <a:solidFill>
              <a:srgbClr val="E8F0FE"/>
            </a:solidFill>
            <a:prstDash val="solid"/>
          </a:ln>
        </p:spPr>
      </p:sp>
      <p:sp>
        <p:nvSpPr>
          <p:cNvPr id="45" name="Text 39"/>
          <p:cNvSpPr txBox="1"/>
          <p:nvPr/>
        </p:nvSpPr>
        <p:spPr>
          <a:xfrm>
            <a:off x="9025128" y="2770632"/>
            <a:ext cx="2514600" cy="274320"/>
          </a:xfrm>
          <a:prstGeom prst="rect">
            <a:avLst/>
          </a:prstGeom>
          <a:noFill/>
          <a:ln/>
        </p:spPr>
        <p:txBody>
          <a:bodyPr wrap="square" lIns="0" tIns="0" rIns="0" bIns="0" rtlCol="0" anchor="t"/>
          <a:lstStyle/>
          <a:p>
            <a:pPr indent="0" marL="0">
              <a:buNone/>
            </a:pPr>
            <a:r>
              <a:rPr lang="en-US" sz="1000" b="1" dirty="0">
                <a:solidFill>
                  <a:srgbClr val="202124"/>
                </a:solidFill>
                <a:latin typeface="Arial" pitchFamily="34" charset="0"/>
                <a:ea typeface="Arial" pitchFamily="34" charset="-122"/>
                <a:cs typeface="Arial" pitchFamily="34" charset="-120"/>
              </a:rPr>
              <a:t>Run decision flow</a:t>
            </a:r>
            <a:endParaRPr lang="en-US" sz="1000" dirty="0"/>
          </a:p>
        </p:txBody>
      </p:sp>
      <p:sp>
        <p:nvSpPr>
          <p:cNvPr id="46" name="Text 40"/>
          <p:cNvSpPr txBox="1"/>
          <p:nvPr/>
        </p:nvSpPr>
        <p:spPr>
          <a:xfrm>
            <a:off x="9025128" y="3026664"/>
            <a:ext cx="2514600" cy="182880"/>
          </a:xfrm>
          <a:prstGeom prst="rect">
            <a:avLst/>
          </a:prstGeom>
          <a:noFill/>
          <a:ln/>
        </p:spPr>
        <p:txBody>
          <a:bodyPr wrap="square" lIns="0" tIns="0" rIns="0" bIns="0" rtlCol="0" anchor="t"/>
          <a:lstStyle/>
          <a:p>
            <a:pPr indent="0" marL="0">
              <a:lnSpc>
                <a:spcPct val="105000"/>
              </a:lnSpc>
              <a:buNone/>
            </a:pPr>
            <a:r>
              <a:rPr lang="en-US" sz="800" dirty="0">
                <a:solidFill>
                  <a:srgbClr val="5F6368"/>
                </a:solidFill>
                <a:latin typeface="Arial" pitchFamily="34" charset="0"/>
                <a:ea typeface="Arial" pitchFamily="34" charset="-122"/>
                <a:cs typeface="Arial" pitchFamily="34" charset="-120"/>
              </a:rPr>
              <a:t>SAS Intelligent Decisioning</a:t>
            </a:r>
            <a:endParaRPr lang="en-US" sz="800" dirty="0"/>
          </a:p>
        </p:txBody>
      </p:sp>
      <p:sp>
        <p:nvSpPr>
          <p:cNvPr id="47" name="Shape 41"/>
          <p:cNvSpPr/>
          <p:nvPr/>
        </p:nvSpPr>
        <p:spPr>
          <a:xfrm flipV="1">
            <a:off x="8503920" y="2971800"/>
            <a:ext cx="411480" cy="91440"/>
          </a:xfrm>
          <a:prstGeom prst="line">
            <a:avLst/>
          </a:prstGeom>
          <a:noFill/>
          <a:ln w="15875">
            <a:solidFill>
              <a:srgbClr val="1A73E8"/>
            </a:solidFill>
            <a:prstDash val="solid"/>
            <a:tailEnd type="triangle"/>
          </a:ln>
        </p:spPr>
      </p:sp>
      <p:sp>
        <p:nvSpPr>
          <p:cNvPr id="48" name="Shape 42"/>
          <p:cNvSpPr/>
          <p:nvPr/>
        </p:nvSpPr>
        <p:spPr>
          <a:xfrm>
            <a:off x="8915400" y="3337560"/>
            <a:ext cx="2697480" cy="548640"/>
          </a:xfrm>
          <a:prstGeom prst="roundRect">
            <a:avLst>
              <a:gd name="adj" fmla="val 10000"/>
            </a:avLst>
          </a:prstGeom>
          <a:solidFill>
            <a:srgbClr val="E8F0FE"/>
          </a:solidFill>
          <a:ln w="9525">
            <a:solidFill>
              <a:srgbClr val="E8F0FE"/>
            </a:solidFill>
            <a:prstDash val="solid"/>
          </a:ln>
        </p:spPr>
      </p:sp>
      <p:sp>
        <p:nvSpPr>
          <p:cNvPr id="49" name="Text 43"/>
          <p:cNvSpPr txBox="1"/>
          <p:nvPr/>
        </p:nvSpPr>
        <p:spPr>
          <a:xfrm>
            <a:off x="9025128" y="3410712"/>
            <a:ext cx="2514600" cy="274320"/>
          </a:xfrm>
          <a:prstGeom prst="rect">
            <a:avLst/>
          </a:prstGeom>
          <a:noFill/>
          <a:ln/>
        </p:spPr>
        <p:txBody>
          <a:bodyPr wrap="square" lIns="0" tIns="0" rIns="0" bIns="0" rtlCol="0" anchor="t"/>
          <a:lstStyle/>
          <a:p>
            <a:pPr indent="0" marL="0">
              <a:buNone/>
            </a:pPr>
            <a:r>
              <a:rPr lang="en-US" sz="1000" b="1" dirty="0">
                <a:solidFill>
                  <a:srgbClr val="202124"/>
                </a:solidFill>
                <a:latin typeface="Arial" pitchFamily="34" charset="0"/>
                <a:ea typeface="Arial" pitchFamily="34" charset="-122"/>
                <a:cs typeface="Arial" pitchFamily="34" charset="-120"/>
              </a:rPr>
              <a:t>Generate charts</a:t>
            </a:r>
            <a:endParaRPr lang="en-US" sz="1000" dirty="0"/>
          </a:p>
        </p:txBody>
      </p:sp>
      <p:sp>
        <p:nvSpPr>
          <p:cNvPr id="50" name="Text 44"/>
          <p:cNvSpPr txBox="1"/>
          <p:nvPr/>
        </p:nvSpPr>
        <p:spPr>
          <a:xfrm>
            <a:off x="9025128" y="3666744"/>
            <a:ext cx="2514600" cy="182880"/>
          </a:xfrm>
          <a:prstGeom prst="rect">
            <a:avLst/>
          </a:prstGeom>
          <a:noFill/>
          <a:ln/>
        </p:spPr>
        <p:txBody>
          <a:bodyPr wrap="square" lIns="0" tIns="0" rIns="0" bIns="0" rtlCol="0" anchor="t"/>
          <a:lstStyle/>
          <a:p>
            <a:pPr indent="0" marL="0">
              <a:lnSpc>
                <a:spcPct val="105000"/>
              </a:lnSpc>
              <a:buNone/>
            </a:pPr>
            <a:r>
              <a:rPr lang="en-US" sz="800" dirty="0">
                <a:solidFill>
                  <a:srgbClr val="5F6368"/>
                </a:solidFill>
                <a:latin typeface="Arial" pitchFamily="34" charset="0"/>
                <a:ea typeface="Arial" pitchFamily="34" charset="-122"/>
                <a:cs typeface="Arial" pitchFamily="34" charset="-120"/>
              </a:rPr>
              <a:t>for the answer</a:t>
            </a:r>
            <a:endParaRPr lang="en-US" sz="800" dirty="0"/>
          </a:p>
        </p:txBody>
      </p:sp>
      <p:sp>
        <p:nvSpPr>
          <p:cNvPr id="51" name="Shape 45"/>
          <p:cNvSpPr/>
          <p:nvPr/>
        </p:nvSpPr>
        <p:spPr>
          <a:xfrm>
            <a:off x="8503920" y="3063240"/>
            <a:ext cx="411480" cy="548640"/>
          </a:xfrm>
          <a:prstGeom prst="line">
            <a:avLst/>
          </a:prstGeom>
          <a:noFill/>
          <a:ln w="15875">
            <a:solidFill>
              <a:srgbClr val="1A73E8"/>
            </a:solidFill>
            <a:prstDash val="solid"/>
            <a:tailEnd type="triangle"/>
          </a:ln>
        </p:spPr>
      </p:sp>
      <p:sp>
        <p:nvSpPr>
          <p:cNvPr id="52" name="Shape 46"/>
          <p:cNvSpPr/>
          <p:nvPr/>
        </p:nvSpPr>
        <p:spPr>
          <a:xfrm>
            <a:off x="8915400" y="3977640"/>
            <a:ext cx="2697480" cy="548640"/>
          </a:xfrm>
          <a:prstGeom prst="roundRect">
            <a:avLst>
              <a:gd name="adj" fmla="val 10000"/>
            </a:avLst>
          </a:prstGeom>
          <a:solidFill>
            <a:srgbClr val="1A73E8"/>
          </a:solidFill>
          <a:ln w="9525">
            <a:solidFill>
              <a:srgbClr val="1A73E8"/>
            </a:solidFill>
            <a:prstDash val="solid"/>
          </a:ln>
        </p:spPr>
      </p:sp>
      <p:sp>
        <p:nvSpPr>
          <p:cNvPr id="53" name="Text 47"/>
          <p:cNvSpPr txBox="1"/>
          <p:nvPr/>
        </p:nvSpPr>
        <p:spPr>
          <a:xfrm>
            <a:off x="9025128" y="4050792"/>
            <a:ext cx="2514600" cy="274320"/>
          </a:xfrm>
          <a:prstGeom prst="rect">
            <a:avLst/>
          </a:prstGeom>
          <a:noFill/>
          <a:ln/>
        </p:spPr>
        <p:txBody>
          <a:bodyPr wrap="square" lIns="0" tIns="0" rIns="0" bIns="0" rtlCol="0" anchor="t"/>
          <a:lstStyle/>
          <a:p>
            <a:pPr indent="0" marL="0">
              <a:buNone/>
            </a:pPr>
            <a:r>
              <a:rPr lang="en-US" sz="1000" b="1" dirty="0">
                <a:solidFill>
                  <a:srgbClr val="FFFFFF"/>
                </a:solidFill>
                <a:latin typeface="Arial" pitchFamily="34" charset="0"/>
                <a:ea typeface="Arial" pitchFamily="34" charset="-122"/>
                <a:cs typeface="Arial" pitchFamily="34" charset="-120"/>
              </a:rPr>
              <a:t>Query data (SQL)</a:t>
            </a:r>
            <a:endParaRPr lang="en-US" sz="1000" dirty="0"/>
          </a:p>
        </p:txBody>
      </p:sp>
      <p:sp>
        <p:nvSpPr>
          <p:cNvPr id="54" name="Text 48"/>
          <p:cNvSpPr txBox="1"/>
          <p:nvPr/>
        </p:nvSpPr>
        <p:spPr>
          <a:xfrm>
            <a:off x="9025128" y="4306824"/>
            <a:ext cx="2514600" cy="182880"/>
          </a:xfrm>
          <a:prstGeom prst="rect">
            <a:avLst/>
          </a:prstGeom>
          <a:noFill/>
          <a:ln/>
        </p:spPr>
        <p:txBody>
          <a:bodyPr wrap="square" lIns="0" tIns="0" rIns="0" bIns="0" rtlCol="0" anchor="t"/>
          <a:lstStyle/>
          <a:p>
            <a:pPr indent="0" marL="0">
              <a:lnSpc>
                <a:spcPct val="105000"/>
              </a:lnSpc>
              <a:buNone/>
            </a:pPr>
            <a:r>
              <a:rPr lang="en-US" sz="800" dirty="0">
                <a:solidFill>
                  <a:srgbClr val="FFFFFF"/>
                </a:solidFill>
                <a:latin typeface="Arial" pitchFamily="34" charset="0"/>
                <a:ea typeface="Arial" pitchFamily="34" charset="-122"/>
                <a:cs typeface="Arial" pitchFamily="34" charset="-120"/>
              </a:rPr>
              <a:t>over the CAS tables</a:t>
            </a:r>
            <a:endParaRPr lang="en-US" sz="800" dirty="0"/>
          </a:p>
        </p:txBody>
      </p:sp>
      <p:sp>
        <p:nvSpPr>
          <p:cNvPr id="55" name="Shape 49"/>
          <p:cNvSpPr/>
          <p:nvPr/>
        </p:nvSpPr>
        <p:spPr>
          <a:xfrm>
            <a:off x="8503920" y="3063240"/>
            <a:ext cx="411480" cy="1188720"/>
          </a:xfrm>
          <a:prstGeom prst="line">
            <a:avLst/>
          </a:prstGeom>
          <a:noFill/>
          <a:ln w="15875">
            <a:solidFill>
              <a:srgbClr val="1A73E8"/>
            </a:solidFill>
            <a:prstDash val="solid"/>
            <a:tailEnd type="triangle"/>
          </a:ln>
        </p:spPr>
      </p:sp>
      <p:sp>
        <p:nvSpPr>
          <p:cNvPr id="56" name="Shape 50"/>
          <p:cNvSpPr/>
          <p:nvPr/>
        </p:nvSpPr>
        <p:spPr>
          <a:xfrm>
            <a:off x="7086600" y="4754880"/>
            <a:ext cx="4526280" cy="1143000"/>
          </a:xfrm>
          <a:prstGeom prst="roundRect">
            <a:avLst>
              <a:gd name="adj" fmla="val 6400"/>
            </a:avLst>
          </a:prstGeom>
          <a:solidFill>
            <a:srgbClr val="F8F9FA"/>
          </a:solidFill>
          <a:ln w="12700">
            <a:solidFill>
              <a:srgbClr val="F8F9FA"/>
            </a:solidFill>
            <a:prstDash val="solid"/>
          </a:ln>
        </p:spPr>
      </p:sp>
      <p:sp>
        <p:nvSpPr>
          <p:cNvPr id="57" name="Text 51"/>
          <p:cNvSpPr txBox="1"/>
          <p:nvPr/>
        </p:nvSpPr>
        <p:spPr>
          <a:xfrm>
            <a:off x="7269480" y="4828032"/>
            <a:ext cx="4114800" cy="274320"/>
          </a:xfrm>
          <a:prstGeom prst="rect">
            <a:avLst/>
          </a:prstGeom>
          <a:noFill/>
          <a:ln/>
        </p:spPr>
        <p:txBody>
          <a:bodyPr wrap="square" lIns="0" tIns="0" rIns="0" bIns="0" rtlCol="0" anchor="t"/>
          <a:lstStyle/>
          <a:p>
            <a:pPr indent="0" marL="0">
              <a:buNone/>
            </a:pPr>
            <a:r>
              <a:rPr lang="en-US" sz="1150" b="1" dirty="0">
                <a:solidFill>
                  <a:srgbClr val="202124"/>
                </a:solidFill>
                <a:latin typeface="Arial" pitchFamily="34" charset="0"/>
                <a:ea typeface="Arial" pitchFamily="34" charset="-122"/>
                <a:cs typeface="Arial" pitchFamily="34" charset="-120"/>
              </a:rPr>
              <a:t>What it delivered</a:t>
            </a:r>
            <a:endParaRPr lang="en-US" sz="1150" dirty="0"/>
          </a:p>
        </p:txBody>
      </p:sp>
      <p:sp>
        <p:nvSpPr>
          <p:cNvPr id="58" name="Text 52"/>
          <p:cNvSpPr txBox="1"/>
          <p:nvPr/>
        </p:nvSpPr>
        <p:spPr>
          <a:xfrm>
            <a:off x="7269480" y="5102352"/>
            <a:ext cx="4206240" cy="777240"/>
          </a:xfrm>
          <a:prstGeom prst="rect">
            <a:avLst/>
          </a:prstGeom>
          <a:noFill/>
          <a:ln/>
        </p:spPr>
        <p:txBody>
          <a:bodyPr wrap="square" lIns="0" tIns="0" rIns="0" bIns="0" rtlCol="0" anchor="t"/>
          <a:lstStyle/>
          <a:p>
            <a:pPr marL="342900" indent="-342900">
              <a:spcAft>
                <a:spcPts val="200"/>
              </a:spcAft>
              <a:buSzPct val="100000"/>
              <a:buChar char="•"/>
            </a:pPr>
            <a:r>
              <a:rPr lang="en-US" sz="950" dirty="0">
                <a:solidFill>
                  <a:srgbClr val="5F6368"/>
                </a:solidFill>
                <a:latin typeface="Arial" pitchFamily="34" charset="0"/>
                <a:ea typeface="Arial" pitchFamily="34" charset="-122"/>
                <a:cs typeface="Arial" pitchFamily="34" charset="-120"/>
              </a:rPr>
              <a:t>Natural-language questions answered with governed analytics, cohorts and charts</a:t>
            </a:r>
            <a:endParaRPr lang="en-US" sz="950" dirty="0"/>
          </a:p>
          <a:p>
            <a:pPr marL="342900" indent="-342900">
              <a:spcAft>
                <a:spcPts val="200"/>
              </a:spcAft>
              <a:buSzPct val="100000"/>
              <a:buChar char="•"/>
            </a:pPr>
            <a:r>
              <a:rPr lang="en-US" sz="950" dirty="0">
                <a:solidFill>
                  <a:srgbClr val="5F6368"/>
                </a:solidFill>
                <a:latin typeface="Arial" pitchFamily="34" charset="0"/>
                <a:ea typeface="Arial" pitchFamily="34" charset="-122"/>
                <a:cs typeface="Arial" pitchFamily="34" charset="-120"/>
              </a:rPr>
              <a:t>ML scoring, forecasting and policy simulation on demand</a:t>
            </a:r>
            <a:endParaRPr lang="en-US" sz="950" dirty="0"/>
          </a:p>
          <a:p>
            <a:pPr marL="342900" indent="-342900">
              <a:spcAft>
                <a:spcPts val="200"/>
              </a:spcAft>
              <a:buSzPct val="100000"/>
              <a:buChar char="•"/>
            </a:pPr>
            <a:r>
              <a:rPr lang="en-US" sz="950" dirty="0">
                <a:solidFill>
                  <a:srgbClr val="5F6368"/>
                </a:solidFill>
                <a:latin typeface="Arial" pitchFamily="34" charset="0"/>
                <a:ea typeface="Arial" pitchFamily="34" charset="-122"/>
                <a:cs typeface="Arial" pitchFamily="34" charset="-120"/>
              </a:rPr>
              <a:t>Traceable reasoning: every answer carries its tool calls and sources</a:t>
            </a:r>
            <a:endParaRPr lang="en-US" sz="950" dirty="0"/>
          </a:p>
        </p:txBody>
      </p:sp>
      <p:sp>
        <p:nvSpPr>
          <p:cNvPr id="59" name="Text 53"/>
          <p:cNvSpPr txBox="1"/>
          <p:nvPr/>
        </p:nvSpPr>
        <p:spPr>
          <a:xfrm>
            <a:off x="548640" y="6446520"/>
            <a:ext cx="9144000" cy="228600"/>
          </a:xfrm>
          <a:prstGeom prst="rect">
            <a:avLst/>
          </a:prstGeom>
          <a:noFill/>
          <a:ln/>
        </p:spPr>
        <p:txBody>
          <a:bodyPr wrap="square" lIns="0" tIns="0" rIns="0" bIns="0" rtlCol="0" anchor="t"/>
          <a:lstStyle/>
          <a:p>
            <a:pPr indent="0" marL="0">
              <a:buNone/>
            </a:pPr>
            <a:r>
              <a:rPr lang="en-US" sz="850" dirty="0">
                <a:solidFill>
                  <a:srgbClr val="9AA0A6"/>
                </a:solidFill>
                <a:latin typeface="Arial" pitchFamily="34" charset="0"/>
                <a:ea typeface="Arial" pitchFamily="34" charset="-122"/>
                <a:cs typeface="Arial" pitchFamily="34" charset="-120"/>
              </a:rPr>
              <a:t>Reference: agentic AI MVP on SAS Viya at a federal health entity in the GCC, 2025</a:t>
            </a:r>
            <a:endParaRPr lang="en-US" sz="850" dirty="0"/>
          </a:p>
        </p:txBody>
      </p:sp>
      <p:sp>
        <p:nvSpPr>
          <p:cNvPr id="60" name="Text 54"/>
          <p:cNvSpPr txBox="1"/>
          <p:nvPr/>
        </p:nvSpPr>
        <p:spPr>
          <a:xfrm>
            <a:off x="11155680" y="6446520"/>
            <a:ext cx="457200" cy="228600"/>
          </a:xfrm>
          <a:prstGeom prst="rect">
            <a:avLst/>
          </a:prstGeom>
          <a:noFill/>
          <a:ln/>
        </p:spPr>
        <p:txBody>
          <a:bodyPr wrap="square" lIns="0" tIns="0" rIns="0" bIns="0" rtlCol="0" anchor="t"/>
          <a:lstStyle/>
          <a:p>
            <a:pPr algn="r" indent="0" marL="0">
              <a:buNone/>
            </a:pPr>
            <a:r>
              <a:rPr lang="en-US" sz="850" dirty="0">
                <a:solidFill>
                  <a:srgbClr val="9AA0A6"/>
                </a:solidFill>
                <a:latin typeface="Arial" pitchFamily="34" charset="0"/>
                <a:ea typeface="Arial" pitchFamily="34" charset="-122"/>
                <a:cs typeface="Arial" pitchFamily="34" charset="-120"/>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457200"/>
            <a:ext cx="11064240" cy="868680"/>
          </a:xfrm>
          <a:prstGeom prst="rect">
            <a:avLst/>
          </a:prstGeom>
          <a:noFill/>
          <a:ln/>
        </p:spPr>
        <p:txBody>
          <a:bodyPr wrap="square" lIns="0" tIns="0" rIns="0" bIns="0" rtlCol="0" anchor="t"/>
          <a:lstStyle/>
          <a:p>
            <a:pPr indent="0" marL="0">
              <a:lnSpc>
                <a:spcPct val="105000"/>
              </a:lnSpc>
              <a:buNone/>
            </a:pPr>
            <a:r>
              <a:rPr lang="en-US" sz="2600" b="1" dirty="0">
                <a:solidFill>
                  <a:srgbClr val="202124"/>
                </a:solidFill>
                <a:latin typeface="Arial" pitchFamily="34" charset="0"/>
                <a:ea typeface="Arial" pitchFamily="34" charset="-122"/>
                <a:cs typeface="Arial" pitchFamily="34" charset="-120"/>
              </a:rPr>
              <a:t>Reference architecture B: Google Cloud, me-central1 (Doha)</a:t>
            </a:r>
            <a:endParaRPr lang="en-US" sz="2600" dirty="0"/>
          </a:p>
        </p:txBody>
      </p:sp>
      <p:sp>
        <p:nvSpPr>
          <p:cNvPr id="3" name="Text 1"/>
          <p:cNvSpPr txBox="1"/>
          <p:nvPr/>
        </p:nvSpPr>
        <p:spPr>
          <a:xfrm>
            <a:off x="548640" y="1298448"/>
            <a:ext cx="11064240" cy="320040"/>
          </a:xfrm>
          <a:prstGeom prst="rect">
            <a:avLst/>
          </a:prstGeom>
          <a:noFill/>
          <a:ln/>
        </p:spPr>
        <p:txBody>
          <a:bodyPr wrap="square" lIns="0" tIns="0" rIns="0" bIns="0" rtlCol="0" anchor="t"/>
          <a:lstStyle/>
          <a:p>
            <a:pPr indent="0" marL="0">
              <a:buNone/>
            </a:pPr>
            <a:r>
              <a:rPr lang="en-US" sz="1300" dirty="0">
                <a:solidFill>
                  <a:srgbClr val="5F6368"/>
                </a:solidFill>
                <a:latin typeface="Arial" pitchFamily="34" charset="0"/>
                <a:ea typeface="Arial" pitchFamily="34" charset="-122"/>
                <a:cs typeface="Arial" pitchFamily="34" charset="-120"/>
              </a:rPr>
              <a:t>The same pattern on managed services, following Google's RAG reference architecture: a data ingestion subsystem and a serving subsystem.</a:t>
            </a:r>
            <a:endParaRPr lang="en-US" sz="1300" dirty="0"/>
          </a:p>
        </p:txBody>
      </p:sp>
      <p:sp>
        <p:nvSpPr>
          <p:cNvPr id="4" name="Shape 2"/>
          <p:cNvSpPr/>
          <p:nvPr/>
        </p:nvSpPr>
        <p:spPr>
          <a:xfrm>
            <a:off x="548640" y="1783080"/>
            <a:ext cx="5440680" cy="3977640"/>
          </a:xfrm>
          <a:prstGeom prst="roundRect">
            <a:avLst>
              <a:gd name="adj" fmla="val 2759"/>
            </a:avLst>
          </a:prstGeom>
          <a:solidFill>
            <a:srgbClr val="FFFFFF">
              <a:alpha val="0"/>
            </a:srgbClr>
          </a:solidFill>
          <a:ln w="12700">
            <a:solidFill>
              <a:srgbClr val="4285F4"/>
            </a:solidFill>
            <a:prstDash val="dash"/>
          </a:ln>
        </p:spPr>
      </p:sp>
      <p:sp>
        <p:nvSpPr>
          <p:cNvPr id="5" name="Text 3"/>
          <p:cNvSpPr txBox="1"/>
          <p:nvPr/>
        </p:nvSpPr>
        <p:spPr>
          <a:xfrm>
            <a:off x="731520" y="1874520"/>
            <a:ext cx="4572000" cy="201168"/>
          </a:xfrm>
          <a:prstGeom prst="rect">
            <a:avLst/>
          </a:prstGeom>
          <a:noFill/>
          <a:ln/>
        </p:spPr>
        <p:txBody>
          <a:bodyPr wrap="square" lIns="0" tIns="0" rIns="0" bIns="0" rtlCol="0" anchor="t"/>
          <a:lstStyle/>
          <a:p>
            <a:pPr indent="0" marL="0">
              <a:buNone/>
            </a:pPr>
            <a:r>
              <a:rPr lang="en-US" sz="850" b="1" spc="150" kern="0" dirty="0">
                <a:solidFill>
                  <a:srgbClr val="1A73E8"/>
                </a:solidFill>
                <a:latin typeface="Arial" pitchFamily="34" charset="0"/>
                <a:ea typeface="Arial" pitchFamily="34" charset="-122"/>
                <a:cs typeface="Arial" pitchFamily="34" charset="-120"/>
              </a:rPr>
              <a:t>DATA INGESTION SUBSYSTEM</a:t>
            </a:r>
            <a:endParaRPr lang="en-US" sz="850" dirty="0"/>
          </a:p>
        </p:txBody>
      </p:sp>
      <p:sp>
        <p:nvSpPr>
          <p:cNvPr id="6" name="Shape 4"/>
          <p:cNvSpPr/>
          <p:nvPr/>
        </p:nvSpPr>
        <p:spPr>
          <a:xfrm>
            <a:off x="731520" y="2148840"/>
            <a:ext cx="1783080" cy="512064"/>
          </a:xfrm>
          <a:prstGeom prst="roundRect">
            <a:avLst>
              <a:gd name="adj" fmla="val 10714"/>
            </a:avLst>
          </a:prstGeom>
          <a:solidFill>
            <a:srgbClr val="FFFFFF"/>
          </a:solidFill>
          <a:ln w="9525">
            <a:solidFill>
              <a:srgbClr val="DADCE0"/>
            </a:solidFill>
            <a:prstDash val="solid"/>
          </a:ln>
        </p:spPr>
      </p:sp>
      <p:pic>
        <p:nvPicPr>
          <p:cNvPr id="7" name="Image 0" descr="preencoded.png">    </p:cNvPr>
          <p:cNvPicPr>
            <a:picLocks noChangeAspect="1"/>
          </p:cNvPicPr>
          <p:nvPr/>
        </p:nvPicPr>
        <p:blipFill>
          <a:blip r:embed="rId1"/>
          <a:stretch>
            <a:fillRect/>
          </a:stretch>
        </p:blipFill>
        <p:spPr>
          <a:xfrm>
            <a:off x="841248" y="2249424"/>
            <a:ext cx="237744" cy="237744"/>
          </a:xfrm>
          <a:prstGeom prst="rect">
            <a:avLst/>
          </a:prstGeom>
        </p:spPr>
      </p:pic>
      <p:sp>
        <p:nvSpPr>
          <p:cNvPr id="8" name="Text 5"/>
          <p:cNvSpPr txBox="1"/>
          <p:nvPr/>
        </p:nvSpPr>
        <p:spPr>
          <a:xfrm>
            <a:off x="1152144" y="2221992"/>
            <a:ext cx="1289304" cy="365760"/>
          </a:xfrm>
          <a:prstGeom prst="rect">
            <a:avLst/>
          </a:prstGeom>
          <a:noFill/>
          <a:ln/>
        </p:spPr>
        <p:txBody>
          <a:bodyPr wrap="square" lIns="0" tIns="0" rIns="0" bIns="0" rtlCol="0" anchor="ctr"/>
          <a:lstStyle/>
          <a:p>
            <a:pPr indent="0" marL="0">
              <a:buNone/>
            </a:pPr>
            <a:r>
              <a:rPr lang="en-US" sz="850" b="1" dirty="0">
                <a:solidFill>
                  <a:srgbClr val="202124"/>
                </a:solidFill>
                <a:latin typeface="Arial" pitchFamily="34" charset="0"/>
                <a:ea typeface="Arial" pitchFamily="34" charset="-122"/>
                <a:cs typeface="Arial" pitchFamily="34" charset="-120"/>
              </a:rPr>
              <a:t>National HIE (FHIR R4)</a:t>
            </a:r>
            <a:endParaRPr lang="en-US" sz="850" dirty="0"/>
          </a:p>
        </p:txBody>
      </p:sp>
      <p:sp>
        <p:nvSpPr>
          <p:cNvPr id="9" name="Shape 6"/>
          <p:cNvSpPr/>
          <p:nvPr/>
        </p:nvSpPr>
        <p:spPr>
          <a:xfrm>
            <a:off x="731520" y="2752344"/>
            <a:ext cx="1783080" cy="512064"/>
          </a:xfrm>
          <a:prstGeom prst="roundRect">
            <a:avLst>
              <a:gd name="adj" fmla="val 10714"/>
            </a:avLst>
          </a:prstGeom>
          <a:solidFill>
            <a:srgbClr val="FFFFFF"/>
          </a:solidFill>
          <a:ln w="9525">
            <a:solidFill>
              <a:srgbClr val="DADCE0"/>
            </a:solidFill>
            <a:prstDash val="solid"/>
          </a:ln>
        </p:spPr>
      </p:sp>
      <p:pic>
        <p:nvPicPr>
          <p:cNvPr id="10" name="Image 1" descr="preencoded.png">    </p:cNvPr>
          <p:cNvPicPr>
            <a:picLocks noChangeAspect="1"/>
          </p:cNvPicPr>
          <p:nvPr/>
        </p:nvPicPr>
        <p:blipFill>
          <a:blip r:embed="rId2"/>
          <a:stretch>
            <a:fillRect/>
          </a:stretch>
        </p:blipFill>
        <p:spPr>
          <a:xfrm>
            <a:off x="841248" y="2852928"/>
            <a:ext cx="237744" cy="237744"/>
          </a:xfrm>
          <a:prstGeom prst="rect">
            <a:avLst/>
          </a:prstGeom>
        </p:spPr>
      </p:pic>
      <p:sp>
        <p:nvSpPr>
          <p:cNvPr id="11" name="Text 7"/>
          <p:cNvSpPr txBox="1"/>
          <p:nvPr/>
        </p:nvSpPr>
        <p:spPr>
          <a:xfrm>
            <a:off x="1152144" y="2825496"/>
            <a:ext cx="1289304" cy="365760"/>
          </a:xfrm>
          <a:prstGeom prst="rect">
            <a:avLst/>
          </a:prstGeom>
          <a:noFill/>
          <a:ln/>
        </p:spPr>
        <p:txBody>
          <a:bodyPr wrap="square" lIns="0" tIns="0" rIns="0" bIns="0" rtlCol="0" anchor="ctr"/>
          <a:lstStyle/>
          <a:p>
            <a:pPr indent="0" marL="0">
              <a:buNone/>
            </a:pPr>
            <a:r>
              <a:rPr lang="en-US" sz="850" b="1" dirty="0">
                <a:solidFill>
                  <a:srgbClr val="202124"/>
                </a:solidFill>
                <a:latin typeface="Arial" pitchFamily="34" charset="0"/>
                <a:ea typeface="Arial" pitchFamily="34" charset="-122"/>
                <a:cs typeface="Arial" pitchFamily="34" charset="-120"/>
              </a:rPr>
              <a:t>Hospital and primary-care EHRs (HL7v2)</a:t>
            </a:r>
            <a:endParaRPr lang="en-US" sz="850" dirty="0"/>
          </a:p>
        </p:txBody>
      </p:sp>
      <p:sp>
        <p:nvSpPr>
          <p:cNvPr id="12" name="Shape 8"/>
          <p:cNvSpPr/>
          <p:nvPr/>
        </p:nvSpPr>
        <p:spPr>
          <a:xfrm>
            <a:off x="731520" y="3355848"/>
            <a:ext cx="1783080" cy="512064"/>
          </a:xfrm>
          <a:prstGeom prst="roundRect">
            <a:avLst>
              <a:gd name="adj" fmla="val 10714"/>
            </a:avLst>
          </a:prstGeom>
          <a:solidFill>
            <a:srgbClr val="FFFFFF"/>
          </a:solidFill>
          <a:ln w="9525">
            <a:solidFill>
              <a:srgbClr val="DADCE0"/>
            </a:solidFill>
            <a:prstDash val="solid"/>
          </a:ln>
        </p:spPr>
      </p:sp>
      <p:pic>
        <p:nvPicPr>
          <p:cNvPr id="13" name="Image 2" descr="preencoded.png">    </p:cNvPr>
          <p:cNvPicPr>
            <a:picLocks noChangeAspect="1"/>
          </p:cNvPicPr>
          <p:nvPr/>
        </p:nvPicPr>
        <p:blipFill>
          <a:blip r:embed="rId3"/>
          <a:stretch>
            <a:fillRect/>
          </a:stretch>
        </p:blipFill>
        <p:spPr>
          <a:xfrm>
            <a:off x="841248" y="3456432"/>
            <a:ext cx="237744" cy="237744"/>
          </a:xfrm>
          <a:prstGeom prst="rect">
            <a:avLst/>
          </a:prstGeom>
        </p:spPr>
      </p:pic>
      <p:sp>
        <p:nvSpPr>
          <p:cNvPr id="14" name="Text 9"/>
          <p:cNvSpPr txBox="1"/>
          <p:nvPr/>
        </p:nvSpPr>
        <p:spPr>
          <a:xfrm>
            <a:off x="1152144" y="3429000"/>
            <a:ext cx="1289304" cy="365760"/>
          </a:xfrm>
          <a:prstGeom prst="rect">
            <a:avLst/>
          </a:prstGeom>
          <a:noFill/>
          <a:ln/>
        </p:spPr>
        <p:txBody>
          <a:bodyPr wrap="square" lIns="0" tIns="0" rIns="0" bIns="0" rtlCol="0" anchor="ctr"/>
          <a:lstStyle/>
          <a:p>
            <a:pPr indent="0" marL="0">
              <a:buNone/>
            </a:pPr>
            <a:r>
              <a:rPr lang="en-US" sz="850" b="1" dirty="0">
                <a:solidFill>
                  <a:srgbClr val="202124"/>
                </a:solidFill>
                <a:latin typeface="Arial" pitchFamily="34" charset="0"/>
                <a:ea typeface="Arial" pitchFamily="34" charset="-122"/>
                <a:cs typeface="Arial" pitchFamily="34" charset="-120"/>
              </a:rPr>
              <a:t>Claims and pharmacy (nightly)</a:t>
            </a:r>
            <a:endParaRPr lang="en-US" sz="850" dirty="0"/>
          </a:p>
        </p:txBody>
      </p:sp>
      <p:sp>
        <p:nvSpPr>
          <p:cNvPr id="15" name="Shape 10"/>
          <p:cNvSpPr/>
          <p:nvPr/>
        </p:nvSpPr>
        <p:spPr>
          <a:xfrm>
            <a:off x="731520" y="3959352"/>
            <a:ext cx="1783080" cy="512064"/>
          </a:xfrm>
          <a:prstGeom prst="roundRect">
            <a:avLst>
              <a:gd name="adj" fmla="val 10714"/>
            </a:avLst>
          </a:prstGeom>
          <a:solidFill>
            <a:srgbClr val="FFFFFF"/>
          </a:solidFill>
          <a:ln w="9525">
            <a:solidFill>
              <a:srgbClr val="DADCE0"/>
            </a:solidFill>
            <a:prstDash val="solid"/>
          </a:ln>
        </p:spPr>
      </p:sp>
      <p:pic>
        <p:nvPicPr>
          <p:cNvPr id="16" name="Image 3" descr="preencoded.png">    </p:cNvPr>
          <p:cNvPicPr>
            <a:picLocks noChangeAspect="1"/>
          </p:cNvPicPr>
          <p:nvPr/>
        </p:nvPicPr>
        <p:blipFill>
          <a:blip r:embed="rId4"/>
          <a:stretch>
            <a:fillRect/>
          </a:stretch>
        </p:blipFill>
        <p:spPr>
          <a:xfrm>
            <a:off x="841248" y="4059936"/>
            <a:ext cx="237744" cy="237744"/>
          </a:xfrm>
          <a:prstGeom prst="rect">
            <a:avLst/>
          </a:prstGeom>
        </p:spPr>
      </p:pic>
      <p:sp>
        <p:nvSpPr>
          <p:cNvPr id="17" name="Text 11"/>
          <p:cNvSpPr txBox="1"/>
          <p:nvPr/>
        </p:nvSpPr>
        <p:spPr>
          <a:xfrm>
            <a:off x="1152144" y="4032504"/>
            <a:ext cx="1289304" cy="365760"/>
          </a:xfrm>
          <a:prstGeom prst="rect">
            <a:avLst/>
          </a:prstGeom>
          <a:noFill/>
          <a:ln/>
        </p:spPr>
        <p:txBody>
          <a:bodyPr wrap="square" lIns="0" tIns="0" rIns="0" bIns="0" rtlCol="0" anchor="ctr"/>
          <a:lstStyle/>
          <a:p>
            <a:pPr indent="0" marL="0">
              <a:buNone/>
            </a:pPr>
            <a:r>
              <a:rPr lang="en-US" sz="850" b="1" dirty="0">
                <a:solidFill>
                  <a:srgbClr val="202124"/>
                </a:solidFill>
                <a:latin typeface="Arial" pitchFamily="34" charset="0"/>
                <a:ea typeface="Arial" pitchFamily="34" charset="-122"/>
                <a:cs typeface="Arial" pitchFamily="34" charset="-120"/>
              </a:rPr>
              <a:t>National clinical guidelines (PDF)</a:t>
            </a:r>
            <a:endParaRPr lang="en-US" sz="850" dirty="0"/>
          </a:p>
        </p:txBody>
      </p:sp>
      <p:sp>
        <p:nvSpPr>
          <p:cNvPr id="18" name="Shape 12"/>
          <p:cNvSpPr/>
          <p:nvPr/>
        </p:nvSpPr>
        <p:spPr>
          <a:xfrm>
            <a:off x="2788920" y="2148840"/>
            <a:ext cx="1463040" cy="1115568"/>
          </a:xfrm>
          <a:prstGeom prst="roundRect">
            <a:avLst>
              <a:gd name="adj" fmla="val 4918"/>
            </a:avLst>
          </a:prstGeom>
          <a:solidFill>
            <a:srgbClr val="E8F0FE"/>
          </a:solidFill>
          <a:ln w="9525">
            <a:solidFill>
              <a:srgbClr val="E8F0FE"/>
            </a:solidFill>
            <a:prstDash val="solid"/>
          </a:ln>
        </p:spPr>
      </p:sp>
      <p:sp>
        <p:nvSpPr>
          <p:cNvPr id="19" name="Text 13"/>
          <p:cNvSpPr txBox="1"/>
          <p:nvPr/>
        </p:nvSpPr>
        <p:spPr>
          <a:xfrm>
            <a:off x="2898648" y="2221992"/>
            <a:ext cx="1280160" cy="274320"/>
          </a:xfrm>
          <a:prstGeom prst="rect">
            <a:avLst/>
          </a:prstGeom>
          <a:noFill/>
          <a:ln/>
        </p:spPr>
        <p:txBody>
          <a:bodyPr wrap="square" lIns="0" tIns="0" rIns="0" bIns="0" rtlCol="0" anchor="t"/>
          <a:lstStyle/>
          <a:p>
            <a:pPr indent="0" marL="0">
              <a:buNone/>
            </a:pPr>
            <a:r>
              <a:rPr lang="en-US" sz="950" b="1" dirty="0">
                <a:solidFill>
                  <a:srgbClr val="202124"/>
                </a:solidFill>
                <a:latin typeface="Arial" pitchFamily="34" charset="0"/>
                <a:ea typeface="Arial" pitchFamily="34" charset="-122"/>
                <a:cs typeface="Arial" pitchFamily="34" charset="-120"/>
              </a:rPr>
              <a:t>Cloud Healthcare API</a:t>
            </a:r>
            <a:endParaRPr lang="en-US" sz="950" dirty="0"/>
          </a:p>
        </p:txBody>
      </p:sp>
      <p:sp>
        <p:nvSpPr>
          <p:cNvPr id="20" name="Text 14"/>
          <p:cNvSpPr txBox="1"/>
          <p:nvPr/>
        </p:nvSpPr>
        <p:spPr>
          <a:xfrm>
            <a:off x="2898648" y="2478024"/>
            <a:ext cx="1280160" cy="749808"/>
          </a:xfrm>
          <a:prstGeom prst="rect">
            <a:avLst/>
          </a:prstGeom>
          <a:noFill/>
          <a:ln/>
        </p:spPr>
        <p:txBody>
          <a:bodyPr wrap="square" lIns="0" tIns="0" rIns="0" bIns="0" rtlCol="0" anchor="t"/>
          <a:lstStyle/>
          <a:p>
            <a:pPr indent="0" marL="0">
              <a:lnSpc>
                <a:spcPct val="105000"/>
              </a:lnSpc>
              <a:buNone/>
            </a:pPr>
            <a:r>
              <a:rPr lang="en-US" sz="750" dirty="0">
                <a:solidFill>
                  <a:srgbClr val="5F6368"/>
                </a:solidFill>
                <a:latin typeface="Arial" pitchFamily="34" charset="0"/>
                <a:ea typeface="Arial" pitchFamily="34" charset="-122"/>
                <a:cs typeface="Arial" pitchFamily="34" charset="-120"/>
              </a:rPr>
              <a:t>FHIR store · consent · de-identification · Pub/Sub events</a:t>
            </a:r>
            <a:endParaRPr lang="en-US" sz="750" dirty="0"/>
          </a:p>
        </p:txBody>
      </p:sp>
      <p:sp>
        <p:nvSpPr>
          <p:cNvPr id="21" name="Shape 15"/>
          <p:cNvSpPr/>
          <p:nvPr/>
        </p:nvSpPr>
        <p:spPr>
          <a:xfrm>
            <a:off x="4480560" y="2148840"/>
            <a:ext cx="1325880" cy="1115568"/>
          </a:xfrm>
          <a:prstGeom prst="roundRect">
            <a:avLst>
              <a:gd name="adj" fmla="val 4918"/>
            </a:avLst>
          </a:prstGeom>
          <a:solidFill>
            <a:srgbClr val="1A73E8"/>
          </a:solidFill>
          <a:ln w="9525">
            <a:solidFill>
              <a:srgbClr val="1A73E8"/>
            </a:solidFill>
            <a:prstDash val="solid"/>
          </a:ln>
        </p:spPr>
      </p:sp>
      <p:sp>
        <p:nvSpPr>
          <p:cNvPr id="22" name="Text 16"/>
          <p:cNvSpPr txBox="1"/>
          <p:nvPr/>
        </p:nvSpPr>
        <p:spPr>
          <a:xfrm>
            <a:off x="4590288" y="2221992"/>
            <a:ext cx="1143000" cy="274320"/>
          </a:xfrm>
          <a:prstGeom prst="rect">
            <a:avLst/>
          </a:prstGeom>
          <a:noFill/>
          <a:ln/>
        </p:spPr>
        <p:txBody>
          <a:bodyPr wrap="square" lIns="0" tIns="0" rIns="0" bIns="0" rtlCol="0" anchor="t"/>
          <a:lstStyle/>
          <a:p>
            <a:pPr indent="0" marL="0">
              <a:buNone/>
            </a:pPr>
            <a:r>
              <a:rPr lang="en-US" sz="1000" b="1" dirty="0">
                <a:solidFill>
                  <a:srgbClr val="FFFFFF"/>
                </a:solidFill>
                <a:latin typeface="Arial" pitchFamily="34" charset="0"/>
                <a:ea typeface="Arial" pitchFamily="34" charset="-122"/>
                <a:cs typeface="Arial" pitchFamily="34" charset="-120"/>
              </a:rPr>
              <a:t>BigQuery</a:t>
            </a:r>
            <a:endParaRPr lang="en-US" sz="1000" dirty="0"/>
          </a:p>
        </p:txBody>
      </p:sp>
      <p:sp>
        <p:nvSpPr>
          <p:cNvPr id="23" name="Text 17"/>
          <p:cNvSpPr txBox="1"/>
          <p:nvPr/>
        </p:nvSpPr>
        <p:spPr>
          <a:xfrm>
            <a:off x="4590288" y="2478024"/>
            <a:ext cx="1143000" cy="749808"/>
          </a:xfrm>
          <a:prstGeom prst="rect">
            <a:avLst/>
          </a:prstGeom>
          <a:noFill/>
          <a:ln/>
        </p:spPr>
        <p:txBody>
          <a:bodyPr wrap="square" lIns="0" tIns="0" rIns="0" bIns="0" rtlCol="0" anchor="t"/>
          <a:lstStyle/>
          <a:p>
            <a:pPr indent="0" marL="0">
              <a:lnSpc>
                <a:spcPct val="105000"/>
              </a:lnSpc>
              <a:buNone/>
            </a:pPr>
            <a:r>
              <a:rPr lang="en-US" sz="750" dirty="0">
                <a:solidFill>
                  <a:srgbClr val="FFFFFF"/>
                </a:solidFill>
                <a:latin typeface="Arial" pitchFamily="34" charset="0"/>
                <a:ea typeface="Arial" pitchFamily="34" charset="-122"/>
                <a:cs typeface="Arial" pitchFamily="34" charset="-120"/>
              </a:rPr>
              <a:t>streaming export · curated marts · BigQuery ML</a:t>
            </a:r>
            <a:endParaRPr lang="en-US" sz="750" dirty="0"/>
          </a:p>
        </p:txBody>
      </p:sp>
      <p:sp>
        <p:nvSpPr>
          <p:cNvPr id="24" name="Shape 18"/>
          <p:cNvSpPr/>
          <p:nvPr/>
        </p:nvSpPr>
        <p:spPr>
          <a:xfrm>
            <a:off x="2514600" y="2404872"/>
            <a:ext cx="274320" cy="0"/>
          </a:xfrm>
          <a:prstGeom prst="line">
            <a:avLst/>
          </a:prstGeom>
          <a:noFill/>
          <a:ln w="15875">
            <a:solidFill>
              <a:srgbClr val="5F6368"/>
            </a:solidFill>
            <a:prstDash val="solid"/>
            <a:tailEnd type="triangle"/>
          </a:ln>
        </p:spPr>
      </p:sp>
      <p:sp>
        <p:nvSpPr>
          <p:cNvPr id="25" name="Shape 19"/>
          <p:cNvSpPr/>
          <p:nvPr/>
        </p:nvSpPr>
        <p:spPr>
          <a:xfrm>
            <a:off x="2514600" y="3008376"/>
            <a:ext cx="274320" cy="0"/>
          </a:xfrm>
          <a:prstGeom prst="line">
            <a:avLst/>
          </a:prstGeom>
          <a:noFill/>
          <a:ln w="15875">
            <a:solidFill>
              <a:srgbClr val="5F6368"/>
            </a:solidFill>
            <a:prstDash val="solid"/>
            <a:tailEnd type="triangle"/>
          </a:ln>
        </p:spPr>
      </p:sp>
      <p:sp>
        <p:nvSpPr>
          <p:cNvPr id="26" name="Shape 20"/>
          <p:cNvSpPr/>
          <p:nvPr/>
        </p:nvSpPr>
        <p:spPr>
          <a:xfrm>
            <a:off x="2514600" y="3611880"/>
            <a:ext cx="502920" cy="0"/>
          </a:xfrm>
          <a:prstGeom prst="line">
            <a:avLst/>
          </a:prstGeom>
          <a:noFill/>
          <a:ln w="15875">
            <a:solidFill>
              <a:srgbClr val="5F6368"/>
            </a:solidFill>
            <a:prstDash val="dash"/>
            <a:tailEnd type="triangle"/>
          </a:ln>
        </p:spPr>
      </p:sp>
      <p:sp>
        <p:nvSpPr>
          <p:cNvPr id="27" name="Shape 21"/>
          <p:cNvSpPr/>
          <p:nvPr/>
        </p:nvSpPr>
        <p:spPr>
          <a:xfrm flipV="1">
            <a:off x="3017520" y="3264408"/>
            <a:ext cx="0" cy="347472"/>
          </a:xfrm>
          <a:prstGeom prst="line">
            <a:avLst/>
          </a:prstGeom>
          <a:noFill/>
          <a:ln w="15875">
            <a:solidFill>
              <a:srgbClr val="5F6368"/>
            </a:solidFill>
            <a:prstDash val="dash"/>
            <a:tailEnd type="triangle"/>
          </a:ln>
        </p:spPr>
      </p:sp>
      <p:sp>
        <p:nvSpPr>
          <p:cNvPr id="28" name="Shape 22"/>
          <p:cNvSpPr/>
          <p:nvPr/>
        </p:nvSpPr>
        <p:spPr>
          <a:xfrm>
            <a:off x="4251960" y="2706624"/>
            <a:ext cx="228600" cy="0"/>
          </a:xfrm>
          <a:prstGeom prst="line">
            <a:avLst/>
          </a:prstGeom>
          <a:noFill/>
          <a:ln w="15875">
            <a:solidFill>
              <a:srgbClr val="5F6368"/>
            </a:solidFill>
            <a:prstDash val="solid"/>
            <a:tailEnd type="triangle"/>
          </a:ln>
        </p:spPr>
      </p:sp>
      <p:sp>
        <p:nvSpPr>
          <p:cNvPr id="29" name="Shape 23"/>
          <p:cNvSpPr/>
          <p:nvPr/>
        </p:nvSpPr>
        <p:spPr>
          <a:xfrm>
            <a:off x="2788920" y="3977640"/>
            <a:ext cx="1463040" cy="512064"/>
          </a:xfrm>
          <a:prstGeom prst="roundRect">
            <a:avLst>
              <a:gd name="adj" fmla="val 10714"/>
            </a:avLst>
          </a:prstGeom>
          <a:solidFill>
            <a:srgbClr val="FFFFFF"/>
          </a:solidFill>
          <a:ln w="9525">
            <a:solidFill>
              <a:srgbClr val="DADCE0"/>
            </a:solidFill>
            <a:prstDash val="solid"/>
          </a:ln>
        </p:spPr>
      </p:sp>
      <p:sp>
        <p:nvSpPr>
          <p:cNvPr id="30" name="Text 24"/>
          <p:cNvSpPr txBox="1"/>
          <p:nvPr/>
        </p:nvSpPr>
        <p:spPr>
          <a:xfrm>
            <a:off x="2898648" y="4050792"/>
            <a:ext cx="1280160" cy="274320"/>
          </a:xfrm>
          <a:prstGeom prst="rect">
            <a:avLst/>
          </a:prstGeom>
          <a:noFill/>
          <a:ln/>
        </p:spPr>
        <p:txBody>
          <a:bodyPr wrap="square" lIns="0" tIns="0" rIns="0" bIns="0" rtlCol="0" anchor="t"/>
          <a:lstStyle/>
          <a:p>
            <a:pPr indent="0" marL="0">
              <a:buNone/>
            </a:pPr>
            <a:r>
              <a:rPr lang="en-US" sz="900" b="1" dirty="0">
                <a:solidFill>
                  <a:srgbClr val="202124"/>
                </a:solidFill>
                <a:latin typeface="Arial" pitchFamily="34" charset="0"/>
                <a:ea typeface="Arial" pitchFamily="34" charset="-122"/>
                <a:cs typeface="Arial" pitchFamily="34" charset="-120"/>
              </a:rPr>
              <a:t>Cloud Storage</a:t>
            </a:r>
            <a:endParaRPr lang="en-US" sz="900" dirty="0"/>
          </a:p>
        </p:txBody>
      </p:sp>
      <p:sp>
        <p:nvSpPr>
          <p:cNvPr id="31" name="Text 25"/>
          <p:cNvSpPr txBox="1"/>
          <p:nvPr/>
        </p:nvSpPr>
        <p:spPr>
          <a:xfrm>
            <a:off x="2898648" y="4306824"/>
            <a:ext cx="1280160" cy="182880"/>
          </a:xfrm>
          <a:prstGeom prst="rect">
            <a:avLst/>
          </a:prstGeom>
          <a:noFill/>
          <a:ln/>
        </p:spPr>
        <p:txBody>
          <a:bodyPr wrap="square" lIns="0" tIns="0" rIns="0" bIns="0" rtlCol="0" anchor="t"/>
          <a:lstStyle/>
          <a:p>
            <a:pPr indent="0" marL="0">
              <a:lnSpc>
                <a:spcPct val="105000"/>
              </a:lnSpc>
              <a:buNone/>
            </a:pPr>
            <a:r>
              <a:rPr lang="en-US" sz="750" dirty="0">
                <a:solidFill>
                  <a:srgbClr val="5F6368"/>
                </a:solidFill>
                <a:latin typeface="Arial" pitchFamily="34" charset="0"/>
                <a:ea typeface="Arial" pitchFamily="34" charset="-122"/>
                <a:cs typeface="Arial" pitchFamily="34" charset="-120"/>
              </a:rPr>
              <a:t>versioned corpus</a:t>
            </a:r>
            <a:endParaRPr lang="en-US" sz="750" dirty="0"/>
          </a:p>
        </p:txBody>
      </p:sp>
      <p:sp>
        <p:nvSpPr>
          <p:cNvPr id="32" name="Shape 26"/>
          <p:cNvSpPr/>
          <p:nvPr/>
        </p:nvSpPr>
        <p:spPr>
          <a:xfrm>
            <a:off x="4480560" y="3657600"/>
            <a:ext cx="1325880" cy="1143000"/>
          </a:xfrm>
          <a:prstGeom prst="roundRect">
            <a:avLst>
              <a:gd name="adj" fmla="val 4800"/>
            </a:avLst>
          </a:prstGeom>
          <a:solidFill>
            <a:srgbClr val="E8F0FE"/>
          </a:solidFill>
          <a:ln w="9525">
            <a:solidFill>
              <a:srgbClr val="E8F0FE"/>
            </a:solidFill>
            <a:prstDash val="solid"/>
          </a:ln>
        </p:spPr>
      </p:sp>
      <p:sp>
        <p:nvSpPr>
          <p:cNvPr id="33" name="Text 27"/>
          <p:cNvSpPr txBox="1"/>
          <p:nvPr/>
        </p:nvSpPr>
        <p:spPr>
          <a:xfrm>
            <a:off x="4590288" y="3730752"/>
            <a:ext cx="1143000" cy="274320"/>
          </a:xfrm>
          <a:prstGeom prst="rect">
            <a:avLst/>
          </a:prstGeom>
          <a:noFill/>
          <a:ln/>
        </p:spPr>
        <p:txBody>
          <a:bodyPr wrap="square" lIns="0" tIns="0" rIns="0" bIns="0" rtlCol="0" anchor="t"/>
          <a:lstStyle/>
          <a:p>
            <a:pPr indent="0" marL="0">
              <a:buNone/>
            </a:pPr>
            <a:r>
              <a:rPr lang="en-US" sz="950" b="1" dirty="0">
                <a:solidFill>
                  <a:srgbClr val="202124"/>
                </a:solidFill>
                <a:latin typeface="Arial" pitchFamily="34" charset="0"/>
                <a:ea typeface="Arial" pitchFamily="34" charset="-122"/>
                <a:cs typeface="Arial" pitchFamily="34" charset="-120"/>
              </a:rPr>
              <a:t>RAG Engine</a:t>
            </a:r>
            <a:endParaRPr lang="en-US" sz="950" dirty="0"/>
          </a:p>
        </p:txBody>
      </p:sp>
      <p:sp>
        <p:nvSpPr>
          <p:cNvPr id="34" name="Text 28"/>
          <p:cNvSpPr txBox="1"/>
          <p:nvPr/>
        </p:nvSpPr>
        <p:spPr>
          <a:xfrm>
            <a:off x="4590288" y="3986784"/>
            <a:ext cx="1143000" cy="777240"/>
          </a:xfrm>
          <a:prstGeom prst="rect">
            <a:avLst/>
          </a:prstGeom>
          <a:noFill/>
          <a:ln/>
        </p:spPr>
        <p:txBody>
          <a:bodyPr wrap="square" lIns="0" tIns="0" rIns="0" bIns="0" rtlCol="0" anchor="t"/>
          <a:lstStyle/>
          <a:p>
            <a:pPr indent="0" marL="0">
              <a:lnSpc>
                <a:spcPct val="105000"/>
              </a:lnSpc>
              <a:buNone/>
            </a:pPr>
            <a:r>
              <a:rPr lang="en-US" sz="750" dirty="0">
                <a:solidFill>
                  <a:srgbClr val="5F6368"/>
                </a:solidFill>
                <a:latin typeface="Arial" pitchFamily="34" charset="0"/>
                <a:ea typeface="Arial" pitchFamily="34" charset="-122"/>
                <a:cs typeface="Arial" pitchFamily="34" charset="-120"/>
              </a:rPr>
              <a:t>embeddings · vector index · page-level citations</a:t>
            </a:r>
            <a:endParaRPr lang="en-US" sz="750" dirty="0"/>
          </a:p>
        </p:txBody>
      </p:sp>
      <p:sp>
        <p:nvSpPr>
          <p:cNvPr id="35" name="Shape 29"/>
          <p:cNvSpPr/>
          <p:nvPr/>
        </p:nvSpPr>
        <p:spPr>
          <a:xfrm>
            <a:off x="2514600" y="4215384"/>
            <a:ext cx="274320" cy="0"/>
          </a:xfrm>
          <a:prstGeom prst="line">
            <a:avLst/>
          </a:prstGeom>
          <a:noFill/>
          <a:ln w="15875">
            <a:solidFill>
              <a:srgbClr val="5F6368"/>
            </a:solidFill>
            <a:prstDash val="solid"/>
            <a:tailEnd type="triangle"/>
          </a:ln>
        </p:spPr>
      </p:sp>
      <p:sp>
        <p:nvSpPr>
          <p:cNvPr id="36" name="Shape 30"/>
          <p:cNvSpPr/>
          <p:nvPr/>
        </p:nvSpPr>
        <p:spPr>
          <a:xfrm>
            <a:off x="4251960" y="4215384"/>
            <a:ext cx="228600" cy="0"/>
          </a:xfrm>
          <a:prstGeom prst="line">
            <a:avLst/>
          </a:prstGeom>
          <a:noFill/>
          <a:ln w="15875">
            <a:solidFill>
              <a:srgbClr val="5F6368"/>
            </a:solidFill>
            <a:prstDash val="solid"/>
            <a:tailEnd type="triangle"/>
          </a:ln>
        </p:spPr>
      </p:sp>
      <p:sp>
        <p:nvSpPr>
          <p:cNvPr id="37" name="Shape 31"/>
          <p:cNvSpPr/>
          <p:nvPr/>
        </p:nvSpPr>
        <p:spPr>
          <a:xfrm>
            <a:off x="731520" y="4617720"/>
            <a:ext cx="5074920" cy="896112"/>
          </a:xfrm>
          <a:prstGeom prst="roundRect">
            <a:avLst>
              <a:gd name="adj" fmla="val 6122"/>
            </a:avLst>
          </a:prstGeom>
          <a:solidFill>
            <a:srgbClr val="FEF7E0"/>
          </a:solidFill>
          <a:ln w="9525">
            <a:solidFill>
              <a:srgbClr val="FEF7E0"/>
            </a:solidFill>
            <a:prstDash val="solid"/>
          </a:ln>
        </p:spPr>
      </p:sp>
      <p:sp>
        <p:nvSpPr>
          <p:cNvPr id="38" name="Text 32"/>
          <p:cNvSpPr txBox="1"/>
          <p:nvPr/>
        </p:nvSpPr>
        <p:spPr>
          <a:xfrm>
            <a:off x="841248" y="4690872"/>
            <a:ext cx="4892040" cy="274320"/>
          </a:xfrm>
          <a:prstGeom prst="rect">
            <a:avLst/>
          </a:prstGeom>
          <a:noFill/>
          <a:ln/>
        </p:spPr>
        <p:txBody>
          <a:bodyPr wrap="square" lIns="0" tIns="0" rIns="0" bIns="0" rtlCol="0" anchor="t"/>
          <a:lstStyle/>
          <a:p>
            <a:pPr indent="0" marL="0">
              <a:buNone/>
            </a:pPr>
            <a:r>
              <a:rPr lang="en-US" sz="950" b="1" dirty="0">
                <a:solidFill>
                  <a:srgbClr val="202124"/>
                </a:solidFill>
                <a:latin typeface="Arial" pitchFamily="34" charset="0"/>
                <a:ea typeface="Arial" pitchFamily="34" charset="-122"/>
                <a:cs typeface="Arial" pitchFamily="34" charset="-120"/>
              </a:rPr>
              <a:t>Vertex AI: models</a:t>
            </a:r>
            <a:endParaRPr lang="en-US" sz="950" dirty="0"/>
          </a:p>
        </p:txBody>
      </p:sp>
      <p:sp>
        <p:nvSpPr>
          <p:cNvPr id="39" name="Text 33"/>
          <p:cNvSpPr txBox="1"/>
          <p:nvPr/>
        </p:nvSpPr>
        <p:spPr>
          <a:xfrm>
            <a:off x="841248" y="4946904"/>
            <a:ext cx="4892040" cy="530352"/>
          </a:xfrm>
          <a:prstGeom prst="rect">
            <a:avLst/>
          </a:prstGeom>
          <a:noFill/>
          <a:ln/>
        </p:spPr>
        <p:txBody>
          <a:bodyPr wrap="square" lIns="0" tIns="0" rIns="0" bIns="0" rtlCol="0" anchor="t"/>
          <a:lstStyle/>
          <a:p>
            <a:pPr indent="0" marL="0">
              <a:lnSpc>
                <a:spcPct val="105000"/>
              </a:lnSpc>
              <a:buNone/>
            </a:pPr>
            <a:r>
              <a:rPr lang="en-US" sz="750" dirty="0">
                <a:solidFill>
                  <a:srgbClr val="5F6368"/>
                </a:solidFill>
                <a:latin typeface="Arial" pitchFamily="34" charset="0"/>
                <a:ea typeface="Arial" pitchFamily="34" charset="-122"/>
                <a:cs typeface="Arial" pitchFamily="34" charset="-120"/>
              </a:rPr>
              <a:t>Pipelines train the XGBoost risk model on BigQuery data, register it in Model Registry, and serve it on an online endpoint for point-of-care scoring, with batch prediction for the nightly cohort; drift monitoring in region.</a:t>
            </a:r>
            <a:endParaRPr lang="en-US" sz="750" dirty="0"/>
          </a:p>
        </p:txBody>
      </p:sp>
      <p:sp>
        <p:nvSpPr>
          <p:cNvPr id="40" name="Shape 34"/>
          <p:cNvSpPr/>
          <p:nvPr/>
        </p:nvSpPr>
        <p:spPr>
          <a:xfrm>
            <a:off x="6217920" y="1783080"/>
            <a:ext cx="5394960" cy="3977640"/>
          </a:xfrm>
          <a:prstGeom prst="roundRect">
            <a:avLst>
              <a:gd name="adj" fmla="val 2759"/>
            </a:avLst>
          </a:prstGeom>
          <a:solidFill>
            <a:srgbClr val="FFFFFF">
              <a:alpha val="0"/>
            </a:srgbClr>
          </a:solidFill>
          <a:ln w="12700">
            <a:solidFill>
              <a:srgbClr val="34A853"/>
            </a:solidFill>
            <a:prstDash val="dash"/>
          </a:ln>
        </p:spPr>
      </p:sp>
      <p:sp>
        <p:nvSpPr>
          <p:cNvPr id="41" name="Text 35"/>
          <p:cNvSpPr txBox="1"/>
          <p:nvPr/>
        </p:nvSpPr>
        <p:spPr>
          <a:xfrm>
            <a:off x="6400800" y="1874520"/>
            <a:ext cx="4572000" cy="201168"/>
          </a:xfrm>
          <a:prstGeom prst="rect">
            <a:avLst/>
          </a:prstGeom>
          <a:noFill/>
          <a:ln/>
        </p:spPr>
        <p:txBody>
          <a:bodyPr wrap="square" lIns="0" tIns="0" rIns="0" bIns="0" rtlCol="0" anchor="t"/>
          <a:lstStyle/>
          <a:p>
            <a:pPr indent="0" marL="0">
              <a:buNone/>
            </a:pPr>
            <a:r>
              <a:rPr lang="en-US" sz="850" b="1" spc="150" kern="0" dirty="0">
                <a:solidFill>
                  <a:srgbClr val="1E8E3E"/>
                </a:solidFill>
                <a:latin typeface="Arial" pitchFamily="34" charset="0"/>
                <a:ea typeface="Arial" pitchFamily="34" charset="-122"/>
                <a:cs typeface="Arial" pitchFamily="34" charset="-120"/>
              </a:rPr>
              <a:t>SERVING SUBSYSTEM</a:t>
            </a:r>
            <a:endParaRPr lang="en-US" sz="850" dirty="0"/>
          </a:p>
        </p:txBody>
      </p:sp>
      <p:sp>
        <p:nvSpPr>
          <p:cNvPr id="42" name="Shape 36"/>
          <p:cNvSpPr/>
          <p:nvPr/>
        </p:nvSpPr>
        <p:spPr>
          <a:xfrm>
            <a:off x="6400800" y="2148840"/>
            <a:ext cx="1508760" cy="914400"/>
          </a:xfrm>
          <a:prstGeom prst="roundRect">
            <a:avLst>
              <a:gd name="adj" fmla="val 6000"/>
            </a:avLst>
          </a:prstGeom>
          <a:solidFill>
            <a:srgbClr val="FFFFFF"/>
          </a:solidFill>
          <a:ln w="9525">
            <a:solidFill>
              <a:srgbClr val="DADCE0"/>
            </a:solidFill>
            <a:prstDash val="solid"/>
          </a:ln>
        </p:spPr>
      </p:sp>
      <p:pic>
        <p:nvPicPr>
          <p:cNvPr id="43" name="Image 4" descr="preencoded.png">    </p:cNvPr>
          <p:cNvPicPr>
            <a:picLocks noChangeAspect="1"/>
          </p:cNvPicPr>
          <p:nvPr/>
        </p:nvPicPr>
        <p:blipFill>
          <a:blip r:embed="rId5"/>
          <a:stretch>
            <a:fillRect/>
          </a:stretch>
        </p:blipFill>
        <p:spPr>
          <a:xfrm>
            <a:off x="6510528" y="2249424"/>
            <a:ext cx="237744" cy="237744"/>
          </a:xfrm>
          <a:prstGeom prst="rect">
            <a:avLst/>
          </a:prstGeom>
        </p:spPr>
      </p:pic>
      <p:sp>
        <p:nvSpPr>
          <p:cNvPr id="44" name="Text 37"/>
          <p:cNvSpPr txBox="1"/>
          <p:nvPr/>
        </p:nvSpPr>
        <p:spPr>
          <a:xfrm>
            <a:off x="6821424" y="2221992"/>
            <a:ext cx="1014984" cy="274320"/>
          </a:xfrm>
          <a:prstGeom prst="rect">
            <a:avLst/>
          </a:prstGeom>
          <a:noFill/>
          <a:ln/>
        </p:spPr>
        <p:txBody>
          <a:bodyPr wrap="square" lIns="0" tIns="0" rIns="0" bIns="0" rtlCol="0" anchor="t"/>
          <a:lstStyle/>
          <a:p>
            <a:pPr indent="0" marL="0">
              <a:buNone/>
            </a:pPr>
            <a:r>
              <a:rPr lang="en-US" sz="950" b="1" dirty="0">
                <a:solidFill>
                  <a:srgbClr val="202124"/>
                </a:solidFill>
                <a:latin typeface="Arial" pitchFamily="34" charset="0"/>
                <a:ea typeface="Arial" pitchFamily="34" charset="-122"/>
                <a:cs typeface="Arial" pitchFamily="34" charset="-120"/>
              </a:rPr>
              <a:t>Users</a:t>
            </a:r>
            <a:endParaRPr lang="en-US" sz="950" dirty="0"/>
          </a:p>
        </p:txBody>
      </p:sp>
      <p:sp>
        <p:nvSpPr>
          <p:cNvPr id="45" name="Text 38"/>
          <p:cNvSpPr txBox="1"/>
          <p:nvPr/>
        </p:nvSpPr>
        <p:spPr>
          <a:xfrm>
            <a:off x="6510528" y="2478024"/>
            <a:ext cx="1325880" cy="548640"/>
          </a:xfrm>
          <a:prstGeom prst="rect">
            <a:avLst/>
          </a:prstGeom>
          <a:noFill/>
          <a:ln/>
        </p:spPr>
        <p:txBody>
          <a:bodyPr wrap="square" lIns="0" tIns="0" rIns="0" bIns="0" rtlCol="0" anchor="t"/>
          <a:lstStyle/>
          <a:p>
            <a:pPr indent="0" marL="0">
              <a:lnSpc>
                <a:spcPct val="105000"/>
              </a:lnSpc>
              <a:buNone/>
            </a:pPr>
            <a:r>
              <a:rPr lang="en-US" sz="750" dirty="0">
                <a:solidFill>
                  <a:srgbClr val="5F6368"/>
                </a:solidFill>
                <a:latin typeface="Arial" pitchFamily="34" charset="0"/>
                <a:ea typeface="Arial" pitchFamily="34" charset="-122"/>
                <a:cs typeface="Arial" pitchFamily="34" charset="-120"/>
              </a:rPr>
              <a:t>clinicians · health leaders · web, tablet, voice</a:t>
            </a:r>
            <a:endParaRPr lang="en-US" sz="750" dirty="0"/>
          </a:p>
        </p:txBody>
      </p:sp>
      <p:sp>
        <p:nvSpPr>
          <p:cNvPr id="46" name="Shape 39"/>
          <p:cNvSpPr/>
          <p:nvPr/>
        </p:nvSpPr>
        <p:spPr>
          <a:xfrm>
            <a:off x="8138160" y="2148840"/>
            <a:ext cx="1554480" cy="914400"/>
          </a:xfrm>
          <a:prstGeom prst="roundRect">
            <a:avLst>
              <a:gd name="adj" fmla="val 6000"/>
            </a:avLst>
          </a:prstGeom>
          <a:solidFill>
            <a:srgbClr val="FFFFFF"/>
          </a:solidFill>
          <a:ln w="9525">
            <a:solidFill>
              <a:srgbClr val="DADCE0"/>
            </a:solidFill>
            <a:prstDash val="solid"/>
          </a:ln>
        </p:spPr>
      </p:sp>
      <p:sp>
        <p:nvSpPr>
          <p:cNvPr id="47" name="Text 40"/>
          <p:cNvSpPr txBox="1"/>
          <p:nvPr/>
        </p:nvSpPr>
        <p:spPr>
          <a:xfrm>
            <a:off x="8247888" y="2221992"/>
            <a:ext cx="1371600" cy="274320"/>
          </a:xfrm>
          <a:prstGeom prst="rect">
            <a:avLst/>
          </a:prstGeom>
          <a:noFill/>
          <a:ln/>
        </p:spPr>
        <p:txBody>
          <a:bodyPr wrap="square" lIns="0" tIns="0" rIns="0" bIns="0" rtlCol="0" anchor="t"/>
          <a:lstStyle/>
          <a:p>
            <a:pPr indent="0" marL="0">
              <a:buNone/>
            </a:pPr>
            <a:r>
              <a:rPr lang="en-US" sz="950" b="1" dirty="0">
                <a:solidFill>
                  <a:srgbClr val="202124"/>
                </a:solidFill>
                <a:latin typeface="Arial" pitchFamily="34" charset="0"/>
                <a:ea typeface="Arial" pitchFamily="34" charset="-122"/>
                <a:cs typeface="Arial" pitchFamily="34" charset="-120"/>
              </a:rPr>
              <a:t>Cloud Run: Nabd app</a:t>
            </a:r>
            <a:endParaRPr lang="en-US" sz="950" dirty="0"/>
          </a:p>
        </p:txBody>
      </p:sp>
      <p:sp>
        <p:nvSpPr>
          <p:cNvPr id="48" name="Text 41"/>
          <p:cNvSpPr txBox="1"/>
          <p:nvPr/>
        </p:nvSpPr>
        <p:spPr>
          <a:xfrm>
            <a:off x="8247888" y="2478024"/>
            <a:ext cx="1371600" cy="548640"/>
          </a:xfrm>
          <a:prstGeom prst="rect">
            <a:avLst/>
          </a:prstGeom>
          <a:noFill/>
          <a:ln/>
        </p:spPr>
        <p:txBody>
          <a:bodyPr wrap="square" lIns="0" tIns="0" rIns="0" bIns="0" rtlCol="0" anchor="t"/>
          <a:lstStyle/>
          <a:p>
            <a:pPr indent="0" marL="0">
              <a:lnSpc>
                <a:spcPct val="105000"/>
              </a:lnSpc>
              <a:buNone/>
            </a:pPr>
            <a:r>
              <a:rPr lang="en-US" sz="750" dirty="0">
                <a:solidFill>
                  <a:srgbClr val="5F6368"/>
                </a:solidFill>
                <a:latin typeface="Arial" pitchFamily="34" charset="0"/>
                <a:ea typeface="Arial" pitchFamily="34" charset="-122"/>
                <a:cs typeface="Arial" pitchFamily="34" charset="-120"/>
              </a:rPr>
              <a:t>React + API · Speech-to-Text / Text-to-Speech (Arabic, English)</a:t>
            </a:r>
            <a:endParaRPr lang="en-US" sz="750" dirty="0"/>
          </a:p>
        </p:txBody>
      </p:sp>
      <p:sp>
        <p:nvSpPr>
          <p:cNvPr id="49" name="Shape 42"/>
          <p:cNvSpPr/>
          <p:nvPr/>
        </p:nvSpPr>
        <p:spPr>
          <a:xfrm>
            <a:off x="9921240" y="2148840"/>
            <a:ext cx="1508760" cy="914400"/>
          </a:xfrm>
          <a:prstGeom prst="roundRect">
            <a:avLst>
              <a:gd name="adj" fmla="val 6000"/>
            </a:avLst>
          </a:prstGeom>
          <a:solidFill>
            <a:srgbClr val="1E8E3E"/>
          </a:solidFill>
          <a:ln w="9525">
            <a:solidFill>
              <a:srgbClr val="1E8E3E"/>
            </a:solidFill>
            <a:prstDash val="solid"/>
          </a:ln>
        </p:spPr>
      </p:sp>
      <p:sp>
        <p:nvSpPr>
          <p:cNvPr id="50" name="Text 43"/>
          <p:cNvSpPr txBox="1"/>
          <p:nvPr/>
        </p:nvSpPr>
        <p:spPr>
          <a:xfrm>
            <a:off x="10030968" y="2221992"/>
            <a:ext cx="1325880" cy="274320"/>
          </a:xfrm>
          <a:prstGeom prst="rect">
            <a:avLst/>
          </a:prstGeom>
          <a:noFill/>
          <a:ln/>
        </p:spPr>
        <p:txBody>
          <a:bodyPr wrap="square" lIns="0" tIns="0" rIns="0" bIns="0" rtlCol="0" anchor="t"/>
          <a:lstStyle/>
          <a:p>
            <a:pPr indent="0" marL="0">
              <a:buNone/>
            </a:pPr>
            <a:r>
              <a:rPr lang="en-US" sz="950" b="1" dirty="0">
                <a:solidFill>
                  <a:srgbClr val="FFFFFF"/>
                </a:solidFill>
                <a:latin typeface="Arial" pitchFamily="34" charset="0"/>
                <a:ea typeface="Arial" pitchFamily="34" charset="-122"/>
                <a:cs typeface="Arial" pitchFamily="34" charset="-120"/>
              </a:rPr>
              <a:t>Agent runtime</a:t>
            </a:r>
            <a:endParaRPr lang="en-US" sz="950" dirty="0"/>
          </a:p>
        </p:txBody>
      </p:sp>
      <p:sp>
        <p:nvSpPr>
          <p:cNvPr id="51" name="Text 44"/>
          <p:cNvSpPr txBox="1"/>
          <p:nvPr/>
        </p:nvSpPr>
        <p:spPr>
          <a:xfrm>
            <a:off x="10030968" y="2478024"/>
            <a:ext cx="1325880" cy="548640"/>
          </a:xfrm>
          <a:prstGeom prst="rect">
            <a:avLst/>
          </a:prstGeom>
          <a:noFill/>
          <a:ln/>
        </p:spPr>
        <p:txBody>
          <a:bodyPr wrap="square" lIns="0" tIns="0" rIns="0" bIns="0" rtlCol="0" anchor="t"/>
          <a:lstStyle/>
          <a:p>
            <a:pPr indent="0" marL="0">
              <a:lnSpc>
                <a:spcPct val="105000"/>
              </a:lnSpc>
              <a:buNone/>
            </a:pPr>
            <a:r>
              <a:rPr lang="en-US" sz="750" dirty="0">
                <a:solidFill>
                  <a:srgbClr val="FFFFFF"/>
                </a:solidFill>
                <a:latin typeface="Arial" pitchFamily="34" charset="0"/>
                <a:ea typeface="Arial" pitchFamily="34" charset="-122"/>
                <a:cs typeface="Arial" pitchFamily="34" charset="-120"/>
              </a:rPr>
              <a:t>ADK graph · Gemini Flash · sessions · traces</a:t>
            </a:r>
            <a:endParaRPr lang="en-US" sz="750" dirty="0"/>
          </a:p>
        </p:txBody>
      </p:sp>
      <p:sp>
        <p:nvSpPr>
          <p:cNvPr id="52" name="Shape 45"/>
          <p:cNvSpPr/>
          <p:nvPr/>
        </p:nvSpPr>
        <p:spPr>
          <a:xfrm>
            <a:off x="7909560" y="2606040"/>
            <a:ext cx="228600" cy="0"/>
          </a:xfrm>
          <a:prstGeom prst="line">
            <a:avLst/>
          </a:prstGeom>
          <a:noFill/>
          <a:ln w="15875">
            <a:solidFill>
              <a:srgbClr val="5F6368"/>
            </a:solidFill>
            <a:prstDash val="solid"/>
            <a:tailEnd type="triangle"/>
          </a:ln>
        </p:spPr>
      </p:sp>
      <p:sp>
        <p:nvSpPr>
          <p:cNvPr id="53" name="Shape 46"/>
          <p:cNvSpPr/>
          <p:nvPr/>
        </p:nvSpPr>
        <p:spPr>
          <a:xfrm>
            <a:off x="9692640" y="2606040"/>
            <a:ext cx="228600" cy="0"/>
          </a:xfrm>
          <a:prstGeom prst="line">
            <a:avLst/>
          </a:prstGeom>
          <a:noFill/>
          <a:ln w="15875">
            <a:solidFill>
              <a:srgbClr val="5F6368"/>
            </a:solidFill>
            <a:prstDash val="solid"/>
            <a:tailEnd type="triangle"/>
          </a:ln>
        </p:spPr>
      </p:sp>
      <p:sp>
        <p:nvSpPr>
          <p:cNvPr id="54" name="Text 47"/>
          <p:cNvSpPr txBox="1"/>
          <p:nvPr/>
        </p:nvSpPr>
        <p:spPr>
          <a:xfrm>
            <a:off x="6400800" y="3246120"/>
            <a:ext cx="3657600" cy="201168"/>
          </a:xfrm>
          <a:prstGeom prst="rect">
            <a:avLst/>
          </a:prstGeom>
          <a:noFill/>
          <a:ln/>
        </p:spPr>
        <p:txBody>
          <a:bodyPr wrap="square" lIns="0" tIns="0" rIns="0" bIns="0" rtlCol="0" anchor="t"/>
          <a:lstStyle/>
          <a:p>
            <a:pPr indent="0" marL="0">
              <a:buNone/>
            </a:pPr>
            <a:r>
              <a:rPr lang="en-US" sz="850" b="1" spc="150" kern="0" dirty="0">
                <a:solidFill>
                  <a:srgbClr val="5F6368"/>
                </a:solidFill>
                <a:latin typeface="Arial" pitchFamily="34" charset="0"/>
                <a:ea typeface="Arial" pitchFamily="34" charset="-122"/>
                <a:cs typeface="Arial" pitchFamily="34" charset="-120"/>
              </a:rPr>
              <a:t>TOOLS THE AGENT CALLS</a:t>
            </a:r>
            <a:endParaRPr lang="en-US" sz="850" dirty="0"/>
          </a:p>
        </p:txBody>
      </p:sp>
      <p:sp>
        <p:nvSpPr>
          <p:cNvPr id="55" name="Shape 48"/>
          <p:cNvSpPr/>
          <p:nvPr/>
        </p:nvSpPr>
        <p:spPr>
          <a:xfrm>
            <a:off x="6400800" y="3474720"/>
            <a:ext cx="2468880" cy="512064"/>
          </a:xfrm>
          <a:prstGeom prst="roundRect">
            <a:avLst>
              <a:gd name="adj" fmla="val 10714"/>
            </a:avLst>
          </a:prstGeom>
          <a:solidFill>
            <a:srgbClr val="E6F4EA"/>
          </a:solidFill>
          <a:ln w="9525">
            <a:solidFill>
              <a:srgbClr val="E6F4EA"/>
            </a:solidFill>
            <a:prstDash val="solid"/>
          </a:ln>
        </p:spPr>
      </p:sp>
      <p:sp>
        <p:nvSpPr>
          <p:cNvPr id="56" name="Text 49"/>
          <p:cNvSpPr txBox="1"/>
          <p:nvPr/>
        </p:nvSpPr>
        <p:spPr>
          <a:xfrm>
            <a:off x="6510528" y="3547872"/>
            <a:ext cx="2286000" cy="274320"/>
          </a:xfrm>
          <a:prstGeom prst="rect">
            <a:avLst/>
          </a:prstGeom>
          <a:noFill/>
          <a:ln/>
        </p:spPr>
        <p:txBody>
          <a:bodyPr wrap="square" lIns="0" tIns="0" rIns="0" bIns="0" rtlCol="0" anchor="t"/>
          <a:lstStyle/>
          <a:p>
            <a:pPr indent="0" marL="0">
              <a:buNone/>
            </a:pPr>
            <a:r>
              <a:rPr lang="en-US" sz="900" b="1" dirty="0">
                <a:solidFill>
                  <a:srgbClr val="202124"/>
                </a:solidFill>
                <a:latin typeface="Arial" pitchFamily="34" charset="0"/>
                <a:ea typeface="Arial" pitchFamily="34" charset="-122"/>
                <a:cs typeface="Arial" pitchFamily="34" charset="-120"/>
              </a:rPr>
              <a:t>MCP Toolbox</a:t>
            </a:r>
            <a:endParaRPr lang="en-US" sz="900" dirty="0"/>
          </a:p>
        </p:txBody>
      </p:sp>
      <p:sp>
        <p:nvSpPr>
          <p:cNvPr id="57" name="Text 50"/>
          <p:cNvSpPr txBox="1"/>
          <p:nvPr/>
        </p:nvSpPr>
        <p:spPr>
          <a:xfrm>
            <a:off x="6510528" y="3803904"/>
            <a:ext cx="2286000" cy="182880"/>
          </a:xfrm>
          <a:prstGeom prst="rect">
            <a:avLst/>
          </a:prstGeom>
          <a:noFill/>
          <a:ln/>
        </p:spPr>
        <p:txBody>
          <a:bodyPr wrap="square" lIns="0" tIns="0" rIns="0" bIns="0" rtlCol="0" anchor="t"/>
          <a:lstStyle/>
          <a:p>
            <a:pPr indent="0" marL="0">
              <a:lnSpc>
                <a:spcPct val="105000"/>
              </a:lnSpc>
              <a:buNone/>
            </a:pPr>
            <a:r>
              <a:rPr lang="en-US" sz="750" dirty="0">
                <a:solidFill>
                  <a:srgbClr val="5F6368"/>
                </a:solidFill>
                <a:latin typeface="Arial" pitchFamily="34" charset="0"/>
                <a:ea typeface="Arial" pitchFamily="34" charset="-122"/>
                <a:cs typeface="Arial" pitchFamily="34" charset="-120"/>
              </a:rPr>
              <a:t>BigQuery · FHIR (Google)</a:t>
            </a:r>
            <a:endParaRPr lang="en-US" sz="750" dirty="0"/>
          </a:p>
        </p:txBody>
      </p:sp>
      <p:sp>
        <p:nvSpPr>
          <p:cNvPr id="58" name="Shape 51"/>
          <p:cNvSpPr/>
          <p:nvPr/>
        </p:nvSpPr>
        <p:spPr>
          <a:xfrm>
            <a:off x="9006840" y="3474720"/>
            <a:ext cx="2468880" cy="512064"/>
          </a:xfrm>
          <a:prstGeom prst="roundRect">
            <a:avLst>
              <a:gd name="adj" fmla="val 10714"/>
            </a:avLst>
          </a:prstGeom>
          <a:solidFill>
            <a:srgbClr val="E6F4EA"/>
          </a:solidFill>
          <a:ln w="9525">
            <a:solidFill>
              <a:srgbClr val="E6F4EA"/>
            </a:solidFill>
            <a:prstDash val="solid"/>
          </a:ln>
        </p:spPr>
      </p:sp>
      <p:sp>
        <p:nvSpPr>
          <p:cNvPr id="59" name="Text 52"/>
          <p:cNvSpPr txBox="1"/>
          <p:nvPr/>
        </p:nvSpPr>
        <p:spPr>
          <a:xfrm>
            <a:off x="9116568" y="3547872"/>
            <a:ext cx="2286000" cy="274320"/>
          </a:xfrm>
          <a:prstGeom prst="rect">
            <a:avLst/>
          </a:prstGeom>
          <a:noFill/>
          <a:ln/>
        </p:spPr>
        <p:txBody>
          <a:bodyPr wrap="square" lIns="0" tIns="0" rIns="0" bIns="0" rtlCol="0" anchor="t"/>
          <a:lstStyle/>
          <a:p>
            <a:pPr indent="0" marL="0">
              <a:buNone/>
            </a:pPr>
            <a:r>
              <a:rPr lang="en-US" sz="900" b="1" dirty="0">
                <a:solidFill>
                  <a:srgbClr val="202124"/>
                </a:solidFill>
                <a:latin typeface="Arial" pitchFamily="34" charset="0"/>
                <a:ea typeface="Arial" pitchFamily="34" charset="-122"/>
                <a:cs typeface="Arial" pitchFamily="34" charset="-120"/>
              </a:rPr>
              <a:t>Nabd pop-health MCP</a:t>
            </a:r>
            <a:endParaRPr lang="en-US" sz="900" dirty="0"/>
          </a:p>
        </p:txBody>
      </p:sp>
      <p:sp>
        <p:nvSpPr>
          <p:cNvPr id="60" name="Text 53"/>
          <p:cNvSpPr txBox="1"/>
          <p:nvPr/>
        </p:nvSpPr>
        <p:spPr>
          <a:xfrm>
            <a:off x="9116568" y="3803904"/>
            <a:ext cx="2286000" cy="182880"/>
          </a:xfrm>
          <a:prstGeom prst="rect">
            <a:avLst/>
          </a:prstGeom>
          <a:noFill/>
          <a:ln/>
        </p:spPr>
        <p:txBody>
          <a:bodyPr wrap="square" lIns="0" tIns="0" rIns="0" bIns="0" rtlCol="0" anchor="t"/>
          <a:lstStyle/>
          <a:p>
            <a:pPr indent="0" marL="0">
              <a:lnSpc>
                <a:spcPct val="105000"/>
              </a:lnSpc>
              <a:buNone/>
            </a:pPr>
            <a:r>
              <a:rPr lang="en-US" sz="750" dirty="0">
                <a:solidFill>
                  <a:srgbClr val="5F6368"/>
                </a:solidFill>
                <a:latin typeface="Arial" pitchFamily="34" charset="0"/>
                <a:ea typeface="Arial" pitchFamily="34" charset="-122"/>
                <a:cs typeface="Arial" pitchFamily="34" charset="-120"/>
              </a:rPr>
              <a:t>care gaps · measures · simulation</a:t>
            </a:r>
            <a:endParaRPr lang="en-US" sz="750" dirty="0"/>
          </a:p>
        </p:txBody>
      </p:sp>
      <p:sp>
        <p:nvSpPr>
          <p:cNvPr id="61" name="Shape 54"/>
          <p:cNvSpPr/>
          <p:nvPr/>
        </p:nvSpPr>
        <p:spPr>
          <a:xfrm>
            <a:off x="6400800" y="4078224"/>
            <a:ext cx="2468880" cy="512064"/>
          </a:xfrm>
          <a:prstGeom prst="roundRect">
            <a:avLst>
              <a:gd name="adj" fmla="val 10714"/>
            </a:avLst>
          </a:prstGeom>
          <a:solidFill>
            <a:srgbClr val="E6F4EA"/>
          </a:solidFill>
          <a:ln w="9525">
            <a:solidFill>
              <a:srgbClr val="E6F4EA"/>
            </a:solidFill>
            <a:prstDash val="solid"/>
          </a:ln>
        </p:spPr>
      </p:sp>
      <p:sp>
        <p:nvSpPr>
          <p:cNvPr id="62" name="Text 55"/>
          <p:cNvSpPr txBox="1"/>
          <p:nvPr/>
        </p:nvSpPr>
        <p:spPr>
          <a:xfrm>
            <a:off x="6510528" y="4151376"/>
            <a:ext cx="2286000" cy="274320"/>
          </a:xfrm>
          <a:prstGeom prst="rect">
            <a:avLst/>
          </a:prstGeom>
          <a:noFill/>
          <a:ln/>
        </p:spPr>
        <p:txBody>
          <a:bodyPr wrap="square" lIns="0" tIns="0" rIns="0" bIns="0" rtlCol="0" anchor="t"/>
          <a:lstStyle/>
          <a:p>
            <a:pPr indent="0" marL="0">
              <a:buNone/>
            </a:pPr>
            <a:r>
              <a:rPr lang="en-US" sz="900" b="1" dirty="0">
                <a:solidFill>
                  <a:srgbClr val="202124"/>
                </a:solidFill>
                <a:latin typeface="Arial" pitchFamily="34" charset="0"/>
                <a:ea typeface="Arial" pitchFamily="34" charset="-122"/>
                <a:cs typeface="Arial" pitchFamily="34" charset="-120"/>
              </a:rPr>
              <a:t>Vertex AI endpoint</a:t>
            </a:r>
            <a:endParaRPr lang="en-US" sz="900" dirty="0"/>
          </a:p>
        </p:txBody>
      </p:sp>
      <p:sp>
        <p:nvSpPr>
          <p:cNvPr id="63" name="Text 56"/>
          <p:cNvSpPr txBox="1"/>
          <p:nvPr/>
        </p:nvSpPr>
        <p:spPr>
          <a:xfrm>
            <a:off x="6510528" y="4407408"/>
            <a:ext cx="2286000" cy="182880"/>
          </a:xfrm>
          <a:prstGeom prst="rect">
            <a:avLst/>
          </a:prstGeom>
          <a:noFill/>
          <a:ln/>
        </p:spPr>
        <p:txBody>
          <a:bodyPr wrap="square" lIns="0" tIns="0" rIns="0" bIns="0" rtlCol="0" anchor="t"/>
          <a:lstStyle/>
          <a:p>
            <a:pPr indent="0" marL="0">
              <a:lnSpc>
                <a:spcPct val="105000"/>
              </a:lnSpc>
              <a:buNone/>
            </a:pPr>
            <a:r>
              <a:rPr lang="en-US" sz="750" dirty="0">
                <a:solidFill>
                  <a:srgbClr val="5F6368"/>
                </a:solidFill>
                <a:latin typeface="Arial" pitchFamily="34" charset="0"/>
                <a:ea typeface="Arial" pitchFamily="34" charset="-122"/>
                <a:cs typeface="Arial" pitchFamily="34" charset="-120"/>
              </a:rPr>
              <a:t>risk score + drivers</a:t>
            </a:r>
            <a:endParaRPr lang="en-US" sz="750" dirty="0"/>
          </a:p>
        </p:txBody>
      </p:sp>
      <p:sp>
        <p:nvSpPr>
          <p:cNvPr id="64" name="Shape 57"/>
          <p:cNvSpPr/>
          <p:nvPr/>
        </p:nvSpPr>
        <p:spPr>
          <a:xfrm>
            <a:off x="9006840" y="4078224"/>
            <a:ext cx="2468880" cy="512064"/>
          </a:xfrm>
          <a:prstGeom prst="roundRect">
            <a:avLst>
              <a:gd name="adj" fmla="val 10714"/>
            </a:avLst>
          </a:prstGeom>
          <a:solidFill>
            <a:srgbClr val="E6F4EA"/>
          </a:solidFill>
          <a:ln w="9525">
            <a:solidFill>
              <a:srgbClr val="E6F4EA"/>
            </a:solidFill>
            <a:prstDash val="solid"/>
          </a:ln>
        </p:spPr>
      </p:sp>
      <p:sp>
        <p:nvSpPr>
          <p:cNvPr id="65" name="Text 58"/>
          <p:cNvSpPr txBox="1"/>
          <p:nvPr/>
        </p:nvSpPr>
        <p:spPr>
          <a:xfrm>
            <a:off x="9116568" y="4151376"/>
            <a:ext cx="2286000" cy="274320"/>
          </a:xfrm>
          <a:prstGeom prst="rect">
            <a:avLst/>
          </a:prstGeom>
          <a:noFill/>
          <a:ln/>
        </p:spPr>
        <p:txBody>
          <a:bodyPr wrap="square" lIns="0" tIns="0" rIns="0" bIns="0" rtlCol="0" anchor="t"/>
          <a:lstStyle/>
          <a:p>
            <a:pPr indent="0" marL="0">
              <a:buNone/>
            </a:pPr>
            <a:r>
              <a:rPr lang="en-US" sz="900" b="1" dirty="0">
                <a:solidFill>
                  <a:srgbClr val="202124"/>
                </a:solidFill>
                <a:latin typeface="Arial" pitchFamily="34" charset="0"/>
                <a:ea typeface="Arial" pitchFamily="34" charset="-122"/>
                <a:cs typeface="Arial" pitchFamily="34" charset="-120"/>
              </a:rPr>
              <a:t>RAG Engine retrieval</a:t>
            </a:r>
            <a:endParaRPr lang="en-US" sz="900" dirty="0"/>
          </a:p>
        </p:txBody>
      </p:sp>
      <p:sp>
        <p:nvSpPr>
          <p:cNvPr id="66" name="Text 59"/>
          <p:cNvSpPr txBox="1"/>
          <p:nvPr/>
        </p:nvSpPr>
        <p:spPr>
          <a:xfrm>
            <a:off x="9116568" y="4407408"/>
            <a:ext cx="2286000" cy="182880"/>
          </a:xfrm>
          <a:prstGeom prst="rect">
            <a:avLst/>
          </a:prstGeom>
          <a:noFill/>
          <a:ln/>
        </p:spPr>
        <p:txBody>
          <a:bodyPr wrap="square" lIns="0" tIns="0" rIns="0" bIns="0" rtlCol="0" anchor="t"/>
          <a:lstStyle/>
          <a:p>
            <a:pPr indent="0" marL="0">
              <a:lnSpc>
                <a:spcPct val="105000"/>
              </a:lnSpc>
              <a:buNone/>
            </a:pPr>
            <a:r>
              <a:rPr lang="en-US" sz="750" dirty="0">
                <a:solidFill>
                  <a:srgbClr val="5F6368"/>
                </a:solidFill>
                <a:latin typeface="Arial" pitchFamily="34" charset="0"/>
                <a:ea typeface="Arial" pitchFamily="34" charset="-122"/>
                <a:cs typeface="Arial" pitchFamily="34" charset="-120"/>
              </a:rPr>
              <a:t>cited guideline passages</a:t>
            </a:r>
            <a:endParaRPr lang="en-US" sz="750" dirty="0"/>
          </a:p>
        </p:txBody>
      </p:sp>
      <p:sp>
        <p:nvSpPr>
          <p:cNvPr id="67" name="Shape 60"/>
          <p:cNvSpPr/>
          <p:nvPr/>
        </p:nvSpPr>
        <p:spPr>
          <a:xfrm>
            <a:off x="10671048" y="3063240"/>
            <a:ext cx="0" cy="393192"/>
          </a:xfrm>
          <a:prstGeom prst="line">
            <a:avLst/>
          </a:prstGeom>
          <a:noFill/>
          <a:ln w="15875">
            <a:solidFill>
              <a:srgbClr val="5F6368"/>
            </a:solidFill>
            <a:prstDash val="solid"/>
            <a:tailEnd type="triangle"/>
          </a:ln>
        </p:spPr>
      </p:sp>
      <p:sp>
        <p:nvSpPr>
          <p:cNvPr id="68" name="Shape 61"/>
          <p:cNvSpPr/>
          <p:nvPr/>
        </p:nvSpPr>
        <p:spPr>
          <a:xfrm>
            <a:off x="6400800" y="4754880"/>
            <a:ext cx="2468880" cy="758952"/>
          </a:xfrm>
          <a:prstGeom prst="roundRect">
            <a:avLst>
              <a:gd name="adj" fmla="val 7229"/>
            </a:avLst>
          </a:prstGeom>
          <a:solidFill>
            <a:srgbClr val="FFFFFF"/>
          </a:solidFill>
          <a:ln w="9525">
            <a:solidFill>
              <a:srgbClr val="DADCE0"/>
            </a:solidFill>
            <a:prstDash val="solid"/>
          </a:ln>
        </p:spPr>
      </p:sp>
      <p:pic>
        <p:nvPicPr>
          <p:cNvPr id="69" name="Image 5" descr="preencoded.png">    </p:cNvPr>
          <p:cNvPicPr>
            <a:picLocks noChangeAspect="1"/>
          </p:cNvPicPr>
          <p:nvPr/>
        </p:nvPicPr>
        <p:blipFill>
          <a:blip r:embed="rId6"/>
          <a:stretch>
            <a:fillRect/>
          </a:stretch>
        </p:blipFill>
        <p:spPr>
          <a:xfrm>
            <a:off x="6510528" y="4855464"/>
            <a:ext cx="237744" cy="237744"/>
          </a:xfrm>
          <a:prstGeom prst="rect">
            <a:avLst/>
          </a:prstGeom>
        </p:spPr>
      </p:pic>
      <p:sp>
        <p:nvSpPr>
          <p:cNvPr id="70" name="Text 62"/>
          <p:cNvSpPr txBox="1"/>
          <p:nvPr/>
        </p:nvSpPr>
        <p:spPr>
          <a:xfrm>
            <a:off x="6821424" y="4828032"/>
            <a:ext cx="1975104" cy="274320"/>
          </a:xfrm>
          <a:prstGeom prst="rect">
            <a:avLst/>
          </a:prstGeom>
          <a:noFill/>
          <a:ln/>
        </p:spPr>
        <p:txBody>
          <a:bodyPr wrap="square" lIns="0" tIns="0" rIns="0" bIns="0" rtlCol="0" anchor="t"/>
          <a:lstStyle/>
          <a:p>
            <a:pPr indent="0" marL="0">
              <a:buNone/>
            </a:pPr>
            <a:r>
              <a:rPr lang="en-US" sz="900" b="1" dirty="0">
                <a:solidFill>
                  <a:srgbClr val="202124"/>
                </a:solidFill>
                <a:latin typeface="Arial" pitchFamily="34" charset="0"/>
                <a:ea typeface="Arial" pitchFamily="34" charset="-122"/>
                <a:cs typeface="Arial" pitchFamily="34" charset="-120"/>
              </a:rPr>
              <a:t>Human approval queue</a:t>
            </a:r>
            <a:endParaRPr lang="en-US" sz="900" dirty="0"/>
          </a:p>
        </p:txBody>
      </p:sp>
      <p:sp>
        <p:nvSpPr>
          <p:cNvPr id="71" name="Text 63"/>
          <p:cNvSpPr txBox="1"/>
          <p:nvPr/>
        </p:nvSpPr>
        <p:spPr>
          <a:xfrm>
            <a:off x="6510528" y="5084064"/>
            <a:ext cx="2286000" cy="393192"/>
          </a:xfrm>
          <a:prstGeom prst="rect">
            <a:avLst/>
          </a:prstGeom>
          <a:noFill/>
          <a:ln/>
        </p:spPr>
        <p:txBody>
          <a:bodyPr wrap="square" lIns="0" tIns="0" rIns="0" bIns="0" rtlCol="0" anchor="t"/>
          <a:lstStyle/>
          <a:p>
            <a:pPr indent="0" marL="0">
              <a:lnSpc>
                <a:spcPct val="105000"/>
              </a:lnSpc>
              <a:buNone/>
            </a:pPr>
            <a:r>
              <a:rPr lang="en-US" sz="750" dirty="0">
                <a:solidFill>
                  <a:srgbClr val="5F6368"/>
                </a:solidFill>
                <a:latin typeface="Arial" pitchFamily="34" charset="0"/>
                <a:ea typeface="Arial" pitchFamily="34" charset="-122"/>
                <a:cs typeface="Arial" pitchFamily="34" charset="-120"/>
              </a:rPr>
              <a:t>drafts signed by a named clinician</a:t>
            </a:r>
            <a:endParaRPr lang="en-US" sz="750" dirty="0"/>
          </a:p>
        </p:txBody>
      </p:sp>
      <p:sp>
        <p:nvSpPr>
          <p:cNvPr id="72" name="Shape 64"/>
          <p:cNvSpPr/>
          <p:nvPr/>
        </p:nvSpPr>
        <p:spPr>
          <a:xfrm>
            <a:off x="9006840" y="4754880"/>
            <a:ext cx="2468880" cy="758952"/>
          </a:xfrm>
          <a:prstGeom prst="roundRect">
            <a:avLst>
              <a:gd name="adj" fmla="val 7229"/>
            </a:avLst>
          </a:prstGeom>
          <a:solidFill>
            <a:srgbClr val="FFFFFF"/>
          </a:solidFill>
          <a:ln w="9525">
            <a:solidFill>
              <a:srgbClr val="DADCE0"/>
            </a:solidFill>
            <a:prstDash val="solid"/>
          </a:ln>
        </p:spPr>
      </p:sp>
      <p:pic>
        <p:nvPicPr>
          <p:cNvPr id="73" name="Image 6" descr="preencoded.png">    </p:cNvPr>
          <p:cNvPicPr>
            <a:picLocks noChangeAspect="1"/>
          </p:cNvPicPr>
          <p:nvPr/>
        </p:nvPicPr>
        <p:blipFill>
          <a:blip r:embed="rId7"/>
          <a:stretch>
            <a:fillRect/>
          </a:stretch>
        </p:blipFill>
        <p:spPr>
          <a:xfrm>
            <a:off x="9116568" y="4855464"/>
            <a:ext cx="237744" cy="237744"/>
          </a:xfrm>
          <a:prstGeom prst="rect">
            <a:avLst/>
          </a:prstGeom>
        </p:spPr>
      </p:pic>
      <p:sp>
        <p:nvSpPr>
          <p:cNvPr id="74" name="Text 65"/>
          <p:cNvSpPr txBox="1"/>
          <p:nvPr/>
        </p:nvSpPr>
        <p:spPr>
          <a:xfrm>
            <a:off x="9427464" y="4828032"/>
            <a:ext cx="1975104" cy="274320"/>
          </a:xfrm>
          <a:prstGeom prst="rect">
            <a:avLst/>
          </a:prstGeom>
          <a:noFill/>
          <a:ln/>
        </p:spPr>
        <p:txBody>
          <a:bodyPr wrap="square" lIns="0" tIns="0" rIns="0" bIns="0" rtlCol="0" anchor="t"/>
          <a:lstStyle/>
          <a:p>
            <a:pPr indent="0" marL="0">
              <a:buNone/>
            </a:pPr>
            <a:r>
              <a:rPr lang="en-US" sz="900" b="1" dirty="0">
                <a:solidFill>
                  <a:srgbClr val="202124"/>
                </a:solidFill>
                <a:latin typeface="Arial" pitchFamily="34" charset="0"/>
                <a:ea typeface="Arial" pitchFamily="34" charset="-122"/>
                <a:cs typeface="Arial" pitchFamily="34" charset="-120"/>
              </a:rPr>
              <a:t>Write-back</a:t>
            </a:r>
            <a:endParaRPr lang="en-US" sz="900" dirty="0"/>
          </a:p>
        </p:txBody>
      </p:sp>
      <p:sp>
        <p:nvSpPr>
          <p:cNvPr id="75" name="Text 66"/>
          <p:cNvSpPr txBox="1"/>
          <p:nvPr/>
        </p:nvSpPr>
        <p:spPr>
          <a:xfrm>
            <a:off x="9116568" y="5084064"/>
            <a:ext cx="2286000" cy="393192"/>
          </a:xfrm>
          <a:prstGeom prst="rect">
            <a:avLst/>
          </a:prstGeom>
          <a:noFill/>
          <a:ln/>
        </p:spPr>
        <p:txBody>
          <a:bodyPr wrap="square" lIns="0" tIns="0" rIns="0" bIns="0" rtlCol="0" anchor="t"/>
          <a:lstStyle/>
          <a:p>
            <a:pPr indent="0" marL="0">
              <a:lnSpc>
                <a:spcPct val="105000"/>
              </a:lnSpc>
              <a:buNone/>
            </a:pPr>
            <a:r>
              <a:rPr lang="en-US" sz="750" dirty="0">
                <a:solidFill>
                  <a:srgbClr val="5F6368"/>
                </a:solidFill>
                <a:latin typeface="Arial" pitchFamily="34" charset="0"/>
                <a:ea typeface="Arial" pitchFamily="34" charset="-122"/>
                <a:cs typeface="Arial" pitchFamily="34" charset="-120"/>
              </a:rPr>
              <a:t>approved items posted as FHIR Task to the EHR via Healthcare API</a:t>
            </a:r>
            <a:endParaRPr lang="en-US" sz="750" dirty="0"/>
          </a:p>
        </p:txBody>
      </p:sp>
      <p:sp>
        <p:nvSpPr>
          <p:cNvPr id="76" name="Shape 67"/>
          <p:cNvSpPr/>
          <p:nvPr/>
        </p:nvSpPr>
        <p:spPr>
          <a:xfrm>
            <a:off x="8869680" y="5120640"/>
            <a:ext cx="137160" cy="0"/>
          </a:xfrm>
          <a:prstGeom prst="line">
            <a:avLst/>
          </a:prstGeom>
          <a:noFill/>
          <a:ln w="15875">
            <a:solidFill>
              <a:srgbClr val="5F6368"/>
            </a:solidFill>
            <a:prstDash val="solid"/>
            <a:tailEnd type="triangle"/>
          </a:ln>
        </p:spPr>
      </p:sp>
      <p:sp>
        <p:nvSpPr>
          <p:cNvPr id="77" name="Shape 68"/>
          <p:cNvSpPr/>
          <p:nvPr/>
        </p:nvSpPr>
        <p:spPr>
          <a:xfrm>
            <a:off x="5989320" y="3977640"/>
            <a:ext cx="228600" cy="0"/>
          </a:xfrm>
          <a:prstGeom prst="line">
            <a:avLst/>
          </a:prstGeom>
          <a:noFill/>
          <a:ln w="15875">
            <a:solidFill>
              <a:srgbClr val="1A73E8"/>
            </a:solidFill>
            <a:prstDash val="dash"/>
            <a:tailEnd type="triangle"/>
          </a:ln>
        </p:spPr>
      </p:sp>
      <p:sp>
        <p:nvSpPr>
          <p:cNvPr id="78" name="Text 69"/>
          <p:cNvSpPr txBox="1"/>
          <p:nvPr/>
        </p:nvSpPr>
        <p:spPr>
          <a:xfrm>
            <a:off x="5760720" y="3547872"/>
            <a:ext cx="868680" cy="182880"/>
          </a:xfrm>
          <a:prstGeom prst="rect">
            <a:avLst/>
          </a:prstGeom>
          <a:noFill/>
          <a:ln/>
        </p:spPr>
        <p:txBody>
          <a:bodyPr wrap="square" lIns="0" tIns="0" rIns="0" bIns="0" rtlCol="0" anchor="t"/>
          <a:lstStyle/>
          <a:p>
            <a:pPr algn="ctr" indent="0" marL="0">
              <a:buNone/>
            </a:pPr>
            <a:r>
              <a:rPr lang="en-US" sz="700" dirty="0">
                <a:solidFill>
                  <a:srgbClr val="1A73E8"/>
                </a:solidFill>
                <a:latin typeface="Arial" pitchFamily="34" charset="0"/>
                <a:ea typeface="Arial" pitchFamily="34" charset="-122"/>
                <a:cs typeface="Arial" pitchFamily="34" charset="-120"/>
              </a:rPr>
              <a:t>data and models</a:t>
            </a:r>
            <a:endParaRPr lang="en-US" sz="700" dirty="0"/>
          </a:p>
        </p:txBody>
      </p:sp>
      <p:sp>
        <p:nvSpPr>
          <p:cNvPr id="79" name="Shape 70"/>
          <p:cNvSpPr/>
          <p:nvPr/>
        </p:nvSpPr>
        <p:spPr>
          <a:xfrm>
            <a:off x="548640" y="5897880"/>
            <a:ext cx="11064240" cy="457200"/>
          </a:xfrm>
          <a:prstGeom prst="roundRect">
            <a:avLst>
              <a:gd name="adj" fmla="val 16000"/>
            </a:avLst>
          </a:prstGeom>
          <a:solidFill>
            <a:srgbClr val="F8F9FA"/>
          </a:solidFill>
          <a:ln w="12700">
            <a:solidFill>
              <a:srgbClr val="F8F9FA"/>
            </a:solidFill>
            <a:prstDash val="solid"/>
          </a:ln>
        </p:spPr>
      </p:sp>
      <p:pic>
        <p:nvPicPr>
          <p:cNvPr id="80" name="Image 7" descr="preencoded.png">    </p:cNvPr>
          <p:cNvPicPr>
            <a:picLocks noChangeAspect="1"/>
          </p:cNvPicPr>
          <p:nvPr/>
        </p:nvPicPr>
        <p:blipFill>
          <a:blip r:embed="rId8"/>
          <a:stretch>
            <a:fillRect/>
          </a:stretch>
        </p:blipFill>
        <p:spPr>
          <a:xfrm>
            <a:off x="713232" y="5998464"/>
            <a:ext cx="256032" cy="256032"/>
          </a:xfrm>
          <a:prstGeom prst="rect">
            <a:avLst/>
          </a:prstGeom>
        </p:spPr>
      </p:pic>
      <p:sp>
        <p:nvSpPr>
          <p:cNvPr id="81" name="Text 71"/>
          <p:cNvSpPr txBox="1"/>
          <p:nvPr/>
        </p:nvSpPr>
        <p:spPr>
          <a:xfrm>
            <a:off x="1051560" y="5897880"/>
            <a:ext cx="10515600" cy="457200"/>
          </a:xfrm>
          <a:prstGeom prst="rect">
            <a:avLst/>
          </a:prstGeom>
          <a:noFill/>
          <a:ln/>
        </p:spPr>
        <p:txBody>
          <a:bodyPr wrap="square" lIns="0" tIns="0" rIns="0" bIns="0" rtlCol="0" anchor="ctr"/>
          <a:lstStyle/>
          <a:p>
            <a:pPr indent="0" marL="0">
              <a:lnSpc>
                <a:spcPct val="105000"/>
              </a:lnSpc>
              <a:buNone/>
            </a:pPr>
            <a:r>
              <a:rPr lang="en-US" sz="900" b="1" dirty="0">
                <a:solidFill>
                  <a:srgbClr val="202124"/>
                </a:solidFill>
                <a:latin typeface="Arial" pitchFamily="34" charset="0"/>
                <a:ea typeface="Arial" pitchFamily="34" charset="-122"/>
                <a:cs typeface="Arial" pitchFamily="34" charset="-120"/>
              </a:rPr>
              <a:t>Sovereignty and operations: </a:t>
            </a:r>
            <a:pPr indent="0" marL="0">
              <a:lnSpc>
                <a:spcPct val="105000"/>
              </a:lnSpc>
              <a:buNone/>
            </a:pPr>
            <a:r>
              <a:rPr lang="en-US" sz="900" dirty="0">
                <a:solidFill>
                  <a:srgbClr val="5F6368"/>
                </a:solidFill>
                <a:latin typeface="Arial" pitchFamily="34" charset="0"/>
                <a:ea typeface="Arial" pitchFamily="34" charset="-122"/>
                <a:cs typeface="Arial" pitchFamily="34" charset="-120"/>
              </a:rPr>
              <a:t>PHI at rest in me-central1 under an Assured Workloads Qatar data boundary · VPC Service Controls · CMEK · least-privilege service accounts · Cloud Audit Logs · Gemini served from the global endpoint on pseudonymised prompts only.</a:t>
            </a:r>
            <a:endParaRPr lang="en-US" sz="900" dirty="0"/>
          </a:p>
        </p:txBody>
      </p:sp>
      <p:sp>
        <p:nvSpPr>
          <p:cNvPr id="82" name="Text 72"/>
          <p:cNvSpPr txBox="1"/>
          <p:nvPr/>
        </p:nvSpPr>
        <p:spPr>
          <a:xfrm>
            <a:off x="548640" y="6446520"/>
            <a:ext cx="9144000" cy="228600"/>
          </a:xfrm>
          <a:prstGeom prst="rect">
            <a:avLst/>
          </a:prstGeom>
          <a:noFill/>
          <a:ln/>
        </p:spPr>
        <p:txBody>
          <a:bodyPr wrap="square" lIns="0" tIns="0" rIns="0" bIns="0" rtlCol="0" anchor="t"/>
          <a:lstStyle/>
          <a:p>
            <a:pPr indent="0" marL="0">
              <a:buNone/>
            </a:pPr>
            <a:r>
              <a:rPr lang="en-US" sz="850" dirty="0">
                <a:solidFill>
                  <a:srgbClr val="9AA0A6"/>
                </a:solidFill>
                <a:latin typeface="Arial" pitchFamily="34" charset="0"/>
                <a:ea typeface="Arial" pitchFamily="34" charset="-122"/>
                <a:cs typeface="Arial" pitchFamily="34" charset="-120"/>
              </a:rPr>
              <a:t>Pattern: Google Cloud Architecture Center, "RAG infrastructure for generative AI using Gemini Enterprise and Agent Platform"</a:t>
            </a:r>
            <a:endParaRPr lang="en-US" sz="850" dirty="0"/>
          </a:p>
        </p:txBody>
      </p:sp>
      <p:sp>
        <p:nvSpPr>
          <p:cNvPr id="83" name="Text 73"/>
          <p:cNvSpPr txBox="1"/>
          <p:nvPr/>
        </p:nvSpPr>
        <p:spPr>
          <a:xfrm>
            <a:off x="11155680" y="6446520"/>
            <a:ext cx="457200" cy="228600"/>
          </a:xfrm>
          <a:prstGeom prst="rect">
            <a:avLst/>
          </a:prstGeom>
          <a:noFill/>
          <a:ln/>
        </p:spPr>
        <p:txBody>
          <a:bodyPr wrap="square" lIns="0" tIns="0" rIns="0" bIns="0" rtlCol="0" anchor="t"/>
          <a:lstStyle/>
          <a:p>
            <a:pPr algn="r" indent="0" marL="0">
              <a:buNone/>
            </a:pPr>
            <a:r>
              <a:rPr lang="en-US" sz="850" dirty="0">
                <a:solidFill>
                  <a:srgbClr val="9AA0A6"/>
                </a:solidFill>
                <a:latin typeface="Arial" pitchFamily="34" charset="0"/>
                <a:ea typeface="Arial" pitchFamily="34" charset="-122"/>
                <a:cs typeface="Arial" pitchFamily="34" charset="-120"/>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457200"/>
            <a:ext cx="11064240" cy="868680"/>
          </a:xfrm>
          <a:prstGeom prst="rect">
            <a:avLst/>
          </a:prstGeom>
          <a:noFill/>
          <a:ln/>
        </p:spPr>
        <p:txBody>
          <a:bodyPr wrap="square" lIns="0" tIns="0" rIns="0" bIns="0" rtlCol="0" anchor="t"/>
          <a:lstStyle/>
          <a:p>
            <a:pPr indent="0" marL="0">
              <a:lnSpc>
                <a:spcPct val="105000"/>
              </a:lnSpc>
              <a:buNone/>
            </a:pPr>
            <a:r>
              <a:rPr lang="en-US" sz="2600" b="1" dirty="0">
                <a:solidFill>
                  <a:srgbClr val="202124"/>
                </a:solidFill>
                <a:latin typeface="Arial" pitchFamily="34" charset="0"/>
                <a:ea typeface="Arial" pitchFamily="34" charset="-122"/>
                <a:cs typeface="Arial" pitchFamily="34" charset="-120"/>
              </a:rPr>
              <a:t>Technical view: the request path, the data path, and how it fails safely</a:t>
            </a:r>
            <a:endParaRPr lang="en-US" sz="2600" dirty="0"/>
          </a:p>
        </p:txBody>
      </p:sp>
      <p:sp>
        <p:nvSpPr>
          <p:cNvPr id="3" name="Text 1"/>
          <p:cNvSpPr txBox="1"/>
          <p:nvPr/>
        </p:nvSpPr>
        <p:spPr>
          <a:xfrm>
            <a:off x="548640" y="1298448"/>
            <a:ext cx="11064240" cy="320040"/>
          </a:xfrm>
          <a:prstGeom prst="rect">
            <a:avLst/>
          </a:prstGeom>
          <a:noFill/>
          <a:ln/>
        </p:spPr>
        <p:txBody>
          <a:bodyPr wrap="square" lIns="0" tIns="0" rIns="0" bIns="0" rtlCol="0" anchor="t"/>
          <a:lstStyle/>
          <a:p>
            <a:pPr indent="0" marL="0">
              <a:buNone/>
            </a:pPr>
            <a:r>
              <a:rPr lang="en-US" sz="1300" dirty="0">
                <a:solidFill>
                  <a:srgbClr val="5F6368"/>
                </a:solidFill>
                <a:latin typeface="Arial" pitchFamily="34" charset="0"/>
                <a:ea typeface="Arial" pitchFamily="34" charset="-122"/>
                <a:cs typeface="Arial" pitchFamily="34" charset="-120"/>
              </a:rPr>
              <a:t>Synchronous per question; batch per population; every component regional in me-central1 and zone-redundant.</a:t>
            </a:r>
            <a:endParaRPr lang="en-US" sz="1300" dirty="0"/>
          </a:p>
        </p:txBody>
      </p:sp>
      <p:sp>
        <p:nvSpPr>
          <p:cNvPr id="4" name="Shape 2"/>
          <p:cNvSpPr/>
          <p:nvPr/>
        </p:nvSpPr>
        <p:spPr>
          <a:xfrm>
            <a:off x="548640" y="1737360"/>
            <a:ext cx="11064240" cy="1463040"/>
          </a:xfrm>
          <a:prstGeom prst="roundRect">
            <a:avLst>
              <a:gd name="adj" fmla="val 7500"/>
            </a:avLst>
          </a:prstGeom>
          <a:solidFill>
            <a:srgbClr val="FFFFFF">
              <a:alpha val="0"/>
            </a:srgbClr>
          </a:solidFill>
          <a:ln w="12700">
            <a:solidFill>
              <a:srgbClr val="4285F4"/>
            </a:solidFill>
            <a:prstDash val="dash"/>
          </a:ln>
        </p:spPr>
      </p:sp>
      <p:sp>
        <p:nvSpPr>
          <p:cNvPr id="5" name="Text 3"/>
          <p:cNvSpPr txBox="1"/>
          <p:nvPr/>
        </p:nvSpPr>
        <p:spPr>
          <a:xfrm>
            <a:off x="731520" y="1828800"/>
            <a:ext cx="7315200" cy="201168"/>
          </a:xfrm>
          <a:prstGeom prst="rect">
            <a:avLst/>
          </a:prstGeom>
          <a:noFill/>
          <a:ln/>
        </p:spPr>
        <p:txBody>
          <a:bodyPr wrap="square" lIns="0" tIns="0" rIns="0" bIns="0" rtlCol="0" anchor="t"/>
          <a:lstStyle/>
          <a:p>
            <a:pPr indent="0" marL="0">
              <a:buNone/>
            </a:pPr>
            <a:r>
              <a:rPr lang="en-US" sz="850" b="1" spc="150" kern="0" dirty="0">
                <a:solidFill>
                  <a:srgbClr val="1A73E8"/>
                </a:solidFill>
                <a:latin typeface="Arial" pitchFamily="34" charset="0"/>
                <a:ea typeface="Arial" pitchFamily="34" charset="-122"/>
                <a:cs typeface="Arial" pitchFamily="34" charset="-120"/>
              </a:rPr>
              <a:t>REQUEST PATH: ONE QUESTION, SYNCHRONOUS, P95 UNDER 15 SECONDS</a:t>
            </a:r>
            <a:endParaRPr lang="en-US" sz="850" dirty="0"/>
          </a:p>
        </p:txBody>
      </p:sp>
      <p:sp>
        <p:nvSpPr>
          <p:cNvPr id="6" name="Shape 4"/>
          <p:cNvSpPr/>
          <p:nvPr/>
        </p:nvSpPr>
        <p:spPr>
          <a:xfrm>
            <a:off x="731520" y="2121408"/>
            <a:ext cx="237744" cy="237744"/>
          </a:xfrm>
          <a:prstGeom prst="ellipse">
            <a:avLst/>
          </a:prstGeom>
          <a:solidFill>
            <a:srgbClr val="1A73E8"/>
          </a:solidFill>
          <a:ln w="12700">
            <a:solidFill>
              <a:srgbClr val="1A73E8"/>
            </a:solidFill>
            <a:prstDash val="solid"/>
          </a:ln>
        </p:spPr>
      </p:sp>
      <p:sp>
        <p:nvSpPr>
          <p:cNvPr id="7" name="Text 5"/>
          <p:cNvSpPr txBox="1"/>
          <p:nvPr/>
        </p:nvSpPr>
        <p:spPr>
          <a:xfrm>
            <a:off x="731520" y="212140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8" name="Shape 6"/>
          <p:cNvSpPr/>
          <p:nvPr/>
        </p:nvSpPr>
        <p:spPr>
          <a:xfrm>
            <a:off x="1024128" y="2103120"/>
            <a:ext cx="1783080" cy="987552"/>
          </a:xfrm>
          <a:prstGeom prst="roundRect">
            <a:avLst>
              <a:gd name="adj" fmla="val 5556"/>
            </a:avLst>
          </a:prstGeom>
          <a:solidFill>
            <a:srgbClr val="FFFFFF"/>
          </a:solidFill>
          <a:ln w="9525">
            <a:solidFill>
              <a:srgbClr val="DADCE0"/>
            </a:solidFill>
            <a:prstDash val="solid"/>
          </a:ln>
        </p:spPr>
      </p:sp>
      <p:pic>
        <p:nvPicPr>
          <p:cNvPr id="9" name="Image 0" descr="preencoded.png">    </p:cNvPr>
          <p:cNvPicPr>
            <a:picLocks noChangeAspect="1"/>
          </p:cNvPicPr>
          <p:nvPr/>
        </p:nvPicPr>
        <p:blipFill>
          <a:blip r:embed="rId1"/>
          <a:stretch>
            <a:fillRect/>
          </a:stretch>
        </p:blipFill>
        <p:spPr>
          <a:xfrm>
            <a:off x="1133856" y="2203704"/>
            <a:ext cx="237744" cy="237744"/>
          </a:xfrm>
          <a:prstGeom prst="rect">
            <a:avLst/>
          </a:prstGeom>
        </p:spPr>
      </p:pic>
      <p:sp>
        <p:nvSpPr>
          <p:cNvPr id="10" name="Text 7"/>
          <p:cNvSpPr txBox="1"/>
          <p:nvPr/>
        </p:nvSpPr>
        <p:spPr>
          <a:xfrm>
            <a:off x="1444752" y="2176272"/>
            <a:ext cx="1289304" cy="274320"/>
          </a:xfrm>
          <a:prstGeom prst="rect">
            <a:avLst/>
          </a:prstGeom>
          <a:noFill/>
          <a:ln/>
        </p:spPr>
        <p:txBody>
          <a:bodyPr wrap="square" lIns="0" tIns="0" rIns="0" bIns="0" rtlCol="0" anchor="t"/>
          <a:lstStyle/>
          <a:p>
            <a:pPr indent="0" marL="0">
              <a:buNone/>
            </a:pPr>
            <a:r>
              <a:rPr lang="en-US" sz="950" b="1" dirty="0">
                <a:solidFill>
                  <a:srgbClr val="202124"/>
                </a:solidFill>
                <a:latin typeface="Arial" pitchFamily="34" charset="0"/>
                <a:ea typeface="Arial" pitchFamily="34" charset="-122"/>
                <a:cs typeface="Arial" pitchFamily="34" charset="-120"/>
              </a:rPr>
              <a:t>User</a:t>
            </a:r>
            <a:endParaRPr lang="en-US" sz="950" dirty="0"/>
          </a:p>
        </p:txBody>
      </p:sp>
      <p:sp>
        <p:nvSpPr>
          <p:cNvPr id="11" name="Text 8"/>
          <p:cNvSpPr txBox="1"/>
          <p:nvPr/>
        </p:nvSpPr>
        <p:spPr>
          <a:xfrm>
            <a:off x="1133856" y="2432304"/>
            <a:ext cx="1600200" cy="621792"/>
          </a:xfrm>
          <a:prstGeom prst="rect">
            <a:avLst/>
          </a:prstGeom>
          <a:noFill/>
          <a:ln/>
        </p:spPr>
        <p:txBody>
          <a:bodyPr wrap="square" lIns="0" tIns="0" rIns="0" bIns="0" rtlCol="0" anchor="t"/>
          <a:lstStyle/>
          <a:p>
            <a:pPr indent="0" marL="0">
              <a:lnSpc>
                <a:spcPct val="105000"/>
              </a:lnSpc>
              <a:buNone/>
            </a:pPr>
            <a:r>
              <a:rPr lang="en-US" sz="750" dirty="0">
                <a:solidFill>
                  <a:srgbClr val="5F6368"/>
                </a:solidFill>
                <a:latin typeface="Arial" pitchFamily="34" charset="0"/>
                <a:ea typeface="Arial" pitchFamily="34" charset="-122"/>
                <a:cs typeface="Arial" pitchFamily="34" charset="-120"/>
              </a:rPr>
              <a:t>web or voice · Arabic / English · Identity-Aware Proxy in front</a:t>
            </a:r>
            <a:endParaRPr lang="en-US" sz="750" dirty="0"/>
          </a:p>
        </p:txBody>
      </p:sp>
      <p:sp>
        <p:nvSpPr>
          <p:cNvPr id="12" name="Shape 9"/>
          <p:cNvSpPr/>
          <p:nvPr/>
        </p:nvSpPr>
        <p:spPr>
          <a:xfrm>
            <a:off x="2807208" y="2596896"/>
            <a:ext cx="137160" cy="0"/>
          </a:xfrm>
          <a:prstGeom prst="line">
            <a:avLst/>
          </a:prstGeom>
          <a:noFill/>
          <a:ln w="15875">
            <a:solidFill>
              <a:srgbClr val="5F6368"/>
            </a:solidFill>
            <a:prstDash val="solid"/>
            <a:tailEnd type="triangle"/>
          </a:ln>
        </p:spPr>
      </p:sp>
      <p:sp>
        <p:nvSpPr>
          <p:cNvPr id="13" name="Shape 10"/>
          <p:cNvSpPr/>
          <p:nvPr/>
        </p:nvSpPr>
        <p:spPr>
          <a:xfrm>
            <a:off x="2944368" y="2121408"/>
            <a:ext cx="237744" cy="237744"/>
          </a:xfrm>
          <a:prstGeom prst="ellipse">
            <a:avLst/>
          </a:prstGeom>
          <a:solidFill>
            <a:srgbClr val="1A73E8"/>
          </a:solidFill>
          <a:ln w="12700">
            <a:solidFill>
              <a:srgbClr val="1A73E8"/>
            </a:solidFill>
            <a:prstDash val="solid"/>
          </a:ln>
        </p:spPr>
      </p:sp>
      <p:sp>
        <p:nvSpPr>
          <p:cNvPr id="14" name="Text 11"/>
          <p:cNvSpPr txBox="1"/>
          <p:nvPr/>
        </p:nvSpPr>
        <p:spPr>
          <a:xfrm>
            <a:off x="2944368" y="212140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5" name="Shape 12"/>
          <p:cNvSpPr/>
          <p:nvPr/>
        </p:nvSpPr>
        <p:spPr>
          <a:xfrm>
            <a:off x="3236976" y="2103120"/>
            <a:ext cx="1783080" cy="987552"/>
          </a:xfrm>
          <a:prstGeom prst="roundRect">
            <a:avLst>
              <a:gd name="adj" fmla="val 5556"/>
            </a:avLst>
          </a:prstGeom>
          <a:solidFill>
            <a:srgbClr val="FFFFFF"/>
          </a:solidFill>
          <a:ln w="9525">
            <a:solidFill>
              <a:srgbClr val="DADCE0"/>
            </a:solidFill>
            <a:prstDash val="solid"/>
          </a:ln>
        </p:spPr>
      </p:sp>
      <p:pic>
        <p:nvPicPr>
          <p:cNvPr id="16" name="Image 1" descr="preencoded.png">    </p:cNvPr>
          <p:cNvPicPr>
            <a:picLocks noChangeAspect="1"/>
          </p:cNvPicPr>
          <p:nvPr/>
        </p:nvPicPr>
        <p:blipFill>
          <a:blip r:embed="rId2"/>
          <a:stretch>
            <a:fillRect/>
          </a:stretch>
        </p:blipFill>
        <p:spPr>
          <a:xfrm>
            <a:off x="3346704" y="2203704"/>
            <a:ext cx="237744" cy="237744"/>
          </a:xfrm>
          <a:prstGeom prst="rect">
            <a:avLst/>
          </a:prstGeom>
        </p:spPr>
      </p:pic>
      <p:sp>
        <p:nvSpPr>
          <p:cNvPr id="17" name="Text 13"/>
          <p:cNvSpPr txBox="1"/>
          <p:nvPr/>
        </p:nvSpPr>
        <p:spPr>
          <a:xfrm>
            <a:off x="3657600" y="2176272"/>
            <a:ext cx="1289304" cy="274320"/>
          </a:xfrm>
          <a:prstGeom prst="rect">
            <a:avLst/>
          </a:prstGeom>
          <a:noFill/>
          <a:ln/>
        </p:spPr>
        <p:txBody>
          <a:bodyPr wrap="square" lIns="0" tIns="0" rIns="0" bIns="0" rtlCol="0" anchor="t"/>
          <a:lstStyle/>
          <a:p>
            <a:pPr indent="0" marL="0">
              <a:buNone/>
            </a:pPr>
            <a:r>
              <a:rPr lang="en-US" sz="950" b="1" dirty="0">
                <a:solidFill>
                  <a:srgbClr val="202124"/>
                </a:solidFill>
                <a:latin typeface="Arial" pitchFamily="34" charset="0"/>
                <a:ea typeface="Arial" pitchFamily="34" charset="-122"/>
                <a:cs typeface="Arial" pitchFamily="34" charset="-120"/>
              </a:rPr>
              <a:t>Cloud Run: app + API</a:t>
            </a:r>
            <a:endParaRPr lang="en-US" sz="950" dirty="0"/>
          </a:p>
        </p:txBody>
      </p:sp>
      <p:sp>
        <p:nvSpPr>
          <p:cNvPr id="18" name="Text 14"/>
          <p:cNvSpPr txBox="1"/>
          <p:nvPr/>
        </p:nvSpPr>
        <p:spPr>
          <a:xfrm>
            <a:off x="3346704" y="2432304"/>
            <a:ext cx="1600200" cy="621792"/>
          </a:xfrm>
          <a:prstGeom prst="rect">
            <a:avLst/>
          </a:prstGeom>
          <a:noFill/>
          <a:ln/>
        </p:spPr>
        <p:txBody>
          <a:bodyPr wrap="square" lIns="0" tIns="0" rIns="0" bIns="0" rtlCol="0" anchor="t"/>
          <a:lstStyle/>
          <a:p>
            <a:pPr indent="0" marL="0">
              <a:lnSpc>
                <a:spcPct val="105000"/>
              </a:lnSpc>
              <a:buNone/>
            </a:pPr>
            <a:r>
              <a:rPr lang="en-US" sz="750" dirty="0">
                <a:solidFill>
                  <a:srgbClr val="5F6368"/>
                </a:solidFill>
                <a:latin typeface="Arial" pitchFamily="34" charset="0"/>
                <a:ea typeface="Arial" pitchFamily="34" charset="-122"/>
                <a:cs typeface="Arial" pitchFamily="34" charset="-120"/>
              </a:rPr>
              <a:t>React front end · FastAPI · streams the trace as NDJSON</a:t>
            </a:r>
            <a:endParaRPr lang="en-US" sz="750" dirty="0"/>
          </a:p>
        </p:txBody>
      </p:sp>
      <p:sp>
        <p:nvSpPr>
          <p:cNvPr id="19" name="Shape 15"/>
          <p:cNvSpPr/>
          <p:nvPr/>
        </p:nvSpPr>
        <p:spPr>
          <a:xfrm>
            <a:off x="5020056" y="2596896"/>
            <a:ext cx="137160" cy="0"/>
          </a:xfrm>
          <a:prstGeom prst="line">
            <a:avLst/>
          </a:prstGeom>
          <a:noFill/>
          <a:ln w="15875">
            <a:solidFill>
              <a:srgbClr val="5F6368"/>
            </a:solidFill>
            <a:prstDash val="solid"/>
            <a:tailEnd type="triangle"/>
          </a:ln>
        </p:spPr>
      </p:sp>
      <p:sp>
        <p:nvSpPr>
          <p:cNvPr id="20" name="Shape 16"/>
          <p:cNvSpPr/>
          <p:nvPr/>
        </p:nvSpPr>
        <p:spPr>
          <a:xfrm>
            <a:off x="5157216" y="2121408"/>
            <a:ext cx="237744" cy="237744"/>
          </a:xfrm>
          <a:prstGeom prst="ellipse">
            <a:avLst/>
          </a:prstGeom>
          <a:solidFill>
            <a:srgbClr val="1A73E8"/>
          </a:solidFill>
          <a:ln w="12700">
            <a:solidFill>
              <a:srgbClr val="1A73E8"/>
            </a:solidFill>
            <a:prstDash val="solid"/>
          </a:ln>
        </p:spPr>
      </p:sp>
      <p:sp>
        <p:nvSpPr>
          <p:cNvPr id="21" name="Text 17"/>
          <p:cNvSpPr txBox="1"/>
          <p:nvPr/>
        </p:nvSpPr>
        <p:spPr>
          <a:xfrm>
            <a:off x="5157216" y="212140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22" name="Shape 18"/>
          <p:cNvSpPr/>
          <p:nvPr/>
        </p:nvSpPr>
        <p:spPr>
          <a:xfrm>
            <a:off x="5449824" y="2103120"/>
            <a:ext cx="1783080" cy="987552"/>
          </a:xfrm>
          <a:prstGeom prst="roundRect">
            <a:avLst>
              <a:gd name="adj" fmla="val 5556"/>
            </a:avLst>
          </a:prstGeom>
          <a:solidFill>
            <a:srgbClr val="FFFFFF"/>
          </a:solidFill>
          <a:ln w="9525">
            <a:solidFill>
              <a:srgbClr val="DADCE0"/>
            </a:solidFill>
            <a:prstDash val="solid"/>
          </a:ln>
        </p:spPr>
      </p:sp>
      <p:pic>
        <p:nvPicPr>
          <p:cNvPr id="23" name="Image 2" descr="preencoded.png">    </p:cNvPr>
          <p:cNvPicPr>
            <a:picLocks noChangeAspect="1"/>
          </p:cNvPicPr>
          <p:nvPr/>
        </p:nvPicPr>
        <p:blipFill>
          <a:blip r:embed="rId3"/>
          <a:stretch>
            <a:fillRect/>
          </a:stretch>
        </p:blipFill>
        <p:spPr>
          <a:xfrm>
            <a:off x="5559552" y="2203704"/>
            <a:ext cx="237744" cy="237744"/>
          </a:xfrm>
          <a:prstGeom prst="rect">
            <a:avLst/>
          </a:prstGeom>
        </p:spPr>
      </p:pic>
      <p:sp>
        <p:nvSpPr>
          <p:cNvPr id="24" name="Text 19"/>
          <p:cNvSpPr txBox="1"/>
          <p:nvPr/>
        </p:nvSpPr>
        <p:spPr>
          <a:xfrm>
            <a:off x="5870448" y="2176272"/>
            <a:ext cx="1289304" cy="274320"/>
          </a:xfrm>
          <a:prstGeom prst="rect">
            <a:avLst/>
          </a:prstGeom>
          <a:noFill/>
          <a:ln/>
        </p:spPr>
        <p:txBody>
          <a:bodyPr wrap="square" lIns="0" tIns="0" rIns="0" bIns="0" rtlCol="0" anchor="t"/>
          <a:lstStyle/>
          <a:p>
            <a:pPr indent="0" marL="0">
              <a:buNone/>
            </a:pPr>
            <a:r>
              <a:rPr lang="en-US" sz="950" b="1" dirty="0">
                <a:solidFill>
                  <a:srgbClr val="202124"/>
                </a:solidFill>
                <a:latin typeface="Arial" pitchFamily="34" charset="0"/>
                <a:ea typeface="Arial" pitchFamily="34" charset="-122"/>
                <a:cs typeface="Arial" pitchFamily="34" charset="-120"/>
              </a:rPr>
              <a:t>ADK supervisor</a:t>
            </a:r>
            <a:endParaRPr lang="en-US" sz="950" dirty="0"/>
          </a:p>
        </p:txBody>
      </p:sp>
      <p:sp>
        <p:nvSpPr>
          <p:cNvPr id="25" name="Text 20"/>
          <p:cNvSpPr txBox="1"/>
          <p:nvPr/>
        </p:nvSpPr>
        <p:spPr>
          <a:xfrm>
            <a:off x="5559552" y="2432304"/>
            <a:ext cx="1600200" cy="621792"/>
          </a:xfrm>
          <a:prstGeom prst="rect">
            <a:avLst/>
          </a:prstGeom>
          <a:noFill/>
          <a:ln/>
        </p:spPr>
        <p:txBody>
          <a:bodyPr wrap="square" lIns="0" tIns="0" rIns="0" bIns="0" rtlCol="0" anchor="t"/>
          <a:lstStyle/>
          <a:p>
            <a:pPr indent="0" marL="0">
              <a:lnSpc>
                <a:spcPct val="105000"/>
              </a:lnSpc>
              <a:buNone/>
            </a:pPr>
            <a:r>
              <a:rPr lang="en-US" sz="750" dirty="0">
                <a:solidFill>
                  <a:srgbClr val="5F6368"/>
                </a:solidFill>
                <a:latin typeface="Arial" pitchFamily="34" charset="0"/>
                <a:ea typeface="Arial" pitchFamily="34" charset="-122"/>
                <a:cs typeface="Arial" pitchFamily="34" charset="-120"/>
              </a:rPr>
              <a:t>Gemini Flash via Vertex AI · low thinking on routing turns · session in AlloyDB</a:t>
            </a:r>
            <a:endParaRPr lang="en-US" sz="750" dirty="0"/>
          </a:p>
        </p:txBody>
      </p:sp>
      <p:sp>
        <p:nvSpPr>
          <p:cNvPr id="26" name="Shape 21"/>
          <p:cNvSpPr/>
          <p:nvPr/>
        </p:nvSpPr>
        <p:spPr>
          <a:xfrm>
            <a:off x="7232904" y="2596896"/>
            <a:ext cx="137160" cy="0"/>
          </a:xfrm>
          <a:prstGeom prst="line">
            <a:avLst/>
          </a:prstGeom>
          <a:noFill/>
          <a:ln w="15875">
            <a:solidFill>
              <a:srgbClr val="5F6368"/>
            </a:solidFill>
            <a:prstDash val="solid"/>
            <a:tailEnd type="triangle"/>
          </a:ln>
        </p:spPr>
      </p:sp>
      <p:sp>
        <p:nvSpPr>
          <p:cNvPr id="27" name="Shape 22"/>
          <p:cNvSpPr/>
          <p:nvPr/>
        </p:nvSpPr>
        <p:spPr>
          <a:xfrm>
            <a:off x="7370064" y="2121408"/>
            <a:ext cx="237744" cy="237744"/>
          </a:xfrm>
          <a:prstGeom prst="ellipse">
            <a:avLst/>
          </a:prstGeom>
          <a:solidFill>
            <a:srgbClr val="1A73E8"/>
          </a:solidFill>
          <a:ln w="12700">
            <a:solidFill>
              <a:srgbClr val="1A73E8"/>
            </a:solidFill>
            <a:prstDash val="solid"/>
          </a:ln>
        </p:spPr>
      </p:sp>
      <p:sp>
        <p:nvSpPr>
          <p:cNvPr id="28" name="Text 23"/>
          <p:cNvSpPr txBox="1"/>
          <p:nvPr/>
        </p:nvSpPr>
        <p:spPr>
          <a:xfrm>
            <a:off x="7370064" y="212140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29" name="Shape 24"/>
          <p:cNvSpPr/>
          <p:nvPr/>
        </p:nvSpPr>
        <p:spPr>
          <a:xfrm>
            <a:off x="7662672" y="2103120"/>
            <a:ext cx="1783080" cy="987552"/>
          </a:xfrm>
          <a:prstGeom prst="roundRect">
            <a:avLst>
              <a:gd name="adj" fmla="val 5556"/>
            </a:avLst>
          </a:prstGeom>
          <a:solidFill>
            <a:srgbClr val="FFFFFF"/>
          </a:solidFill>
          <a:ln w="9525">
            <a:solidFill>
              <a:srgbClr val="DADCE0"/>
            </a:solidFill>
            <a:prstDash val="solid"/>
          </a:ln>
        </p:spPr>
      </p:sp>
      <p:pic>
        <p:nvPicPr>
          <p:cNvPr id="30" name="Image 3" descr="preencoded.png">    </p:cNvPr>
          <p:cNvPicPr>
            <a:picLocks noChangeAspect="1"/>
          </p:cNvPicPr>
          <p:nvPr/>
        </p:nvPicPr>
        <p:blipFill>
          <a:blip r:embed="rId4"/>
          <a:stretch>
            <a:fillRect/>
          </a:stretch>
        </p:blipFill>
        <p:spPr>
          <a:xfrm>
            <a:off x="7772400" y="2203704"/>
            <a:ext cx="237744" cy="237744"/>
          </a:xfrm>
          <a:prstGeom prst="rect">
            <a:avLst/>
          </a:prstGeom>
        </p:spPr>
      </p:pic>
      <p:sp>
        <p:nvSpPr>
          <p:cNvPr id="31" name="Text 25"/>
          <p:cNvSpPr txBox="1"/>
          <p:nvPr/>
        </p:nvSpPr>
        <p:spPr>
          <a:xfrm>
            <a:off x="8083296" y="2176272"/>
            <a:ext cx="1289304" cy="274320"/>
          </a:xfrm>
          <a:prstGeom prst="rect">
            <a:avLst/>
          </a:prstGeom>
          <a:noFill/>
          <a:ln/>
        </p:spPr>
        <p:txBody>
          <a:bodyPr wrap="square" lIns="0" tIns="0" rIns="0" bIns="0" rtlCol="0" anchor="t"/>
          <a:lstStyle/>
          <a:p>
            <a:pPr indent="0" marL="0">
              <a:buNone/>
            </a:pPr>
            <a:r>
              <a:rPr lang="en-US" sz="950" b="1" dirty="0">
                <a:solidFill>
                  <a:srgbClr val="202124"/>
                </a:solidFill>
                <a:latin typeface="Arial" pitchFamily="34" charset="0"/>
                <a:ea typeface="Arial" pitchFamily="34" charset="-122"/>
                <a:cs typeface="Arial" pitchFamily="34" charset="-120"/>
              </a:rPr>
              <a:t>Specialist tools</a:t>
            </a:r>
            <a:endParaRPr lang="en-US" sz="950" dirty="0"/>
          </a:p>
        </p:txBody>
      </p:sp>
      <p:sp>
        <p:nvSpPr>
          <p:cNvPr id="32" name="Text 26"/>
          <p:cNvSpPr txBox="1"/>
          <p:nvPr/>
        </p:nvSpPr>
        <p:spPr>
          <a:xfrm>
            <a:off x="7772400" y="2432304"/>
            <a:ext cx="1600200" cy="621792"/>
          </a:xfrm>
          <a:prstGeom prst="rect">
            <a:avLst/>
          </a:prstGeom>
          <a:noFill/>
          <a:ln/>
        </p:spPr>
        <p:txBody>
          <a:bodyPr wrap="square" lIns="0" tIns="0" rIns="0" bIns="0" rtlCol="0" anchor="t"/>
          <a:lstStyle/>
          <a:p>
            <a:pPr indent="0" marL="0">
              <a:lnSpc>
                <a:spcPct val="105000"/>
              </a:lnSpc>
              <a:buNone/>
            </a:pPr>
            <a:r>
              <a:rPr lang="en-US" sz="750" dirty="0">
                <a:solidFill>
                  <a:srgbClr val="5F6368"/>
                </a:solidFill>
                <a:latin typeface="Arial" pitchFamily="34" charset="0"/>
                <a:ea typeface="Arial" pitchFamily="34" charset="-122"/>
                <a:cs typeface="Arial" pitchFamily="34" charset="-120"/>
              </a:rPr>
              <a:t>MCP Toolbox (BigQuery) · Nabd MCP (Cloud Run) · Vertex endpoint · RAG Engine</a:t>
            </a:r>
            <a:endParaRPr lang="en-US" sz="750" dirty="0"/>
          </a:p>
        </p:txBody>
      </p:sp>
      <p:sp>
        <p:nvSpPr>
          <p:cNvPr id="33" name="Shape 27"/>
          <p:cNvSpPr/>
          <p:nvPr/>
        </p:nvSpPr>
        <p:spPr>
          <a:xfrm>
            <a:off x="9445752" y="2596896"/>
            <a:ext cx="137160" cy="0"/>
          </a:xfrm>
          <a:prstGeom prst="line">
            <a:avLst/>
          </a:prstGeom>
          <a:noFill/>
          <a:ln w="15875">
            <a:solidFill>
              <a:srgbClr val="5F6368"/>
            </a:solidFill>
            <a:prstDash val="solid"/>
            <a:tailEnd type="triangle"/>
          </a:ln>
        </p:spPr>
      </p:sp>
      <p:sp>
        <p:nvSpPr>
          <p:cNvPr id="34" name="Shape 28"/>
          <p:cNvSpPr/>
          <p:nvPr/>
        </p:nvSpPr>
        <p:spPr>
          <a:xfrm>
            <a:off x="9582912" y="2121408"/>
            <a:ext cx="237744" cy="237744"/>
          </a:xfrm>
          <a:prstGeom prst="ellipse">
            <a:avLst/>
          </a:prstGeom>
          <a:solidFill>
            <a:srgbClr val="1A73E8"/>
          </a:solidFill>
          <a:ln w="12700">
            <a:solidFill>
              <a:srgbClr val="1A73E8"/>
            </a:solidFill>
            <a:prstDash val="solid"/>
          </a:ln>
        </p:spPr>
      </p:sp>
      <p:sp>
        <p:nvSpPr>
          <p:cNvPr id="35" name="Text 29"/>
          <p:cNvSpPr txBox="1"/>
          <p:nvPr/>
        </p:nvSpPr>
        <p:spPr>
          <a:xfrm>
            <a:off x="9582912" y="2121408"/>
            <a:ext cx="237744" cy="237744"/>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36" name="Shape 30"/>
          <p:cNvSpPr/>
          <p:nvPr/>
        </p:nvSpPr>
        <p:spPr>
          <a:xfrm>
            <a:off x="9875520" y="2103120"/>
            <a:ext cx="1783080" cy="987552"/>
          </a:xfrm>
          <a:prstGeom prst="roundRect">
            <a:avLst>
              <a:gd name="adj" fmla="val 5556"/>
            </a:avLst>
          </a:prstGeom>
          <a:solidFill>
            <a:srgbClr val="FFFFFF"/>
          </a:solidFill>
          <a:ln w="9525">
            <a:solidFill>
              <a:srgbClr val="DADCE0"/>
            </a:solidFill>
            <a:prstDash val="solid"/>
          </a:ln>
        </p:spPr>
      </p:sp>
      <p:pic>
        <p:nvPicPr>
          <p:cNvPr id="37" name="Image 4" descr="preencoded.png">    </p:cNvPr>
          <p:cNvPicPr>
            <a:picLocks noChangeAspect="1"/>
          </p:cNvPicPr>
          <p:nvPr/>
        </p:nvPicPr>
        <p:blipFill>
          <a:blip r:embed="rId5"/>
          <a:stretch>
            <a:fillRect/>
          </a:stretch>
        </p:blipFill>
        <p:spPr>
          <a:xfrm>
            <a:off x="9985248" y="2203704"/>
            <a:ext cx="237744" cy="237744"/>
          </a:xfrm>
          <a:prstGeom prst="rect">
            <a:avLst/>
          </a:prstGeom>
        </p:spPr>
      </p:pic>
      <p:sp>
        <p:nvSpPr>
          <p:cNvPr id="38" name="Text 31"/>
          <p:cNvSpPr txBox="1"/>
          <p:nvPr/>
        </p:nvSpPr>
        <p:spPr>
          <a:xfrm>
            <a:off x="10296144" y="2176272"/>
            <a:ext cx="1289304" cy="274320"/>
          </a:xfrm>
          <a:prstGeom prst="rect">
            <a:avLst/>
          </a:prstGeom>
          <a:noFill/>
          <a:ln/>
        </p:spPr>
        <p:txBody>
          <a:bodyPr wrap="square" lIns="0" tIns="0" rIns="0" bIns="0" rtlCol="0" anchor="t"/>
          <a:lstStyle/>
          <a:p>
            <a:pPr indent="0" marL="0">
              <a:buNone/>
            </a:pPr>
            <a:r>
              <a:rPr lang="en-US" sz="950" b="1" dirty="0">
                <a:solidFill>
                  <a:srgbClr val="202124"/>
                </a:solidFill>
                <a:latin typeface="Arial" pitchFamily="34" charset="0"/>
                <a:ea typeface="Arial" pitchFamily="34" charset="-122"/>
                <a:cs typeface="Arial" pitchFamily="34" charset="-120"/>
              </a:rPr>
              <a:t>Answer and action</a:t>
            </a:r>
            <a:endParaRPr lang="en-US" sz="950" dirty="0"/>
          </a:p>
        </p:txBody>
      </p:sp>
      <p:sp>
        <p:nvSpPr>
          <p:cNvPr id="39" name="Text 32"/>
          <p:cNvSpPr txBox="1"/>
          <p:nvPr/>
        </p:nvSpPr>
        <p:spPr>
          <a:xfrm>
            <a:off x="9985248" y="2432304"/>
            <a:ext cx="1600200" cy="621792"/>
          </a:xfrm>
          <a:prstGeom prst="rect">
            <a:avLst/>
          </a:prstGeom>
          <a:noFill/>
          <a:ln/>
        </p:spPr>
        <p:txBody>
          <a:bodyPr wrap="square" lIns="0" tIns="0" rIns="0" bIns="0" rtlCol="0" anchor="t"/>
          <a:lstStyle/>
          <a:p>
            <a:pPr indent="0" marL="0">
              <a:lnSpc>
                <a:spcPct val="105000"/>
              </a:lnSpc>
              <a:buNone/>
            </a:pPr>
            <a:r>
              <a:rPr lang="en-US" sz="750" dirty="0">
                <a:solidFill>
                  <a:srgbClr val="5F6368"/>
                </a:solidFill>
                <a:latin typeface="Arial" pitchFamily="34" charset="0"/>
                <a:ea typeface="Arial" pitchFamily="34" charset="-122"/>
                <a:cs typeface="Arial" pitchFamily="34" charset="-120"/>
              </a:rPr>
              <a:t>trace + citations to the user · drafts to the queue · signed items as FHIR Task</a:t>
            </a:r>
            <a:endParaRPr lang="en-US" sz="750" dirty="0"/>
          </a:p>
        </p:txBody>
      </p:sp>
      <p:sp>
        <p:nvSpPr>
          <p:cNvPr id="40" name="Shape 33"/>
          <p:cNvSpPr/>
          <p:nvPr/>
        </p:nvSpPr>
        <p:spPr>
          <a:xfrm>
            <a:off x="548640" y="3337560"/>
            <a:ext cx="11064240" cy="1463040"/>
          </a:xfrm>
          <a:prstGeom prst="roundRect">
            <a:avLst>
              <a:gd name="adj" fmla="val 7500"/>
            </a:avLst>
          </a:prstGeom>
          <a:solidFill>
            <a:srgbClr val="FFFFFF">
              <a:alpha val="0"/>
            </a:srgbClr>
          </a:solidFill>
          <a:ln w="12700">
            <a:solidFill>
              <a:srgbClr val="FBBC04"/>
            </a:solidFill>
            <a:prstDash val="dash"/>
          </a:ln>
        </p:spPr>
      </p:sp>
      <p:sp>
        <p:nvSpPr>
          <p:cNvPr id="41" name="Text 34"/>
          <p:cNvSpPr txBox="1"/>
          <p:nvPr/>
        </p:nvSpPr>
        <p:spPr>
          <a:xfrm>
            <a:off x="731520" y="3429000"/>
            <a:ext cx="7315200" cy="201168"/>
          </a:xfrm>
          <a:prstGeom prst="rect">
            <a:avLst/>
          </a:prstGeom>
          <a:noFill/>
          <a:ln/>
        </p:spPr>
        <p:txBody>
          <a:bodyPr wrap="square" lIns="0" tIns="0" rIns="0" bIns="0" rtlCol="0" anchor="t"/>
          <a:lstStyle/>
          <a:p>
            <a:pPr indent="0" marL="0">
              <a:buNone/>
            </a:pPr>
            <a:r>
              <a:rPr lang="en-US" sz="850" b="1" spc="150" kern="0" dirty="0">
                <a:solidFill>
                  <a:srgbClr val="B06000"/>
                </a:solidFill>
                <a:latin typeface="Arial" pitchFamily="34" charset="0"/>
                <a:ea typeface="Arial" pitchFamily="34" charset="-122"/>
                <a:cs typeface="Arial" pitchFamily="34" charset="-120"/>
              </a:rPr>
              <a:t>DATA PATH: NIGHTLY BATCH FOR THE POPULATION, EVENTS FOR THE PATIENT</a:t>
            </a:r>
            <a:endParaRPr lang="en-US" sz="850" dirty="0"/>
          </a:p>
        </p:txBody>
      </p:sp>
      <p:sp>
        <p:nvSpPr>
          <p:cNvPr id="42" name="Shape 35"/>
          <p:cNvSpPr/>
          <p:nvPr/>
        </p:nvSpPr>
        <p:spPr>
          <a:xfrm>
            <a:off x="731520" y="3703320"/>
            <a:ext cx="2075688" cy="987552"/>
          </a:xfrm>
          <a:prstGeom prst="roundRect">
            <a:avLst>
              <a:gd name="adj" fmla="val 5556"/>
            </a:avLst>
          </a:prstGeom>
          <a:solidFill>
            <a:srgbClr val="FFFFFF"/>
          </a:solidFill>
          <a:ln w="9525">
            <a:solidFill>
              <a:srgbClr val="DADCE0"/>
            </a:solidFill>
            <a:prstDash val="solid"/>
          </a:ln>
        </p:spPr>
      </p:sp>
      <p:pic>
        <p:nvPicPr>
          <p:cNvPr id="43" name="Image 5" descr="preencoded.png">    </p:cNvPr>
          <p:cNvPicPr>
            <a:picLocks noChangeAspect="1"/>
          </p:cNvPicPr>
          <p:nvPr/>
        </p:nvPicPr>
        <p:blipFill>
          <a:blip r:embed="rId6"/>
          <a:stretch>
            <a:fillRect/>
          </a:stretch>
        </p:blipFill>
        <p:spPr>
          <a:xfrm>
            <a:off x="841248" y="3803904"/>
            <a:ext cx="237744" cy="237744"/>
          </a:xfrm>
          <a:prstGeom prst="rect">
            <a:avLst/>
          </a:prstGeom>
        </p:spPr>
      </p:pic>
      <p:sp>
        <p:nvSpPr>
          <p:cNvPr id="44" name="Text 36"/>
          <p:cNvSpPr txBox="1"/>
          <p:nvPr/>
        </p:nvSpPr>
        <p:spPr>
          <a:xfrm>
            <a:off x="1152144" y="3776472"/>
            <a:ext cx="1581912" cy="274320"/>
          </a:xfrm>
          <a:prstGeom prst="rect">
            <a:avLst/>
          </a:prstGeom>
          <a:noFill/>
          <a:ln/>
        </p:spPr>
        <p:txBody>
          <a:bodyPr wrap="square" lIns="0" tIns="0" rIns="0" bIns="0" rtlCol="0" anchor="t"/>
          <a:lstStyle/>
          <a:p>
            <a:pPr indent="0" marL="0">
              <a:buNone/>
            </a:pPr>
            <a:r>
              <a:rPr lang="en-US" sz="950" b="1" dirty="0">
                <a:solidFill>
                  <a:srgbClr val="202124"/>
                </a:solidFill>
                <a:latin typeface="Arial" pitchFamily="34" charset="0"/>
                <a:ea typeface="Arial" pitchFamily="34" charset="-122"/>
                <a:cs typeface="Arial" pitchFamily="34" charset="-120"/>
              </a:rPr>
              <a:t>Healthcare API FHIR store</a:t>
            </a:r>
            <a:endParaRPr lang="en-US" sz="950" dirty="0"/>
          </a:p>
        </p:txBody>
      </p:sp>
      <p:sp>
        <p:nvSpPr>
          <p:cNvPr id="45" name="Text 37"/>
          <p:cNvSpPr txBox="1"/>
          <p:nvPr/>
        </p:nvSpPr>
        <p:spPr>
          <a:xfrm>
            <a:off x="841248" y="4032504"/>
            <a:ext cx="1892808" cy="621792"/>
          </a:xfrm>
          <a:prstGeom prst="rect">
            <a:avLst/>
          </a:prstGeom>
          <a:noFill/>
          <a:ln/>
        </p:spPr>
        <p:txBody>
          <a:bodyPr wrap="square" lIns="0" tIns="0" rIns="0" bIns="0" rtlCol="0" anchor="t"/>
          <a:lstStyle/>
          <a:p>
            <a:pPr indent="0" marL="0">
              <a:lnSpc>
                <a:spcPct val="105000"/>
              </a:lnSpc>
              <a:buNone/>
            </a:pPr>
            <a:r>
              <a:rPr lang="en-US" sz="750" dirty="0">
                <a:solidFill>
                  <a:srgbClr val="5F6368"/>
                </a:solidFill>
                <a:latin typeface="Arial" pitchFamily="34" charset="0"/>
                <a:ea typeface="Arial" pitchFamily="34" charset="-122"/>
                <a:cs typeface="Arial" pitchFamily="34" charset="-120"/>
              </a:rPr>
              <a:t>HL7v2 and FHIR ingestion · consent · de-identification · Pub/Sub on every new resource</a:t>
            </a:r>
            <a:endParaRPr lang="en-US" sz="750" dirty="0"/>
          </a:p>
        </p:txBody>
      </p:sp>
      <p:sp>
        <p:nvSpPr>
          <p:cNvPr id="46" name="Shape 38"/>
          <p:cNvSpPr/>
          <p:nvPr/>
        </p:nvSpPr>
        <p:spPr>
          <a:xfrm>
            <a:off x="2807208" y="4197096"/>
            <a:ext cx="137160" cy="0"/>
          </a:xfrm>
          <a:prstGeom prst="line">
            <a:avLst/>
          </a:prstGeom>
          <a:noFill/>
          <a:ln w="15875">
            <a:solidFill>
              <a:srgbClr val="5F6368"/>
            </a:solidFill>
            <a:prstDash val="solid"/>
            <a:tailEnd type="triangle"/>
          </a:ln>
        </p:spPr>
      </p:sp>
      <p:sp>
        <p:nvSpPr>
          <p:cNvPr id="47" name="Shape 39"/>
          <p:cNvSpPr/>
          <p:nvPr/>
        </p:nvSpPr>
        <p:spPr>
          <a:xfrm>
            <a:off x="2944368" y="3703320"/>
            <a:ext cx="2075688" cy="987552"/>
          </a:xfrm>
          <a:prstGeom prst="roundRect">
            <a:avLst>
              <a:gd name="adj" fmla="val 5556"/>
            </a:avLst>
          </a:prstGeom>
          <a:solidFill>
            <a:srgbClr val="FFFFFF"/>
          </a:solidFill>
          <a:ln w="9525">
            <a:solidFill>
              <a:srgbClr val="DADCE0"/>
            </a:solidFill>
            <a:prstDash val="solid"/>
          </a:ln>
        </p:spPr>
      </p:sp>
      <p:pic>
        <p:nvPicPr>
          <p:cNvPr id="48" name="Image 6" descr="preencoded.png">    </p:cNvPr>
          <p:cNvPicPr>
            <a:picLocks noChangeAspect="1"/>
          </p:cNvPicPr>
          <p:nvPr/>
        </p:nvPicPr>
        <p:blipFill>
          <a:blip r:embed="rId7"/>
          <a:stretch>
            <a:fillRect/>
          </a:stretch>
        </p:blipFill>
        <p:spPr>
          <a:xfrm>
            <a:off x="3054096" y="3803904"/>
            <a:ext cx="237744" cy="237744"/>
          </a:xfrm>
          <a:prstGeom prst="rect">
            <a:avLst/>
          </a:prstGeom>
        </p:spPr>
      </p:pic>
      <p:sp>
        <p:nvSpPr>
          <p:cNvPr id="49" name="Text 40"/>
          <p:cNvSpPr txBox="1"/>
          <p:nvPr/>
        </p:nvSpPr>
        <p:spPr>
          <a:xfrm>
            <a:off x="3364992" y="3776472"/>
            <a:ext cx="1581912" cy="274320"/>
          </a:xfrm>
          <a:prstGeom prst="rect">
            <a:avLst/>
          </a:prstGeom>
          <a:noFill/>
          <a:ln/>
        </p:spPr>
        <p:txBody>
          <a:bodyPr wrap="square" lIns="0" tIns="0" rIns="0" bIns="0" rtlCol="0" anchor="t"/>
          <a:lstStyle/>
          <a:p>
            <a:pPr indent="0" marL="0">
              <a:buNone/>
            </a:pPr>
            <a:r>
              <a:rPr lang="en-US" sz="950" b="1" dirty="0">
                <a:solidFill>
                  <a:srgbClr val="202124"/>
                </a:solidFill>
                <a:latin typeface="Arial" pitchFamily="34" charset="0"/>
                <a:ea typeface="Arial" pitchFamily="34" charset="-122"/>
                <a:cs typeface="Arial" pitchFamily="34" charset="-120"/>
              </a:rPr>
              <a:t>BigQuery streaming export</a:t>
            </a:r>
            <a:endParaRPr lang="en-US" sz="950" dirty="0"/>
          </a:p>
        </p:txBody>
      </p:sp>
      <p:sp>
        <p:nvSpPr>
          <p:cNvPr id="50" name="Text 41"/>
          <p:cNvSpPr txBox="1"/>
          <p:nvPr/>
        </p:nvSpPr>
        <p:spPr>
          <a:xfrm>
            <a:off x="3054096" y="4032504"/>
            <a:ext cx="1892808" cy="621792"/>
          </a:xfrm>
          <a:prstGeom prst="rect">
            <a:avLst/>
          </a:prstGeom>
          <a:noFill/>
          <a:ln/>
        </p:spPr>
        <p:txBody>
          <a:bodyPr wrap="square" lIns="0" tIns="0" rIns="0" bIns="0" rtlCol="0" anchor="t"/>
          <a:lstStyle/>
          <a:p>
            <a:pPr indent="0" marL="0">
              <a:lnSpc>
                <a:spcPct val="105000"/>
              </a:lnSpc>
              <a:buNone/>
            </a:pPr>
            <a:r>
              <a:rPr lang="en-US" sz="750" dirty="0">
                <a:solidFill>
                  <a:srgbClr val="5F6368"/>
                </a:solidFill>
                <a:latin typeface="Arial" pitchFamily="34" charset="0"/>
                <a:ea typeface="Arial" pitchFamily="34" charset="-122"/>
                <a:cs typeface="Arial" pitchFamily="34" charset="-120"/>
              </a:rPr>
              <a:t>FHIR resources land as tables within seconds · time travel and snapshots for recovery</a:t>
            </a:r>
            <a:endParaRPr lang="en-US" sz="750" dirty="0"/>
          </a:p>
        </p:txBody>
      </p:sp>
      <p:sp>
        <p:nvSpPr>
          <p:cNvPr id="51" name="Shape 42"/>
          <p:cNvSpPr/>
          <p:nvPr/>
        </p:nvSpPr>
        <p:spPr>
          <a:xfrm>
            <a:off x="5020056" y="4197096"/>
            <a:ext cx="137160" cy="0"/>
          </a:xfrm>
          <a:prstGeom prst="line">
            <a:avLst/>
          </a:prstGeom>
          <a:noFill/>
          <a:ln w="15875">
            <a:solidFill>
              <a:srgbClr val="5F6368"/>
            </a:solidFill>
            <a:prstDash val="solid"/>
            <a:tailEnd type="triangle"/>
          </a:ln>
        </p:spPr>
      </p:sp>
      <p:sp>
        <p:nvSpPr>
          <p:cNvPr id="52" name="Shape 43"/>
          <p:cNvSpPr/>
          <p:nvPr/>
        </p:nvSpPr>
        <p:spPr>
          <a:xfrm>
            <a:off x="5157216" y="3703320"/>
            <a:ext cx="2075688" cy="987552"/>
          </a:xfrm>
          <a:prstGeom prst="roundRect">
            <a:avLst>
              <a:gd name="adj" fmla="val 5556"/>
            </a:avLst>
          </a:prstGeom>
          <a:solidFill>
            <a:srgbClr val="FFFFFF"/>
          </a:solidFill>
          <a:ln w="9525">
            <a:solidFill>
              <a:srgbClr val="DADCE0"/>
            </a:solidFill>
            <a:prstDash val="solid"/>
          </a:ln>
        </p:spPr>
      </p:sp>
      <p:pic>
        <p:nvPicPr>
          <p:cNvPr id="53" name="Image 7" descr="preencoded.png">    </p:cNvPr>
          <p:cNvPicPr>
            <a:picLocks noChangeAspect="1"/>
          </p:cNvPicPr>
          <p:nvPr/>
        </p:nvPicPr>
        <p:blipFill>
          <a:blip r:embed="rId8"/>
          <a:stretch>
            <a:fillRect/>
          </a:stretch>
        </p:blipFill>
        <p:spPr>
          <a:xfrm>
            <a:off x="5266944" y="3803904"/>
            <a:ext cx="237744" cy="237744"/>
          </a:xfrm>
          <a:prstGeom prst="rect">
            <a:avLst/>
          </a:prstGeom>
        </p:spPr>
      </p:pic>
      <p:sp>
        <p:nvSpPr>
          <p:cNvPr id="54" name="Text 44"/>
          <p:cNvSpPr txBox="1"/>
          <p:nvPr/>
        </p:nvSpPr>
        <p:spPr>
          <a:xfrm>
            <a:off x="5577840" y="3776472"/>
            <a:ext cx="1581912" cy="274320"/>
          </a:xfrm>
          <a:prstGeom prst="rect">
            <a:avLst/>
          </a:prstGeom>
          <a:noFill/>
          <a:ln/>
        </p:spPr>
        <p:txBody>
          <a:bodyPr wrap="square" lIns="0" tIns="0" rIns="0" bIns="0" rtlCol="0" anchor="t"/>
          <a:lstStyle/>
          <a:p>
            <a:pPr indent="0" marL="0">
              <a:buNone/>
            </a:pPr>
            <a:r>
              <a:rPr lang="en-US" sz="950" b="1" dirty="0">
                <a:solidFill>
                  <a:srgbClr val="202124"/>
                </a:solidFill>
                <a:latin typeface="Arial" pitchFamily="34" charset="0"/>
                <a:ea typeface="Arial" pitchFamily="34" charset="-122"/>
                <a:cs typeface="Arial" pitchFamily="34" charset="-120"/>
              </a:rPr>
              <a:t>Curated marts (Dataform)</a:t>
            </a:r>
            <a:endParaRPr lang="en-US" sz="950" dirty="0"/>
          </a:p>
        </p:txBody>
      </p:sp>
      <p:sp>
        <p:nvSpPr>
          <p:cNvPr id="55" name="Text 45"/>
          <p:cNvSpPr txBox="1"/>
          <p:nvPr/>
        </p:nvSpPr>
        <p:spPr>
          <a:xfrm>
            <a:off x="5266944" y="4032504"/>
            <a:ext cx="1892808" cy="621792"/>
          </a:xfrm>
          <a:prstGeom prst="rect">
            <a:avLst/>
          </a:prstGeom>
          <a:noFill/>
          <a:ln/>
        </p:spPr>
        <p:txBody>
          <a:bodyPr wrap="square" lIns="0" tIns="0" rIns="0" bIns="0" rtlCol="0" anchor="t"/>
          <a:lstStyle/>
          <a:p>
            <a:pPr indent="0" marL="0">
              <a:lnSpc>
                <a:spcPct val="105000"/>
              </a:lnSpc>
              <a:buNone/>
            </a:pPr>
            <a:r>
              <a:rPr lang="en-US" sz="750" dirty="0">
                <a:solidFill>
                  <a:srgbClr val="5F6368"/>
                </a:solidFill>
                <a:latin typeface="Arial" pitchFamily="34" charset="0"/>
                <a:ea typeface="Arial" pitchFamily="34" charset="-122"/>
                <a:cs typeface="Arial" pitchFamily="34" charset="-120"/>
              </a:rPr>
              <a:t>patient_summary · care gaps · quality measures · equity views, rebuilt at 02:00</a:t>
            </a:r>
            <a:endParaRPr lang="en-US" sz="750" dirty="0"/>
          </a:p>
        </p:txBody>
      </p:sp>
      <p:sp>
        <p:nvSpPr>
          <p:cNvPr id="56" name="Shape 46"/>
          <p:cNvSpPr/>
          <p:nvPr/>
        </p:nvSpPr>
        <p:spPr>
          <a:xfrm>
            <a:off x="7232904" y="4197096"/>
            <a:ext cx="137160" cy="0"/>
          </a:xfrm>
          <a:prstGeom prst="line">
            <a:avLst/>
          </a:prstGeom>
          <a:noFill/>
          <a:ln w="15875">
            <a:solidFill>
              <a:srgbClr val="5F6368"/>
            </a:solidFill>
            <a:prstDash val="solid"/>
            <a:tailEnd type="triangle"/>
          </a:ln>
        </p:spPr>
      </p:sp>
      <p:sp>
        <p:nvSpPr>
          <p:cNvPr id="57" name="Shape 47"/>
          <p:cNvSpPr/>
          <p:nvPr/>
        </p:nvSpPr>
        <p:spPr>
          <a:xfrm>
            <a:off x="7370064" y="3703320"/>
            <a:ext cx="2075688" cy="987552"/>
          </a:xfrm>
          <a:prstGeom prst="roundRect">
            <a:avLst>
              <a:gd name="adj" fmla="val 5556"/>
            </a:avLst>
          </a:prstGeom>
          <a:solidFill>
            <a:srgbClr val="FFFFFF"/>
          </a:solidFill>
          <a:ln w="9525">
            <a:solidFill>
              <a:srgbClr val="DADCE0"/>
            </a:solidFill>
            <a:prstDash val="solid"/>
          </a:ln>
        </p:spPr>
      </p:sp>
      <p:pic>
        <p:nvPicPr>
          <p:cNvPr id="58" name="Image 8" descr="preencoded.png">    </p:cNvPr>
          <p:cNvPicPr>
            <a:picLocks noChangeAspect="1"/>
          </p:cNvPicPr>
          <p:nvPr/>
        </p:nvPicPr>
        <p:blipFill>
          <a:blip r:embed="rId9"/>
          <a:stretch>
            <a:fillRect/>
          </a:stretch>
        </p:blipFill>
        <p:spPr>
          <a:xfrm>
            <a:off x="7479792" y="3803904"/>
            <a:ext cx="237744" cy="237744"/>
          </a:xfrm>
          <a:prstGeom prst="rect">
            <a:avLst/>
          </a:prstGeom>
        </p:spPr>
      </p:pic>
      <p:sp>
        <p:nvSpPr>
          <p:cNvPr id="59" name="Text 48"/>
          <p:cNvSpPr txBox="1"/>
          <p:nvPr/>
        </p:nvSpPr>
        <p:spPr>
          <a:xfrm>
            <a:off x="7790688" y="3776472"/>
            <a:ext cx="1581912" cy="274320"/>
          </a:xfrm>
          <a:prstGeom prst="rect">
            <a:avLst/>
          </a:prstGeom>
          <a:noFill/>
          <a:ln/>
        </p:spPr>
        <p:txBody>
          <a:bodyPr wrap="square" lIns="0" tIns="0" rIns="0" bIns="0" rtlCol="0" anchor="t"/>
          <a:lstStyle/>
          <a:p>
            <a:pPr indent="0" marL="0">
              <a:buNone/>
            </a:pPr>
            <a:r>
              <a:rPr lang="en-US" sz="950" b="1" dirty="0">
                <a:solidFill>
                  <a:srgbClr val="202124"/>
                </a:solidFill>
                <a:latin typeface="Arial" pitchFamily="34" charset="0"/>
                <a:ea typeface="Arial" pitchFamily="34" charset="-122"/>
                <a:cs typeface="Arial" pitchFamily="34" charset="-120"/>
              </a:rPr>
              <a:t>BigQuery ML batch scoring</a:t>
            </a:r>
            <a:endParaRPr lang="en-US" sz="950" dirty="0"/>
          </a:p>
        </p:txBody>
      </p:sp>
      <p:sp>
        <p:nvSpPr>
          <p:cNvPr id="60" name="Text 49"/>
          <p:cNvSpPr txBox="1"/>
          <p:nvPr/>
        </p:nvSpPr>
        <p:spPr>
          <a:xfrm>
            <a:off x="7479792" y="4032504"/>
            <a:ext cx="1892808" cy="621792"/>
          </a:xfrm>
          <a:prstGeom prst="rect">
            <a:avLst/>
          </a:prstGeom>
          <a:noFill/>
          <a:ln/>
        </p:spPr>
        <p:txBody>
          <a:bodyPr wrap="square" lIns="0" tIns="0" rIns="0" bIns="0" rtlCol="0" anchor="t"/>
          <a:lstStyle/>
          <a:p>
            <a:pPr indent="0" marL="0">
              <a:lnSpc>
                <a:spcPct val="105000"/>
              </a:lnSpc>
              <a:buNone/>
            </a:pPr>
            <a:r>
              <a:rPr lang="en-US" sz="750" dirty="0">
                <a:solidFill>
                  <a:srgbClr val="5F6368"/>
                </a:solidFill>
                <a:latin typeface="Arial" pitchFamily="34" charset="0"/>
                <a:ea typeface="Arial" pitchFamily="34" charset="-122"/>
                <a:cs typeface="Arial" pitchFamily="34" charset="-120"/>
              </a:rPr>
              <a:t>every patient re-scored nightly · scores and drivers written back for the tools</a:t>
            </a:r>
            <a:endParaRPr lang="en-US" sz="750" dirty="0"/>
          </a:p>
        </p:txBody>
      </p:sp>
      <p:sp>
        <p:nvSpPr>
          <p:cNvPr id="61" name="Shape 50"/>
          <p:cNvSpPr/>
          <p:nvPr/>
        </p:nvSpPr>
        <p:spPr>
          <a:xfrm>
            <a:off x="9582912" y="3703320"/>
            <a:ext cx="2075688" cy="987552"/>
          </a:xfrm>
          <a:prstGeom prst="roundRect">
            <a:avLst>
              <a:gd name="adj" fmla="val 5556"/>
            </a:avLst>
          </a:prstGeom>
          <a:solidFill>
            <a:srgbClr val="FFFFFF"/>
          </a:solidFill>
          <a:ln w="9525">
            <a:solidFill>
              <a:srgbClr val="DADCE0"/>
            </a:solidFill>
            <a:prstDash val="solid"/>
          </a:ln>
        </p:spPr>
      </p:sp>
      <p:pic>
        <p:nvPicPr>
          <p:cNvPr id="62" name="Image 9" descr="preencoded.png">    </p:cNvPr>
          <p:cNvPicPr>
            <a:picLocks noChangeAspect="1"/>
          </p:cNvPicPr>
          <p:nvPr/>
        </p:nvPicPr>
        <p:blipFill>
          <a:blip r:embed="rId10"/>
          <a:stretch>
            <a:fillRect/>
          </a:stretch>
        </p:blipFill>
        <p:spPr>
          <a:xfrm>
            <a:off x="9692640" y="3803904"/>
            <a:ext cx="237744" cy="237744"/>
          </a:xfrm>
          <a:prstGeom prst="rect">
            <a:avLst/>
          </a:prstGeom>
        </p:spPr>
      </p:pic>
      <p:sp>
        <p:nvSpPr>
          <p:cNvPr id="63" name="Text 51"/>
          <p:cNvSpPr txBox="1"/>
          <p:nvPr/>
        </p:nvSpPr>
        <p:spPr>
          <a:xfrm>
            <a:off x="10003536" y="3776472"/>
            <a:ext cx="1581912" cy="274320"/>
          </a:xfrm>
          <a:prstGeom prst="rect">
            <a:avLst/>
          </a:prstGeom>
          <a:noFill/>
          <a:ln/>
        </p:spPr>
        <p:txBody>
          <a:bodyPr wrap="square" lIns="0" tIns="0" rIns="0" bIns="0" rtlCol="0" anchor="t"/>
          <a:lstStyle/>
          <a:p>
            <a:pPr indent="0" marL="0">
              <a:buNone/>
            </a:pPr>
            <a:r>
              <a:rPr lang="en-US" sz="950" b="1" dirty="0">
                <a:solidFill>
                  <a:srgbClr val="202124"/>
                </a:solidFill>
                <a:latin typeface="Arial" pitchFamily="34" charset="0"/>
                <a:ea typeface="Arial" pitchFamily="34" charset="-122"/>
                <a:cs typeface="Arial" pitchFamily="34" charset="-120"/>
              </a:rPr>
              <a:t>Event path</a:t>
            </a:r>
            <a:endParaRPr lang="en-US" sz="950" dirty="0"/>
          </a:p>
        </p:txBody>
      </p:sp>
      <p:sp>
        <p:nvSpPr>
          <p:cNvPr id="64" name="Text 52"/>
          <p:cNvSpPr txBox="1"/>
          <p:nvPr/>
        </p:nvSpPr>
        <p:spPr>
          <a:xfrm>
            <a:off x="9692640" y="4032504"/>
            <a:ext cx="1892808" cy="621792"/>
          </a:xfrm>
          <a:prstGeom prst="rect">
            <a:avLst/>
          </a:prstGeom>
          <a:noFill/>
          <a:ln/>
        </p:spPr>
        <p:txBody>
          <a:bodyPr wrap="square" lIns="0" tIns="0" rIns="0" bIns="0" rtlCol="0" anchor="t"/>
          <a:lstStyle/>
          <a:p>
            <a:pPr indent="0" marL="0">
              <a:lnSpc>
                <a:spcPct val="105000"/>
              </a:lnSpc>
              <a:buNone/>
            </a:pPr>
            <a:r>
              <a:rPr lang="en-US" sz="750" dirty="0">
                <a:solidFill>
                  <a:srgbClr val="5F6368"/>
                </a:solidFill>
                <a:latin typeface="Arial" pitchFamily="34" charset="0"/>
                <a:ea typeface="Arial" pitchFamily="34" charset="-122"/>
                <a:cs typeface="Arial" pitchFamily="34" charset="-120"/>
              </a:rPr>
              <a:t>a new HbA1c fires Pub/Sub · Cloud Run scorer calls the Vertex endpoint · one patient in seconds</a:t>
            </a:r>
            <a:endParaRPr lang="en-US" sz="750" dirty="0"/>
          </a:p>
        </p:txBody>
      </p:sp>
      <p:sp>
        <p:nvSpPr>
          <p:cNvPr id="65" name="Shape 53"/>
          <p:cNvSpPr/>
          <p:nvPr/>
        </p:nvSpPr>
        <p:spPr>
          <a:xfrm>
            <a:off x="548640" y="4937760"/>
            <a:ext cx="11064240" cy="1417320"/>
          </a:xfrm>
          <a:prstGeom prst="roundRect">
            <a:avLst>
              <a:gd name="adj" fmla="val 7742"/>
            </a:avLst>
          </a:prstGeom>
          <a:solidFill>
            <a:srgbClr val="FFFFFF">
              <a:alpha val="0"/>
            </a:srgbClr>
          </a:solidFill>
          <a:ln w="12700">
            <a:solidFill>
              <a:srgbClr val="34A853"/>
            </a:solidFill>
            <a:prstDash val="dash"/>
          </a:ln>
        </p:spPr>
      </p:sp>
      <p:sp>
        <p:nvSpPr>
          <p:cNvPr id="66" name="Text 54"/>
          <p:cNvSpPr txBox="1"/>
          <p:nvPr/>
        </p:nvSpPr>
        <p:spPr>
          <a:xfrm>
            <a:off x="731520" y="5029200"/>
            <a:ext cx="5486400" cy="201168"/>
          </a:xfrm>
          <a:prstGeom prst="rect">
            <a:avLst/>
          </a:prstGeom>
          <a:noFill/>
          <a:ln/>
        </p:spPr>
        <p:txBody>
          <a:bodyPr wrap="square" lIns="0" tIns="0" rIns="0" bIns="0" rtlCol="0" anchor="t"/>
          <a:lstStyle/>
          <a:p>
            <a:pPr indent="0" marL="0">
              <a:buNone/>
            </a:pPr>
            <a:r>
              <a:rPr lang="en-US" sz="850" b="1" spc="150" kern="0" dirty="0">
                <a:solidFill>
                  <a:srgbClr val="1E8E3E"/>
                </a:solidFill>
                <a:latin typeface="Arial" pitchFamily="34" charset="0"/>
                <a:ea typeface="Arial" pitchFamily="34" charset="-122"/>
                <a:cs typeface="Arial" pitchFamily="34" charset="-120"/>
              </a:rPr>
              <a:t>RESILIENCE AND OPERATIONS</a:t>
            </a:r>
            <a:endParaRPr lang="en-US" sz="850" dirty="0"/>
          </a:p>
        </p:txBody>
      </p:sp>
      <p:sp>
        <p:nvSpPr>
          <p:cNvPr id="67" name="Shape 55"/>
          <p:cNvSpPr/>
          <p:nvPr/>
        </p:nvSpPr>
        <p:spPr>
          <a:xfrm>
            <a:off x="731520" y="5285232"/>
            <a:ext cx="2560320" cy="987552"/>
          </a:xfrm>
          <a:prstGeom prst="roundRect">
            <a:avLst>
              <a:gd name="adj" fmla="val 5556"/>
            </a:avLst>
          </a:prstGeom>
          <a:solidFill>
            <a:srgbClr val="E6F4EA"/>
          </a:solidFill>
          <a:ln w="9525">
            <a:solidFill>
              <a:srgbClr val="E6F4EA"/>
            </a:solidFill>
            <a:prstDash val="solid"/>
          </a:ln>
        </p:spPr>
      </p:sp>
      <p:sp>
        <p:nvSpPr>
          <p:cNvPr id="68" name="Text 56"/>
          <p:cNvSpPr txBox="1"/>
          <p:nvPr/>
        </p:nvSpPr>
        <p:spPr>
          <a:xfrm>
            <a:off x="841248" y="5358384"/>
            <a:ext cx="2377440" cy="274320"/>
          </a:xfrm>
          <a:prstGeom prst="rect">
            <a:avLst/>
          </a:prstGeom>
          <a:noFill/>
          <a:ln/>
        </p:spPr>
        <p:txBody>
          <a:bodyPr wrap="square" lIns="0" tIns="0" rIns="0" bIns="0" rtlCol="0" anchor="t"/>
          <a:lstStyle/>
          <a:p>
            <a:pPr indent="0" marL="0">
              <a:buNone/>
            </a:pPr>
            <a:r>
              <a:rPr lang="en-US" sz="950" b="1" dirty="0">
                <a:solidFill>
                  <a:srgbClr val="202124"/>
                </a:solidFill>
                <a:latin typeface="Arial" pitchFamily="34" charset="0"/>
                <a:ea typeface="Arial" pitchFamily="34" charset="-122"/>
                <a:cs typeface="Arial" pitchFamily="34" charset="-120"/>
              </a:rPr>
              <a:t>A zone fails</a:t>
            </a:r>
            <a:endParaRPr lang="en-US" sz="950" dirty="0"/>
          </a:p>
        </p:txBody>
      </p:sp>
      <p:sp>
        <p:nvSpPr>
          <p:cNvPr id="69" name="Text 57"/>
          <p:cNvSpPr txBox="1"/>
          <p:nvPr/>
        </p:nvSpPr>
        <p:spPr>
          <a:xfrm>
            <a:off x="841248" y="5614416"/>
            <a:ext cx="2377440" cy="621792"/>
          </a:xfrm>
          <a:prstGeom prst="rect">
            <a:avLst/>
          </a:prstGeom>
          <a:noFill/>
          <a:ln/>
        </p:spPr>
        <p:txBody>
          <a:bodyPr wrap="square" lIns="0" tIns="0" rIns="0" bIns="0" rtlCol="0" anchor="t"/>
          <a:lstStyle/>
          <a:p>
            <a:pPr indent="0" marL="0">
              <a:lnSpc>
                <a:spcPct val="105000"/>
              </a:lnSpc>
              <a:buNone/>
            </a:pPr>
            <a:r>
              <a:rPr lang="en-US" sz="750" dirty="0">
                <a:solidFill>
                  <a:srgbClr val="5F6368"/>
                </a:solidFill>
                <a:latin typeface="Arial" pitchFamily="34" charset="0"/>
                <a:ea typeface="Arial" pitchFamily="34" charset="-122"/>
                <a:cs typeface="Arial" pitchFamily="34" charset="-120"/>
              </a:rPr>
              <a:t>Cloud Run, BigQuery, Healthcare API and AlloyDB are zone-redundant inside me-central1. Traffic re-routes, no data loss, nobody is paged.</a:t>
            </a:r>
            <a:endParaRPr lang="en-US" sz="750" dirty="0"/>
          </a:p>
        </p:txBody>
      </p:sp>
      <p:sp>
        <p:nvSpPr>
          <p:cNvPr id="70" name="Shape 58"/>
          <p:cNvSpPr/>
          <p:nvPr/>
        </p:nvSpPr>
        <p:spPr>
          <a:xfrm>
            <a:off x="3456432" y="5285232"/>
            <a:ext cx="2560320" cy="987552"/>
          </a:xfrm>
          <a:prstGeom prst="roundRect">
            <a:avLst>
              <a:gd name="adj" fmla="val 5556"/>
            </a:avLst>
          </a:prstGeom>
          <a:solidFill>
            <a:srgbClr val="E6F4EA"/>
          </a:solidFill>
          <a:ln w="9525">
            <a:solidFill>
              <a:srgbClr val="E6F4EA"/>
            </a:solidFill>
            <a:prstDash val="solid"/>
          </a:ln>
        </p:spPr>
      </p:sp>
      <p:sp>
        <p:nvSpPr>
          <p:cNvPr id="71" name="Text 59"/>
          <p:cNvSpPr txBox="1"/>
          <p:nvPr/>
        </p:nvSpPr>
        <p:spPr>
          <a:xfrm>
            <a:off x="3566160" y="5358384"/>
            <a:ext cx="2377440" cy="274320"/>
          </a:xfrm>
          <a:prstGeom prst="rect">
            <a:avLst/>
          </a:prstGeom>
          <a:noFill/>
          <a:ln/>
        </p:spPr>
        <p:txBody>
          <a:bodyPr wrap="square" lIns="0" tIns="0" rIns="0" bIns="0" rtlCol="0" anchor="t"/>
          <a:lstStyle/>
          <a:p>
            <a:pPr indent="0" marL="0">
              <a:buNone/>
            </a:pPr>
            <a:r>
              <a:rPr lang="en-US" sz="950" b="1" dirty="0">
                <a:solidFill>
                  <a:srgbClr val="202124"/>
                </a:solidFill>
                <a:latin typeface="Arial" pitchFamily="34" charset="0"/>
                <a:ea typeface="Arial" pitchFamily="34" charset="-122"/>
                <a:cs typeface="Arial" pitchFamily="34" charset="-120"/>
              </a:rPr>
              <a:t>The region fails</a:t>
            </a:r>
            <a:endParaRPr lang="en-US" sz="950" dirty="0"/>
          </a:p>
        </p:txBody>
      </p:sp>
      <p:sp>
        <p:nvSpPr>
          <p:cNvPr id="72" name="Text 60"/>
          <p:cNvSpPr txBox="1"/>
          <p:nvPr/>
        </p:nvSpPr>
        <p:spPr>
          <a:xfrm>
            <a:off x="3566160" y="5614416"/>
            <a:ext cx="2377440" cy="621792"/>
          </a:xfrm>
          <a:prstGeom prst="rect">
            <a:avLst/>
          </a:prstGeom>
          <a:noFill/>
          <a:ln/>
        </p:spPr>
        <p:txBody>
          <a:bodyPr wrap="square" lIns="0" tIns="0" rIns="0" bIns="0" rtlCol="0" anchor="t"/>
          <a:lstStyle/>
          <a:p>
            <a:pPr indent="0" marL="0">
              <a:lnSpc>
                <a:spcPct val="105000"/>
              </a:lnSpc>
              <a:buNone/>
            </a:pPr>
            <a:r>
              <a:rPr lang="en-US" sz="750" dirty="0">
                <a:solidFill>
                  <a:srgbClr val="5F6368"/>
                </a:solidFill>
                <a:latin typeface="Arial" pitchFamily="34" charset="0"/>
                <a:ea typeface="Arial" pitchFamily="34" charset="-122"/>
                <a:cs typeface="Arial" pitchFamily="34" charset="-120"/>
              </a:rPr>
              <a:t>Residency rules keep data in country, so recovery is in-region: BigQuery time travel, AlloyDB and Storage backups. Stated RPO 24 h, RTO 4 h.</a:t>
            </a:r>
            <a:endParaRPr lang="en-US" sz="750" dirty="0"/>
          </a:p>
        </p:txBody>
      </p:sp>
      <p:sp>
        <p:nvSpPr>
          <p:cNvPr id="73" name="Shape 61"/>
          <p:cNvSpPr/>
          <p:nvPr/>
        </p:nvSpPr>
        <p:spPr>
          <a:xfrm>
            <a:off x="6181344" y="5285232"/>
            <a:ext cx="2560320" cy="987552"/>
          </a:xfrm>
          <a:prstGeom prst="roundRect">
            <a:avLst>
              <a:gd name="adj" fmla="val 5556"/>
            </a:avLst>
          </a:prstGeom>
          <a:solidFill>
            <a:srgbClr val="E6F4EA"/>
          </a:solidFill>
          <a:ln w="9525">
            <a:solidFill>
              <a:srgbClr val="E6F4EA"/>
            </a:solidFill>
            <a:prstDash val="solid"/>
          </a:ln>
        </p:spPr>
      </p:sp>
      <p:sp>
        <p:nvSpPr>
          <p:cNvPr id="74" name="Text 62"/>
          <p:cNvSpPr txBox="1"/>
          <p:nvPr/>
        </p:nvSpPr>
        <p:spPr>
          <a:xfrm>
            <a:off x="6291072" y="5358384"/>
            <a:ext cx="2377440" cy="274320"/>
          </a:xfrm>
          <a:prstGeom prst="rect">
            <a:avLst/>
          </a:prstGeom>
          <a:noFill/>
          <a:ln/>
        </p:spPr>
        <p:txBody>
          <a:bodyPr wrap="square" lIns="0" tIns="0" rIns="0" bIns="0" rtlCol="0" anchor="t"/>
          <a:lstStyle/>
          <a:p>
            <a:pPr indent="0" marL="0">
              <a:buNone/>
            </a:pPr>
            <a:r>
              <a:rPr lang="en-US" sz="950" b="1" dirty="0">
                <a:solidFill>
                  <a:srgbClr val="202124"/>
                </a:solidFill>
                <a:latin typeface="Arial" pitchFamily="34" charset="0"/>
                <a:ea typeface="Arial" pitchFamily="34" charset="-122"/>
                <a:cs typeface="Arial" pitchFamily="34" charset="-120"/>
              </a:rPr>
              <a:t>Gemini is saturated</a:t>
            </a:r>
            <a:endParaRPr lang="en-US" sz="950" dirty="0"/>
          </a:p>
        </p:txBody>
      </p:sp>
      <p:sp>
        <p:nvSpPr>
          <p:cNvPr id="75" name="Text 63"/>
          <p:cNvSpPr txBox="1"/>
          <p:nvPr/>
        </p:nvSpPr>
        <p:spPr>
          <a:xfrm>
            <a:off x="6291072" y="5614416"/>
            <a:ext cx="2377440" cy="621792"/>
          </a:xfrm>
          <a:prstGeom prst="rect">
            <a:avLst/>
          </a:prstGeom>
          <a:noFill/>
          <a:ln/>
        </p:spPr>
        <p:txBody>
          <a:bodyPr wrap="square" lIns="0" tIns="0" rIns="0" bIns="0" rtlCol="0" anchor="t"/>
          <a:lstStyle/>
          <a:p>
            <a:pPr indent="0" marL="0">
              <a:lnSpc>
                <a:spcPct val="105000"/>
              </a:lnSpc>
              <a:buNone/>
            </a:pPr>
            <a:r>
              <a:rPr lang="en-US" sz="750" dirty="0">
                <a:solidFill>
                  <a:srgbClr val="5F6368"/>
                </a:solidFill>
                <a:latin typeface="Arial" pitchFamily="34" charset="0"/>
                <a:ea typeface="Arial" pitchFamily="34" charset="-122"/>
                <a:cs typeface="Arial" pitchFamily="34" charset="-120"/>
              </a:rPr>
              <a:t>The supervisor moves down a tested model list; if no model answers, the scripted engine runs the same tools without the language model.</a:t>
            </a:r>
            <a:endParaRPr lang="en-US" sz="750" dirty="0"/>
          </a:p>
        </p:txBody>
      </p:sp>
      <p:sp>
        <p:nvSpPr>
          <p:cNvPr id="76" name="Shape 64"/>
          <p:cNvSpPr/>
          <p:nvPr/>
        </p:nvSpPr>
        <p:spPr>
          <a:xfrm>
            <a:off x="8906256" y="5285232"/>
            <a:ext cx="2560320" cy="987552"/>
          </a:xfrm>
          <a:prstGeom prst="roundRect">
            <a:avLst>
              <a:gd name="adj" fmla="val 5556"/>
            </a:avLst>
          </a:prstGeom>
          <a:solidFill>
            <a:srgbClr val="E6F4EA"/>
          </a:solidFill>
          <a:ln w="9525">
            <a:solidFill>
              <a:srgbClr val="E6F4EA"/>
            </a:solidFill>
            <a:prstDash val="solid"/>
          </a:ln>
        </p:spPr>
      </p:sp>
      <p:sp>
        <p:nvSpPr>
          <p:cNvPr id="77" name="Text 65"/>
          <p:cNvSpPr txBox="1"/>
          <p:nvPr/>
        </p:nvSpPr>
        <p:spPr>
          <a:xfrm>
            <a:off x="9015984" y="5358384"/>
            <a:ext cx="2377440" cy="274320"/>
          </a:xfrm>
          <a:prstGeom prst="rect">
            <a:avLst/>
          </a:prstGeom>
          <a:noFill/>
          <a:ln/>
        </p:spPr>
        <p:txBody>
          <a:bodyPr wrap="square" lIns="0" tIns="0" rIns="0" bIns="0" rtlCol="0" anchor="t"/>
          <a:lstStyle/>
          <a:p>
            <a:pPr indent="0" marL="0">
              <a:buNone/>
            </a:pPr>
            <a:r>
              <a:rPr lang="en-US" sz="950" b="1" dirty="0">
                <a:solidFill>
                  <a:srgbClr val="202124"/>
                </a:solidFill>
                <a:latin typeface="Arial" pitchFamily="34" charset="0"/>
                <a:ea typeface="Arial" pitchFamily="34" charset="-122"/>
                <a:cs typeface="Arial" pitchFamily="34" charset="-120"/>
              </a:rPr>
              <a:t>Delivery and observability</a:t>
            </a:r>
            <a:endParaRPr lang="en-US" sz="950" dirty="0"/>
          </a:p>
        </p:txBody>
      </p:sp>
      <p:sp>
        <p:nvSpPr>
          <p:cNvPr id="78" name="Text 66"/>
          <p:cNvSpPr txBox="1"/>
          <p:nvPr/>
        </p:nvSpPr>
        <p:spPr>
          <a:xfrm>
            <a:off x="9015984" y="5614416"/>
            <a:ext cx="2377440" cy="621792"/>
          </a:xfrm>
          <a:prstGeom prst="rect">
            <a:avLst/>
          </a:prstGeom>
          <a:noFill/>
          <a:ln/>
        </p:spPr>
        <p:txBody>
          <a:bodyPr wrap="square" lIns="0" tIns="0" rIns="0" bIns="0" rtlCol="0" anchor="t"/>
          <a:lstStyle/>
          <a:p>
            <a:pPr indent="0" marL="0">
              <a:lnSpc>
                <a:spcPct val="105000"/>
              </a:lnSpc>
              <a:buNone/>
            </a:pPr>
            <a:r>
              <a:rPr lang="en-US" sz="750" dirty="0">
                <a:solidFill>
                  <a:srgbClr val="5F6368"/>
                </a:solidFill>
                <a:latin typeface="Arial" pitchFamily="34" charset="0"/>
                <a:ea typeface="Arial" pitchFamily="34" charset="-122"/>
                <a:cs typeface="Arial" pitchFamily="34" charset="-120"/>
              </a:rPr>
              <a:t>Terraform · Cloud Build · Artifact Registry · Cloud Logging, Trace and Monitoring with SLOs on first token and answer time.</a:t>
            </a:r>
            <a:endParaRPr lang="en-US" sz="750" dirty="0"/>
          </a:p>
        </p:txBody>
      </p:sp>
      <p:sp>
        <p:nvSpPr>
          <p:cNvPr id="79" name="Text 67"/>
          <p:cNvSpPr txBox="1"/>
          <p:nvPr/>
        </p:nvSpPr>
        <p:spPr>
          <a:xfrm>
            <a:off x="548640" y="6446520"/>
            <a:ext cx="9144000" cy="228600"/>
          </a:xfrm>
          <a:prstGeom prst="rect">
            <a:avLst/>
          </a:prstGeom>
          <a:noFill/>
          <a:ln/>
        </p:spPr>
        <p:txBody>
          <a:bodyPr wrap="square" lIns="0" tIns="0" rIns="0" bIns="0" rtlCol="0" anchor="t"/>
          <a:lstStyle/>
          <a:p>
            <a:pPr indent="0" marL="0">
              <a:buNone/>
            </a:pPr>
            <a:r>
              <a:rPr lang="en-US" sz="850" dirty="0">
                <a:solidFill>
                  <a:srgbClr val="9AA0A6"/>
                </a:solidFill>
                <a:latin typeface="Arial" pitchFamily="34" charset="0"/>
                <a:ea typeface="Arial" pitchFamily="34" charset="-122"/>
                <a:cs typeface="Arial" pitchFamily="34" charset="-120"/>
              </a:rPr>
              <a:t>Nabd نبض · Diabetes population health on Google Cloud · Customer Engineering</a:t>
            </a:r>
            <a:endParaRPr lang="en-US" sz="850" dirty="0"/>
          </a:p>
        </p:txBody>
      </p:sp>
      <p:sp>
        <p:nvSpPr>
          <p:cNvPr id="80" name="Text 68"/>
          <p:cNvSpPr txBox="1"/>
          <p:nvPr/>
        </p:nvSpPr>
        <p:spPr>
          <a:xfrm>
            <a:off x="11155680" y="6446520"/>
            <a:ext cx="457200" cy="228600"/>
          </a:xfrm>
          <a:prstGeom prst="rect">
            <a:avLst/>
          </a:prstGeom>
          <a:noFill/>
          <a:ln/>
        </p:spPr>
        <p:txBody>
          <a:bodyPr wrap="square" lIns="0" tIns="0" rIns="0" bIns="0" rtlCol="0" anchor="t"/>
          <a:lstStyle/>
          <a:p>
            <a:pPr algn="r" indent="0" marL="0">
              <a:buNone/>
            </a:pPr>
            <a:r>
              <a:rPr lang="en-US" sz="850" dirty="0">
                <a:solidFill>
                  <a:srgbClr val="9AA0A6"/>
                </a:solidFill>
                <a:latin typeface="Arial" pitchFamily="34" charset="0"/>
                <a:ea typeface="Arial" pitchFamily="34" charset="-122"/>
                <a:cs typeface="Arial" pitchFamily="34" charset="-120"/>
              </a:rPr>
              <a:t>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457200"/>
            <a:ext cx="11064240" cy="868680"/>
          </a:xfrm>
          <a:prstGeom prst="rect">
            <a:avLst/>
          </a:prstGeom>
          <a:noFill/>
          <a:ln/>
        </p:spPr>
        <p:txBody>
          <a:bodyPr wrap="square" lIns="0" tIns="0" rIns="0" bIns="0" rtlCol="0" anchor="t"/>
          <a:lstStyle/>
          <a:p>
            <a:pPr indent="0" marL="0">
              <a:lnSpc>
                <a:spcPct val="105000"/>
              </a:lnSpc>
              <a:buNone/>
            </a:pPr>
            <a:r>
              <a:rPr lang="en-US" sz="2600" b="1" dirty="0">
                <a:solidFill>
                  <a:srgbClr val="202124"/>
                </a:solidFill>
                <a:latin typeface="Arial" pitchFamily="34" charset="0"/>
                <a:ea typeface="Arial" pitchFamily="34" charset="-122"/>
                <a:cs typeface="Arial" pitchFamily="34" charset="-120"/>
              </a:rPr>
              <a:t>What you will see in the next twenty minutes</a:t>
            </a:r>
            <a:endParaRPr lang="en-US" sz="2600" dirty="0"/>
          </a:p>
        </p:txBody>
      </p:sp>
      <p:sp>
        <p:nvSpPr>
          <p:cNvPr id="3" name="Text 1"/>
          <p:cNvSpPr txBox="1"/>
          <p:nvPr/>
        </p:nvSpPr>
        <p:spPr>
          <a:xfrm>
            <a:off x="548640" y="1298448"/>
            <a:ext cx="11064240" cy="320040"/>
          </a:xfrm>
          <a:prstGeom prst="rect">
            <a:avLst/>
          </a:prstGeom>
          <a:noFill/>
          <a:ln/>
        </p:spPr>
        <p:txBody>
          <a:bodyPr wrap="square" lIns="0" tIns="0" rIns="0" bIns="0" rtlCol="0" anchor="t"/>
          <a:lstStyle/>
          <a:p>
            <a:pPr indent="0" marL="0">
              <a:buNone/>
            </a:pPr>
            <a:r>
              <a:rPr lang="en-US" sz="1300" dirty="0">
                <a:solidFill>
                  <a:srgbClr val="5F6368"/>
                </a:solidFill>
                <a:latin typeface="Arial" pitchFamily="34" charset="0"/>
                <a:ea typeface="Arial" pitchFamily="34" charset="-122"/>
                <a:cs typeface="Arial" pitchFamily="34" charset="-120"/>
              </a:rPr>
              <a:t>A working system on a 4,000-patient synthetic exchange. Every number is computed live by a tool call; nothing is pre-rendered.</a:t>
            </a:r>
            <a:endParaRPr lang="en-US" sz="1300" dirty="0"/>
          </a:p>
        </p:txBody>
      </p:sp>
      <p:sp>
        <p:nvSpPr>
          <p:cNvPr id="4" name="Shape 2"/>
          <p:cNvSpPr/>
          <p:nvPr/>
        </p:nvSpPr>
        <p:spPr>
          <a:xfrm>
            <a:off x="548640" y="1828800"/>
            <a:ext cx="457200" cy="457200"/>
          </a:xfrm>
          <a:prstGeom prst="ellipse">
            <a:avLst/>
          </a:prstGeom>
          <a:solidFill>
            <a:srgbClr val="4285F4"/>
          </a:solidFill>
          <a:ln w="12700">
            <a:solidFill>
              <a:srgbClr val="4285F4"/>
            </a:solidFill>
            <a:prstDash val="solid"/>
          </a:ln>
        </p:spPr>
      </p:sp>
      <p:sp>
        <p:nvSpPr>
          <p:cNvPr id="5" name="Text 3"/>
          <p:cNvSpPr txBox="1"/>
          <p:nvPr/>
        </p:nvSpPr>
        <p:spPr>
          <a:xfrm>
            <a:off x="548640" y="18288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6" name="Text 4"/>
          <p:cNvSpPr txBox="1"/>
          <p:nvPr/>
        </p:nvSpPr>
        <p:spPr>
          <a:xfrm>
            <a:off x="1188720" y="1847088"/>
            <a:ext cx="5120640" cy="365760"/>
          </a:xfrm>
          <a:prstGeom prst="rect">
            <a:avLst/>
          </a:prstGeom>
          <a:noFill/>
          <a:ln/>
        </p:spPr>
        <p:txBody>
          <a:bodyPr wrap="square" lIns="0" tIns="0" rIns="0" bIns="0" rtlCol="0" anchor="t"/>
          <a:lstStyle/>
          <a:p>
            <a:pPr indent="0" marL="0">
              <a:buNone/>
            </a:pPr>
            <a:r>
              <a:rPr lang="en-US" sz="1400" b="1" dirty="0">
                <a:solidFill>
                  <a:srgbClr val="202124"/>
                </a:solidFill>
                <a:latin typeface="Arial" pitchFamily="34" charset="0"/>
                <a:ea typeface="Arial" pitchFamily="34" charset="-122"/>
                <a:cs typeface="Arial" pitchFamily="34" charset="-120"/>
              </a:rPr>
              <a:t>The clinician's morning</a:t>
            </a:r>
            <a:endParaRPr lang="en-US" sz="1400" dirty="0"/>
          </a:p>
        </p:txBody>
      </p:sp>
      <p:sp>
        <p:nvSpPr>
          <p:cNvPr id="7" name="Text 5"/>
          <p:cNvSpPr txBox="1"/>
          <p:nvPr/>
        </p:nvSpPr>
        <p:spPr>
          <a:xfrm>
            <a:off x="1188720" y="2240280"/>
            <a:ext cx="5212080" cy="868680"/>
          </a:xfrm>
          <a:prstGeom prst="rect">
            <a:avLst/>
          </a:prstGeom>
          <a:noFill/>
          <a:ln/>
        </p:spPr>
        <p:txBody>
          <a:bodyPr wrap="square" lIns="0" tIns="0" rIns="0" bIns="0" rtlCol="0" anchor="t"/>
          <a:lstStyle/>
          <a:p>
            <a:pPr indent="0" marL="0">
              <a:lnSpc>
                <a:spcPct val="120000"/>
              </a:lnSpc>
              <a:buNone/>
            </a:pPr>
            <a:r>
              <a:rPr lang="en-US" sz="1050" dirty="0">
                <a:solidFill>
                  <a:srgbClr val="5F6368"/>
                </a:solidFill>
                <a:latin typeface="Arial" pitchFamily="34" charset="0"/>
                <a:ea typeface="Arial" pitchFamily="34" charset="-122"/>
                <a:cs typeface="Arial" pitchFamily="34" charset="-120"/>
              </a:rPr>
              <a:t>A panel briefing, then one patient: the 360 view, an explained risk score, the guideline passage, and a draft prescription that waits for her signature. Then the what-if simulator on the same patient.</a:t>
            </a:r>
            <a:endParaRPr lang="en-US" sz="1050" dirty="0"/>
          </a:p>
        </p:txBody>
      </p:sp>
      <p:sp>
        <p:nvSpPr>
          <p:cNvPr id="8" name="Shape 6"/>
          <p:cNvSpPr/>
          <p:nvPr/>
        </p:nvSpPr>
        <p:spPr>
          <a:xfrm>
            <a:off x="548640" y="3154680"/>
            <a:ext cx="457200" cy="457200"/>
          </a:xfrm>
          <a:prstGeom prst="ellipse">
            <a:avLst/>
          </a:prstGeom>
          <a:solidFill>
            <a:srgbClr val="EA4335"/>
          </a:solidFill>
          <a:ln w="12700">
            <a:solidFill>
              <a:srgbClr val="EA4335"/>
            </a:solidFill>
            <a:prstDash val="solid"/>
          </a:ln>
        </p:spPr>
      </p:sp>
      <p:sp>
        <p:nvSpPr>
          <p:cNvPr id="9" name="Text 7"/>
          <p:cNvSpPr txBox="1"/>
          <p:nvPr/>
        </p:nvSpPr>
        <p:spPr>
          <a:xfrm>
            <a:off x="548640" y="31546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0" name="Text 8"/>
          <p:cNvSpPr txBox="1"/>
          <p:nvPr/>
        </p:nvSpPr>
        <p:spPr>
          <a:xfrm>
            <a:off x="1188720" y="3172968"/>
            <a:ext cx="5120640" cy="365760"/>
          </a:xfrm>
          <a:prstGeom prst="rect">
            <a:avLst/>
          </a:prstGeom>
          <a:noFill/>
          <a:ln/>
        </p:spPr>
        <p:txBody>
          <a:bodyPr wrap="square" lIns="0" tIns="0" rIns="0" bIns="0" rtlCol="0" anchor="t"/>
          <a:lstStyle/>
          <a:p>
            <a:pPr indent="0" marL="0">
              <a:buNone/>
            </a:pPr>
            <a:r>
              <a:rPr lang="en-US" sz="1400" b="1" dirty="0">
                <a:solidFill>
                  <a:srgbClr val="202124"/>
                </a:solidFill>
                <a:latin typeface="Arial" pitchFamily="34" charset="0"/>
                <a:ea typeface="Arial" pitchFamily="34" charset="-122"/>
                <a:cs typeface="Arial" pitchFamily="34" charset="-120"/>
              </a:rPr>
              <a:t>The ministry's view</a:t>
            </a:r>
            <a:endParaRPr lang="en-US" sz="1400" dirty="0"/>
          </a:p>
        </p:txBody>
      </p:sp>
      <p:sp>
        <p:nvSpPr>
          <p:cNvPr id="11" name="Text 9"/>
          <p:cNvSpPr txBox="1"/>
          <p:nvPr/>
        </p:nvSpPr>
        <p:spPr>
          <a:xfrm>
            <a:off x="1188720" y="3566160"/>
            <a:ext cx="5212080" cy="868680"/>
          </a:xfrm>
          <a:prstGeom prst="rect">
            <a:avLst/>
          </a:prstGeom>
          <a:noFill/>
          <a:ln/>
        </p:spPr>
        <p:txBody>
          <a:bodyPr wrap="square" lIns="0" tIns="0" rIns="0" bIns="0" rtlCol="0" anchor="t"/>
          <a:lstStyle/>
          <a:p>
            <a:pPr indent="0" marL="0">
              <a:lnSpc>
                <a:spcPct val="120000"/>
              </a:lnSpc>
              <a:buNone/>
            </a:pPr>
            <a:r>
              <a:rPr lang="en-US" sz="1050" dirty="0">
                <a:solidFill>
                  <a:srgbClr val="5F6368"/>
                </a:solidFill>
                <a:latin typeface="Arial" pitchFamily="34" charset="0"/>
                <a:ea typeface="Arial" pitchFamily="34" charset="-122"/>
                <a:cs typeface="Arial" pitchFamily="34" charset="-120"/>
              </a:rPr>
              <a:t>The national picture: control rates, care gaps by facility and nationality, cost concentration, and a simulation of five programmes before any money is spent.</a:t>
            </a:r>
            <a:endParaRPr lang="en-US" sz="1050" dirty="0"/>
          </a:p>
        </p:txBody>
      </p:sp>
      <p:sp>
        <p:nvSpPr>
          <p:cNvPr id="12" name="Shape 10"/>
          <p:cNvSpPr/>
          <p:nvPr/>
        </p:nvSpPr>
        <p:spPr>
          <a:xfrm>
            <a:off x="548640" y="4480560"/>
            <a:ext cx="457200" cy="457200"/>
          </a:xfrm>
          <a:prstGeom prst="ellipse">
            <a:avLst/>
          </a:prstGeom>
          <a:solidFill>
            <a:srgbClr val="34A853"/>
          </a:solidFill>
          <a:ln w="12700">
            <a:solidFill>
              <a:srgbClr val="34A853"/>
            </a:solidFill>
            <a:prstDash val="solid"/>
          </a:ln>
        </p:spPr>
      </p:sp>
      <p:sp>
        <p:nvSpPr>
          <p:cNvPr id="13" name="Text 11"/>
          <p:cNvSpPr txBox="1"/>
          <p:nvPr/>
        </p:nvSpPr>
        <p:spPr>
          <a:xfrm>
            <a:off x="548640" y="4480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4" name="Text 12"/>
          <p:cNvSpPr txBox="1"/>
          <p:nvPr/>
        </p:nvSpPr>
        <p:spPr>
          <a:xfrm>
            <a:off x="1188720" y="4498848"/>
            <a:ext cx="5120640" cy="365760"/>
          </a:xfrm>
          <a:prstGeom prst="rect">
            <a:avLst/>
          </a:prstGeom>
          <a:noFill/>
          <a:ln/>
        </p:spPr>
        <p:txBody>
          <a:bodyPr wrap="square" lIns="0" tIns="0" rIns="0" bIns="0" rtlCol="0" anchor="t"/>
          <a:lstStyle/>
          <a:p>
            <a:pPr indent="0" marL="0">
              <a:buNone/>
            </a:pPr>
            <a:r>
              <a:rPr lang="en-US" sz="1400" b="1" dirty="0">
                <a:solidFill>
                  <a:srgbClr val="202124"/>
                </a:solidFill>
                <a:latin typeface="Arial" pitchFamily="34" charset="0"/>
                <a:ea typeface="Arial" pitchFamily="34" charset="-122"/>
                <a:cs typeface="Arial" pitchFamily="34" charset="-120"/>
              </a:rPr>
              <a:t>Under the hood</a:t>
            </a:r>
            <a:endParaRPr lang="en-US" sz="1400" dirty="0"/>
          </a:p>
        </p:txBody>
      </p:sp>
      <p:sp>
        <p:nvSpPr>
          <p:cNvPr id="15" name="Text 13"/>
          <p:cNvSpPr txBox="1"/>
          <p:nvPr/>
        </p:nvSpPr>
        <p:spPr>
          <a:xfrm>
            <a:off x="1188720" y="4892040"/>
            <a:ext cx="5212080" cy="868680"/>
          </a:xfrm>
          <a:prstGeom prst="rect">
            <a:avLst/>
          </a:prstGeom>
          <a:noFill/>
          <a:ln/>
        </p:spPr>
        <p:txBody>
          <a:bodyPr wrap="square" lIns="0" tIns="0" rIns="0" bIns="0" rtlCol="0" anchor="t"/>
          <a:lstStyle/>
          <a:p>
            <a:pPr indent="0" marL="0">
              <a:lnSpc>
                <a:spcPct val="120000"/>
              </a:lnSpc>
              <a:buNone/>
            </a:pPr>
            <a:r>
              <a:rPr lang="en-US" sz="1050" dirty="0">
                <a:solidFill>
                  <a:srgbClr val="5F6368"/>
                </a:solidFill>
                <a:latin typeface="Arial" pitchFamily="34" charset="0"/>
                <a:ea typeface="Arial" pitchFamily="34" charset="-122"/>
                <a:cs typeface="Arial" pitchFamily="34" charset="-120"/>
              </a:rPr>
              <a:t>The population-health MCP server, the live agent trace, and the evaluation tab: held-out model accuracy, the agent evalset, model choice and cost per question.</a:t>
            </a:r>
            <a:endParaRPr lang="en-US" sz="1050" dirty="0"/>
          </a:p>
        </p:txBody>
      </p:sp>
      <p:sp>
        <p:nvSpPr>
          <p:cNvPr id="16" name="Shape 14"/>
          <p:cNvSpPr/>
          <p:nvPr/>
        </p:nvSpPr>
        <p:spPr>
          <a:xfrm>
            <a:off x="6949440" y="1783080"/>
            <a:ext cx="4663440" cy="4160520"/>
          </a:xfrm>
          <a:prstGeom prst="roundRect">
            <a:avLst>
              <a:gd name="adj" fmla="val 1758"/>
            </a:avLst>
          </a:prstGeom>
          <a:solidFill>
            <a:srgbClr val="F8F9FA"/>
          </a:solidFill>
          <a:ln w="12700">
            <a:solidFill>
              <a:srgbClr val="F8F9FA"/>
            </a:solidFill>
            <a:prstDash val="solid"/>
          </a:ln>
        </p:spPr>
      </p:sp>
      <p:sp>
        <p:nvSpPr>
          <p:cNvPr id="17" name="Text 15"/>
          <p:cNvSpPr txBox="1"/>
          <p:nvPr/>
        </p:nvSpPr>
        <p:spPr>
          <a:xfrm>
            <a:off x="7178040" y="1920240"/>
            <a:ext cx="4297680" cy="274320"/>
          </a:xfrm>
          <a:prstGeom prst="rect">
            <a:avLst/>
          </a:prstGeom>
          <a:noFill/>
          <a:ln/>
        </p:spPr>
        <p:txBody>
          <a:bodyPr wrap="square" lIns="0" tIns="0" rIns="0" bIns="0" rtlCol="0" anchor="t"/>
          <a:lstStyle/>
          <a:p>
            <a:pPr indent="0" marL="0">
              <a:buNone/>
            </a:pPr>
            <a:r>
              <a:rPr lang="en-US" sz="1200" b="1" dirty="0">
                <a:solidFill>
                  <a:srgbClr val="202124"/>
                </a:solidFill>
                <a:latin typeface="Arial" pitchFamily="34" charset="0"/>
                <a:ea typeface="Arial" pitchFamily="34" charset="-122"/>
                <a:cs typeface="Arial" pitchFamily="34" charset="-120"/>
              </a:rPr>
              <a:t>What each demo component is on Google Cloud</a:t>
            </a:r>
            <a:endParaRPr lang="en-US" sz="1200" dirty="0"/>
          </a:p>
        </p:txBody>
      </p:sp>
      <p:sp>
        <p:nvSpPr>
          <p:cNvPr id="18" name="Text 16"/>
          <p:cNvSpPr txBox="1"/>
          <p:nvPr/>
        </p:nvSpPr>
        <p:spPr>
          <a:xfrm>
            <a:off x="7178040" y="2286000"/>
            <a:ext cx="1600200" cy="384048"/>
          </a:xfrm>
          <a:prstGeom prst="rect">
            <a:avLst/>
          </a:prstGeom>
          <a:noFill/>
          <a:ln/>
        </p:spPr>
        <p:txBody>
          <a:bodyPr wrap="square" lIns="0" tIns="0" rIns="0" bIns="0" rtlCol="0" anchor="ctr"/>
          <a:lstStyle/>
          <a:p>
            <a:pPr indent="0" marL="0">
              <a:buNone/>
            </a:pPr>
            <a:r>
              <a:rPr lang="en-US" sz="950" b="1" dirty="0">
                <a:solidFill>
                  <a:srgbClr val="202124"/>
                </a:solidFill>
                <a:latin typeface="Arial" pitchFamily="34" charset="0"/>
                <a:ea typeface="Arial" pitchFamily="34" charset="-122"/>
                <a:cs typeface="Arial" pitchFamily="34" charset="-120"/>
              </a:rPr>
              <a:t>HIE tables</a:t>
            </a:r>
            <a:endParaRPr lang="en-US" sz="950" dirty="0"/>
          </a:p>
        </p:txBody>
      </p:sp>
      <p:sp>
        <p:nvSpPr>
          <p:cNvPr id="19" name="Text 17"/>
          <p:cNvSpPr txBox="1"/>
          <p:nvPr/>
        </p:nvSpPr>
        <p:spPr>
          <a:xfrm>
            <a:off x="8778240" y="2286000"/>
            <a:ext cx="2697480" cy="384048"/>
          </a:xfrm>
          <a:prstGeom prst="rect">
            <a:avLst/>
          </a:prstGeom>
          <a:noFill/>
          <a:ln/>
        </p:spPr>
        <p:txBody>
          <a:bodyPr wrap="square" lIns="0" tIns="0" rIns="0" bIns="0" rtlCol="0" anchor="ctr"/>
          <a:lstStyle/>
          <a:p>
            <a:pPr indent="0" marL="0">
              <a:lnSpc>
                <a:spcPct val="105000"/>
              </a:lnSpc>
              <a:buNone/>
            </a:pPr>
            <a:r>
              <a:rPr lang="en-US" sz="900" dirty="0">
                <a:solidFill>
                  <a:srgbClr val="5F6368"/>
                </a:solidFill>
                <a:latin typeface="Arial" pitchFamily="34" charset="0"/>
                <a:ea typeface="Arial" pitchFamily="34" charset="-122"/>
                <a:cs typeface="Arial" pitchFamily="34" charset="-120"/>
              </a:rPr>
              <a:t>BigQuery, streamed from the Cloud Healthcare API FHIR store</a:t>
            </a:r>
            <a:endParaRPr lang="en-US" sz="900" dirty="0"/>
          </a:p>
        </p:txBody>
      </p:sp>
      <p:sp>
        <p:nvSpPr>
          <p:cNvPr id="20" name="Shape 18"/>
          <p:cNvSpPr/>
          <p:nvPr/>
        </p:nvSpPr>
        <p:spPr>
          <a:xfrm>
            <a:off x="7178040" y="2697480"/>
            <a:ext cx="4297680" cy="0"/>
          </a:xfrm>
          <a:prstGeom prst="line">
            <a:avLst/>
          </a:prstGeom>
          <a:noFill/>
          <a:ln w="6350">
            <a:solidFill>
              <a:srgbClr val="DADCE0"/>
            </a:solidFill>
            <a:prstDash val="solid"/>
          </a:ln>
        </p:spPr>
      </p:sp>
      <p:sp>
        <p:nvSpPr>
          <p:cNvPr id="21" name="Text 19"/>
          <p:cNvSpPr txBox="1"/>
          <p:nvPr/>
        </p:nvSpPr>
        <p:spPr>
          <a:xfrm>
            <a:off x="7178040" y="2724912"/>
            <a:ext cx="1600200" cy="384048"/>
          </a:xfrm>
          <a:prstGeom prst="rect">
            <a:avLst/>
          </a:prstGeom>
          <a:noFill/>
          <a:ln/>
        </p:spPr>
        <p:txBody>
          <a:bodyPr wrap="square" lIns="0" tIns="0" rIns="0" bIns="0" rtlCol="0" anchor="ctr"/>
          <a:lstStyle/>
          <a:p>
            <a:pPr indent="0" marL="0">
              <a:buNone/>
            </a:pPr>
            <a:r>
              <a:rPr lang="en-US" sz="950" b="1" dirty="0">
                <a:solidFill>
                  <a:srgbClr val="202124"/>
                </a:solidFill>
                <a:latin typeface="Arial" pitchFamily="34" charset="0"/>
                <a:ea typeface="Arial" pitchFamily="34" charset="-122"/>
                <a:cs typeface="Arial" pitchFamily="34" charset="-120"/>
              </a:rPr>
              <a:t>Guideline retrieval</a:t>
            </a:r>
            <a:endParaRPr lang="en-US" sz="950" dirty="0"/>
          </a:p>
        </p:txBody>
      </p:sp>
      <p:sp>
        <p:nvSpPr>
          <p:cNvPr id="22" name="Text 20"/>
          <p:cNvSpPr txBox="1"/>
          <p:nvPr/>
        </p:nvSpPr>
        <p:spPr>
          <a:xfrm>
            <a:off x="8778240" y="2724912"/>
            <a:ext cx="2697480" cy="384048"/>
          </a:xfrm>
          <a:prstGeom prst="rect">
            <a:avLst/>
          </a:prstGeom>
          <a:noFill/>
          <a:ln/>
        </p:spPr>
        <p:txBody>
          <a:bodyPr wrap="square" lIns="0" tIns="0" rIns="0" bIns="0" rtlCol="0" anchor="ctr"/>
          <a:lstStyle/>
          <a:p>
            <a:pPr indent="0" marL="0">
              <a:lnSpc>
                <a:spcPct val="105000"/>
              </a:lnSpc>
              <a:buNone/>
            </a:pPr>
            <a:r>
              <a:rPr lang="en-US" sz="900" dirty="0">
                <a:solidFill>
                  <a:srgbClr val="5F6368"/>
                </a:solidFill>
                <a:latin typeface="Arial" pitchFamily="34" charset="0"/>
                <a:ea typeface="Arial" pitchFamily="34" charset="-122"/>
                <a:cs typeface="Arial" pitchFamily="34" charset="-120"/>
              </a:rPr>
              <a:t>Vertex AI RAG Engine over a Cloud Storage corpus</a:t>
            </a:r>
            <a:endParaRPr lang="en-US" sz="900" dirty="0"/>
          </a:p>
        </p:txBody>
      </p:sp>
      <p:sp>
        <p:nvSpPr>
          <p:cNvPr id="23" name="Shape 21"/>
          <p:cNvSpPr/>
          <p:nvPr/>
        </p:nvSpPr>
        <p:spPr>
          <a:xfrm>
            <a:off x="7178040" y="3136392"/>
            <a:ext cx="4297680" cy="0"/>
          </a:xfrm>
          <a:prstGeom prst="line">
            <a:avLst/>
          </a:prstGeom>
          <a:noFill/>
          <a:ln w="6350">
            <a:solidFill>
              <a:srgbClr val="DADCE0"/>
            </a:solidFill>
            <a:prstDash val="solid"/>
          </a:ln>
        </p:spPr>
      </p:sp>
      <p:sp>
        <p:nvSpPr>
          <p:cNvPr id="24" name="Text 22"/>
          <p:cNvSpPr txBox="1"/>
          <p:nvPr/>
        </p:nvSpPr>
        <p:spPr>
          <a:xfrm>
            <a:off x="7178040" y="3163824"/>
            <a:ext cx="1600200" cy="384048"/>
          </a:xfrm>
          <a:prstGeom prst="rect">
            <a:avLst/>
          </a:prstGeom>
          <a:noFill/>
          <a:ln/>
        </p:spPr>
        <p:txBody>
          <a:bodyPr wrap="square" lIns="0" tIns="0" rIns="0" bIns="0" rtlCol="0" anchor="ctr"/>
          <a:lstStyle/>
          <a:p>
            <a:pPr indent="0" marL="0">
              <a:buNone/>
            </a:pPr>
            <a:r>
              <a:rPr lang="en-US" sz="950" b="1" dirty="0">
                <a:solidFill>
                  <a:srgbClr val="202124"/>
                </a:solidFill>
                <a:latin typeface="Arial" pitchFamily="34" charset="0"/>
                <a:ea typeface="Arial" pitchFamily="34" charset="-122"/>
                <a:cs typeface="Arial" pitchFamily="34" charset="-120"/>
              </a:rPr>
              <a:t>Risk model</a:t>
            </a:r>
            <a:endParaRPr lang="en-US" sz="950" dirty="0"/>
          </a:p>
        </p:txBody>
      </p:sp>
      <p:sp>
        <p:nvSpPr>
          <p:cNvPr id="25" name="Text 23"/>
          <p:cNvSpPr txBox="1"/>
          <p:nvPr/>
        </p:nvSpPr>
        <p:spPr>
          <a:xfrm>
            <a:off x="8778240" y="3163824"/>
            <a:ext cx="2697480" cy="384048"/>
          </a:xfrm>
          <a:prstGeom prst="rect">
            <a:avLst/>
          </a:prstGeom>
          <a:noFill/>
          <a:ln/>
        </p:spPr>
        <p:txBody>
          <a:bodyPr wrap="square" lIns="0" tIns="0" rIns="0" bIns="0" rtlCol="0" anchor="ctr"/>
          <a:lstStyle/>
          <a:p>
            <a:pPr indent="0" marL="0">
              <a:lnSpc>
                <a:spcPct val="105000"/>
              </a:lnSpc>
              <a:buNone/>
            </a:pPr>
            <a:r>
              <a:rPr lang="en-US" sz="900" dirty="0">
                <a:solidFill>
                  <a:srgbClr val="5F6368"/>
                </a:solidFill>
                <a:latin typeface="Arial" pitchFamily="34" charset="0"/>
                <a:ea typeface="Arial" pitchFamily="34" charset="-122"/>
                <a:cs typeface="Arial" pitchFamily="34" charset="-120"/>
              </a:rPr>
              <a:t>BigQuery ML or Vertex AI training; online endpoint for scoring</a:t>
            </a:r>
            <a:endParaRPr lang="en-US" sz="900" dirty="0"/>
          </a:p>
        </p:txBody>
      </p:sp>
      <p:sp>
        <p:nvSpPr>
          <p:cNvPr id="26" name="Shape 24"/>
          <p:cNvSpPr/>
          <p:nvPr/>
        </p:nvSpPr>
        <p:spPr>
          <a:xfrm>
            <a:off x="7178040" y="3575304"/>
            <a:ext cx="4297680" cy="0"/>
          </a:xfrm>
          <a:prstGeom prst="line">
            <a:avLst/>
          </a:prstGeom>
          <a:noFill/>
          <a:ln w="6350">
            <a:solidFill>
              <a:srgbClr val="DADCE0"/>
            </a:solidFill>
            <a:prstDash val="solid"/>
          </a:ln>
        </p:spPr>
      </p:sp>
      <p:sp>
        <p:nvSpPr>
          <p:cNvPr id="27" name="Text 25"/>
          <p:cNvSpPr txBox="1"/>
          <p:nvPr/>
        </p:nvSpPr>
        <p:spPr>
          <a:xfrm>
            <a:off x="7178040" y="3602736"/>
            <a:ext cx="1600200" cy="384048"/>
          </a:xfrm>
          <a:prstGeom prst="rect">
            <a:avLst/>
          </a:prstGeom>
          <a:noFill/>
          <a:ln/>
        </p:spPr>
        <p:txBody>
          <a:bodyPr wrap="square" lIns="0" tIns="0" rIns="0" bIns="0" rtlCol="0" anchor="ctr"/>
          <a:lstStyle/>
          <a:p>
            <a:pPr indent="0" marL="0">
              <a:buNone/>
            </a:pPr>
            <a:r>
              <a:rPr lang="en-US" sz="950" b="1" dirty="0">
                <a:solidFill>
                  <a:srgbClr val="202124"/>
                </a:solidFill>
                <a:latin typeface="Arial" pitchFamily="34" charset="0"/>
                <a:ea typeface="Arial" pitchFamily="34" charset="-122"/>
                <a:cs typeface="Arial" pitchFamily="34" charset="-120"/>
              </a:rPr>
              <a:t>Agents</a:t>
            </a:r>
            <a:endParaRPr lang="en-US" sz="950" dirty="0"/>
          </a:p>
        </p:txBody>
      </p:sp>
      <p:sp>
        <p:nvSpPr>
          <p:cNvPr id="28" name="Text 26"/>
          <p:cNvSpPr txBox="1"/>
          <p:nvPr/>
        </p:nvSpPr>
        <p:spPr>
          <a:xfrm>
            <a:off x="8778240" y="3602736"/>
            <a:ext cx="2697480" cy="384048"/>
          </a:xfrm>
          <a:prstGeom prst="rect">
            <a:avLst/>
          </a:prstGeom>
          <a:noFill/>
          <a:ln/>
        </p:spPr>
        <p:txBody>
          <a:bodyPr wrap="square" lIns="0" tIns="0" rIns="0" bIns="0" rtlCol="0" anchor="ctr"/>
          <a:lstStyle/>
          <a:p>
            <a:pPr indent="0" marL="0">
              <a:lnSpc>
                <a:spcPct val="105000"/>
              </a:lnSpc>
              <a:buNone/>
            </a:pPr>
            <a:r>
              <a:rPr lang="en-US" sz="900" dirty="0">
                <a:solidFill>
                  <a:srgbClr val="5F6368"/>
                </a:solidFill>
                <a:latin typeface="Arial" pitchFamily="34" charset="0"/>
                <a:ea typeface="Arial" pitchFamily="34" charset="-122"/>
                <a:cs typeface="Arial" pitchFamily="34" charset="-120"/>
              </a:rPr>
              <a:t>ADK on Cloud Run in Doha; Agent Engine when available in region</a:t>
            </a:r>
            <a:endParaRPr lang="en-US" sz="900" dirty="0"/>
          </a:p>
        </p:txBody>
      </p:sp>
      <p:sp>
        <p:nvSpPr>
          <p:cNvPr id="29" name="Shape 27"/>
          <p:cNvSpPr/>
          <p:nvPr/>
        </p:nvSpPr>
        <p:spPr>
          <a:xfrm>
            <a:off x="7178040" y="4014216"/>
            <a:ext cx="4297680" cy="0"/>
          </a:xfrm>
          <a:prstGeom prst="line">
            <a:avLst/>
          </a:prstGeom>
          <a:noFill/>
          <a:ln w="6350">
            <a:solidFill>
              <a:srgbClr val="DADCE0"/>
            </a:solidFill>
            <a:prstDash val="solid"/>
          </a:ln>
        </p:spPr>
      </p:sp>
      <p:sp>
        <p:nvSpPr>
          <p:cNvPr id="30" name="Text 28"/>
          <p:cNvSpPr txBox="1"/>
          <p:nvPr/>
        </p:nvSpPr>
        <p:spPr>
          <a:xfrm>
            <a:off x="7178040" y="4041648"/>
            <a:ext cx="1600200" cy="384048"/>
          </a:xfrm>
          <a:prstGeom prst="rect">
            <a:avLst/>
          </a:prstGeom>
          <a:noFill/>
          <a:ln/>
        </p:spPr>
        <p:txBody>
          <a:bodyPr wrap="square" lIns="0" tIns="0" rIns="0" bIns="0" rtlCol="0" anchor="ctr"/>
          <a:lstStyle/>
          <a:p>
            <a:pPr indent="0" marL="0">
              <a:buNone/>
            </a:pPr>
            <a:r>
              <a:rPr lang="en-US" sz="950" b="1" dirty="0">
                <a:solidFill>
                  <a:srgbClr val="202124"/>
                </a:solidFill>
                <a:latin typeface="Arial" pitchFamily="34" charset="0"/>
                <a:ea typeface="Arial" pitchFamily="34" charset="-122"/>
                <a:cs typeface="Arial" pitchFamily="34" charset="-120"/>
              </a:rPr>
              <a:t>Population-health MCP</a:t>
            </a:r>
            <a:endParaRPr lang="en-US" sz="950" dirty="0"/>
          </a:p>
        </p:txBody>
      </p:sp>
      <p:sp>
        <p:nvSpPr>
          <p:cNvPr id="31" name="Text 29"/>
          <p:cNvSpPr txBox="1"/>
          <p:nvPr/>
        </p:nvSpPr>
        <p:spPr>
          <a:xfrm>
            <a:off x="8778240" y="4041648"/>
            <a:ext cx="2697480" cy="384048"/>
          </a:xfrm>
          <a:prstGeom prst="rect">
            <a:avLst/>
          </a:prstGeom>
          <a:noFill/>
          <a:ln/>
        </p:spPr>
        <p:txBody>
          <a:bodyPr wrap="square" lIns="0" tIns="0" rIns="0" bIns="0" rtlCol="0" anchor="ctr"/>
          <a:lstStyle/>
          <a:p>
            <a:pPr indent="0" marL="0">
              <a:lnSpc>
                <a:spcPct val="105000"/>
              </a:lnSpc>
              <a:buNone/>
            </a:pPr>
            <a:r>
              <a:rPr lang="en-US" sz="900" dirty="0">
                <a:solidFill>
                  <a:srgbClr val="5F6368"/>
                </a:solidFill>
                <a:latin typeface="Arial" pitchFamily="34" charset="0"/>
                <a:ea typeface="Arial" pitchFamily="34" charset="-122"/>
                <a:cs typeface="Arial" pitchFamily="34" charset="-120"/>
              </a:rPr>
              <a:t>Cloud Run service, alongside Google's MCP Toolbox</a:t>
            </a:r>
            <a:endParaRPr lang="en-US" sz="900" dirty="0"/>
          </a:p>
        </p:txBody>
      </p:sp>
      <p:sp>
        <p:nvSpPr>
          <p:cNvPr id="32" name="Shape 30"/>
          <p:cNvSpPr/>
          <p:nvPr/>
        </p:nvSpPr>
        <p:spPr>
          <a:xfrm>
            <a:off x="7178040" y="4453128"/>
            <a:ext cx="4297680" cy="0"/>
          </a:xfrm>
          <a:prstGeom prst="line">
            <a:avLst/>
          </a:prstGeom>
          <a:noFill/>
          <a:ln w="6350">
            <a:solidFill>
              <a:srgbClr val="DADCE0"/>
            </a:solidFill>
            <a:prstDash val="solid"/>
          </a:ln>
        </p:spPr>
      </p:sp>
      <p:sp>
        <p:nvSpPr>
          <p:cNvPr id="33" name="Text 31"/>
          <p:cNvSpPr txBox="1"/>
          <p:nvPr/>
        </p:nvSpPr>
        <p:spPr>
          <a:xfrm>
            <a:off x="7178040" y="4480560"/>
            <a:ext cx="1600200" cy="384048"/>
          </a:xfrm>
          <a:prstGeom prst="rect">
            <a:avLst/>
          </a:prstGeom>
          <a:noFill/>
          <a:ln/>
        </p:spPr>
        <p:txBody>
          <a:bodyPr wrap="square" lIns="0" tIns="0" rIns="0" bIns="0" rtlCol="0" anchor="ctr"/>
          <a:lstStyle/>
          <a:p>
            <a:pPr indent="0" marL="0">
              <a:buNone/>
            </a:pPr>
            <a:r>
              <a:rPr lang="en-US" sz="950" b="1" dirty="0">
                <a:solidFill>
                  <a:srgbClr val="202124"/>
                </a:solidFill>
                <a:latin typeface="Arial" pitchFamily="34" charset="0"/>
                <a:ea typeface="Arial" pitchFamily="34" charset="-122"/>
                <a:cs typeface="Arial" pitchFamily="34" charset="-120"/>
              </a:rPr>
              <a:t>Approval queue</a:t>
            </a:r>
            <a:endParaRPr lang="en-US" sz="950" dirty="0"/>
          </a:p>
        </p:txBody>
      </p:sp>
      <p:sp>
        <p:nvSpPr>
          <p:cNvPr id="34" name="Text 32"/>
          <p:cNvSpPr txBox="1"/>
          <p:nvPr/>
        </p:nvSpPr>
        <p:spPr>
          <a:xfrm>
            <a:off x="8778240" y="4480560"/>
            <a:ext cx="2697480" cy="384048"/>
          </a:xfrm>
          <a:prstGeom prst="rect">
            <a:avLst/>
          </a:prstGeom>
          <a:noFill/>
          <a:ln/>
        </p:spPr>
        <p:txBody>
          <a:bodyPr wrap="square" lIns="0" tIns="0" rIns="0" bIns="0" rtlCol="0" anchor="ctr"/>
          <a:lstStyle/>
          <a:p>
            <a:pPr indent="0" marL="0">
              <a:lnSpc>
                <a:spcPct val="105000"/>
              </a:lnSpc>
              <a:buNone/>
            </a:pPr>
            <a:r>
              <a:rPr lang="en-US" sz="900" dirty="0">
                <a:solidFill>
                  <a:srgbClr val="5F6368"/>
                </a:solidFill>
                <a:latin typeface="Arial" pitchFamily="34" charset="0"/>
                <a:ea typeface="Arial" pitchFamily="34" charset="-122"/>
                <a:cs typeface="Arial" pitchFamily="34" charset="-120"/>
              </a:rPr>
              <a:t>AlloyDB; signed items written back as FHIR Task</a:t>
            </a:r>
            <a:endParaRPr lang="en-US" sz="900" dirty="0"/>
          </a:p>
        </p:txBody>
      </p:sp>
      <p:sp>
        <p:nvSpPr>
          <p:cNvPr id="35" name="Shape 33"/>
          <p:cNvSpPr/>
          <p:nvPr/>
        </p:nvSpPr>
        <p:spPr>
          <a:xfrm>
            <a:off x="7178040" y="4892040"/>
            <a:ext cx="4297680" cy="0"/>
          </a:xfrm>
          <a:prstGeom prst="line">
            <a:avLst/>
          </a:prstGeom>
          <a:noFill/>
          <a:ln w="6350">
            <a:solidFill>
              <a:srgbClr val="DADCE0"/>
            </a:solidFill>
            <a:prstDash val="solid"/>
          </a:ln>
        </p:spPr>
      </p:sp>
      <p:sp>
        <p:nvSpPr>
          <p:cNvPr id="36" name="Text 34"/>
          <p:cNvSpPr txBox="1"/>
          <p:nvPr/>
        </p:nvSpPr>
        <p:spPr>
          <a:xfrm>
            <a:off x="7178040" y="4919472"/>
            <a:ext cx="1600200" cy="384048"/>
          </a:xfrm>
          <a:prstGeom prst="rect">
            <a:avLst/>
          </a:prstGeom>
          <a:noFill/>
          <a:ln/>
        </p:spPr>
        <p:txBody>
          <a:bodyPr wrap="square" lIns="0" tIns="0" rIns="0" bIns="0" rtlCol="0" anchor="ctr"/>
          <a:lstStyle/>
          <a:p>
            <a:pPr indent="0" marL="0">
              <a:buNone/>
            </a:pPr>
            <a:r>
              <a:rPr lang="en-US" sz="950" b="1" dirty="0">
                <a:solidFill>
                  <a:srgbClr val="202124"/>
                </a:solidFill>
                <a:latin typeface="Arial" pitchFamily="34" charset="0"/>
                <a:ea typeface="Arial" pitchFamily="34" charset="-122"/>
                <a:cs typeface="Arial" pitchFamily="34" charset="-120"/>
              </a:rPr>
              <a:t>Voice</a:t>
            </a:r>
            <a:endParaRPr lang="en-US" sz="950" dirty="0"/>
          </a:p>
        </p:txBody>
      </p:sp>
      <p:sp>
        <p:nvSpPr>
          <p:cNvPr id="37" name="Text 35"/>
          <p:cNvSpPr txBox="1"/>
          <p:nvPr/>
        </p:nvSpPr>
        <p:spPr>
          <a:xfrm>
            <a:off x="8778240" y="4919472"/>
            <a:ext cx="2697480" cy="384048"/>
          </a:xfrm>
          <a:prstGeom prst="rect">
            <a:avLst/>
          </a:prstGeom>
          <a:noFill/>
          <a:ln/>
        </p:spPr>
        <p:txBody>
          <a:bodyPr wrap="square" lIns="0" tIns="0" rIns="0" bIns="0" rtlCol="0" anchor="ctr"/>
          <a:lstStyle/>
          <a:p>
            <a:pPr indent="0" marL="0">
              <a:lnSpc>
                <a:spcPct val="105000"/>
              </a:lnSpc>
              <a:buNone/>
            </a:pPr>
            <a:r>
              <a:rPr lang="en-US" sz="900" dirty="0">
                <a:solidFill>
                  <a:srgbClr val="5F6368"/>
                </a:solidFill>
                <a:latin typeface="Arial" pitchFamily="34" charset="0"/>
                <a:ea typeface="Arial" pitchFamily="34" charset="-122"/>
                <a:cs typeface="Arial" pitchFamily="34" charset="-120"/>
              </a:rPr>
              <a:t>Speech-to-Text and Text-to-Speech, Arabic and English</a:t>
            </a:r>
            <a:endParaRPr lang="en-US" sz="900" dirty="0"/>
          </a:p>
        </p:txBody>
      </p:sp>
      <p:sp>
        <p:nvSpPr>
          <p:cNvPr id="38" name="Shape 36"/>
          <p:cNvSpPr/>
          <p:nvPr/>
        </p:nvSpPr>
        <p:spPr>
          <a:xfrm>
            <a:off x="7178040" y="5330952"/>
            <a:ext cx="4297680" cy="0"/>
          </a:xfrm>
          <a:prstGeom prst="line">
            <a:avLst/>
          </a:prstGeom>
          <a:noFill/>
          <a:ln w="6350">
            <a:solidFill>
              <a:srgbClr val="DADCE0"/>
            </a:solidFill>
            <a:prstDash val="solid"/>
          </a:ln>
        </p:spPr>
      </p:sp>
      <p:sp>
        <p:nvSpPr>
          <p:cNvPr id="39" name="Text 37"/>
          <p:cNvSpPr txBox="1"/>
          <p:nvPr/>
        </p:nvSpPr>
        <p:spPr>
          <a:xfrm>
            <a:off x="7178040" y="5358384"/>
            <a:ext cx="1600200" cy="384048"/>
          </a:xfrm>
          <a:prstGeom prst="rect">
            <a:avLst/>
          </a:prstGeom>
          <a:noFill/>
          <a:ln/>
        </p:spPr>
        <p:txBody>
          <a:bodyPr wrap="square" lIns="0" tIns="0" rIns="0" bIns="0" rtlCol="0" anchor="ctr"/>
          <a:lstStyle/>
          <a:p>
            <a:pPr indent="0" marL="0">
              <a:buNone/>
            </a:pPr>
            <a:r>
              <a:rPr lang="en-US" sz="950" b="1" dirty="0">
                <a:solidFill>
                  <a:srgbClr val="202124"/>
                </a:solidFill>
                <a:latin typeface="Arial" pitchFamily="34" charset="0"/>
                <a:ea typeface="Arial" pitchFamily="34" charset="-122"/>
                <a:cs typeface="Arial" pitchFamily="34" charset="-120"/>
              </a:rPr>
              <a:t>Evaluation</a:t>
            </a:r>
            <a:endParaRPr lang="en-US" sz="950" dirty="0"/>
          </a:p>
        </p:txBody>
      </p:sp>
      <p:sp>
        <p:nvSpPr>
          <p:cNvPr id="40" name="Text 38"/>
          <p:cNvSpPr txBox="1"/>
          <p:nvPr/>
        </p:nvSpPr>
        <p:spPr>
          <a:xfrm>
            <a:off x="8778240" y="5358384"/>
            <a:ext cx="2697480" cy="384048"/>
          </a:xfrm>
          <a:prstGeom prst="rect">
            <a:avLst/>
          </a:prstGeom>
          <a:noFill/>
          <a:ln/>
        </p:spPr>
        <p:txBody>
          <a:bodyPr wrap="square" lIns="0" tIns="0" rIns="0" bIns="0" rtlCol="0" anchor="ctr"/>
          <a:lstStyle/>
          <a:p>
            <a:pPr indent="0" marL="0">
              <a:lnSpc>
                <a:spcPct val="105000"/>
              </a:lnSpc>
              <a:buNone/>
            </a:pPr>
            <a:r>
              <a:rPr lang="en-US" sz="900" dirty="0">
                <a:solidFill>
                  <a:srgbClr val="5F6368"/>
                </a:solidFill>
                <a:latin typeface="Arial" pitchFamily="34" charset="0"/>
                <a:ea typeface="Arial" pitchFamily="34" charset="-122"/>
                <a:cs typeface="Arial" pitchFamily="34" charset="-120"/>
              </a:rPr>
              <a:t>Gen AI Evaluation Service with Gemini Pro as judge, in Cloud Build</a:t>
            </a:r>
            <a:endParaRPr lang="en-US" sz="900" dirty="0"/>
          </a:p>
        </p:txBody>
      </p:sp>
      <p:sp>
        <p:nvSpPr>
          <p:cNvPr id="41" name="Text 39"/>
          <p:cNvSpPr txBox="1"/>
          <p:nvPr/>
        </p:nvSpPr>
        <p:spPr>
          <a:xfrm>
            <a:off x="548640" y="6446520"/>
            <a:ext cx="9144000" cy="228600"/>
          </a:xfrm>
          <a:prstGeom prst="rect">
            <a:avLst/>
          </a:prstGeom>
          <a:noFill/>
          <a:ln/>
        </p:spPr>
        <p:txBody>
          <a:bodyPr wrap="square" lIns="0" tIns="0" rIns="0" bIns="0" rtlCol="0" anchor="t"/>
          <a:lstStyle/>
          <a:p>
            <a:pPr indent="0" marL="0">
              <a:buNone/>
            </a:pPr>
            <a:r>
              <a:rPr lang="en-US" sz="850" dirty="0">
                <a:solidFill>
                  <a:srgbClr val="9AA0A6"/>
                </a:solidFill>
                <a:latin typeface="Arial" pitchFamily="34" charset="0"/>
                <a:ea typeface="Arial" pitchFamily="34" charset="-122"/>
                <a:cs typeface="Arial" pitchFamily="34" charset="-120"/>
              </a:rPr>
              <a:t>Nabd نبض · Diabetes population health on Google Cloud · Customer Engineering</a:t>
            </a:r>
            <a:endParaRPr lang="en-US" sz="850" dirty="0"/>
          </a:p>
        </p:txBody>
      </p:sp>
      <p:sp>
        <p:nvSpPr>
          <p:cNvPr id="42" name="Text 40"/>
          <p:cNvSpPr txBox="1"/>
          <p:nvPr/>
        </p:nvSpPr>
        <p:spPr>
          <a:xfrm>
            <a:off x="11155680" y="6446520"/>
            <a:ext cx="457200" cy="228600"/>
          </a:xfrm>
          <a:prstGeom prst="rect">
            <a:avLst/>
          </a:prstGeom>
          <a:noFill/>
          <a:ln/>
        </p:spPr>
        <p:txBody>
          <a:bodyPr wrap="square" lIns="0" tIns="0" rIns="0" bIns="0" rtlCol="0" anchor="t"/>
          <a:lstStyle/>
          <a:p>
            <a:pPr algn="r" indent="0" marL="0">
              <a:buNone/>
            </a:pPr>
            <a:r>
              <a:rPr lang="en-US" sz="850" dirty="0">
                <a:solidFill>
                  <a:srgbClr val="9AA0A6"/>
                </a:solidFill>
                <a:latin typeface="Arial" pitchFamily="34" charset="0"/>
                <a:ea typeface="Arial" pitchFamily="34" charset="-122"/>
                <a:cs typeface="Arial" pitchFamily="34" charset="-120"/>
              </a:rPr>
              <a:t>9</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Nabd: diabetes population health on Google Cloud</dc:title>
  <dc:subject>PptxGenJS Presentation</dc:subject>
  <dc:creator>Raed Aldweik</dc:creator>
  <cp:lastModifiedBy>Raed Aldweik</cp:lastModifiedBy>
  <cp:revision>1</cp:revision>
  <dcterms:created xsi:type="dcterms:W3CDTF">2026-09-10T02:31:34Z</dcterms:created>
  <dcterms:modified xsi:type="dcterms:W3CDTF">2026-09-10T02:31:34Z</dcterms:modified>
</cp:coreProperties>
</file>