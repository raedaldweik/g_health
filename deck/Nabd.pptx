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customer, not the product. The ministry already has a national exchange, a diabetes registry and a predictive programme. What follows is the next step: letting any clinician or director ask the exchange a question and get an answer that is grounded, governed and actionable. Say out loud, not on the slide: the target platform is Google Cloud in Doha, me-central1. Set expectations: nine slides, then twenty minutes in the live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on three numbers, then move quickly to the three pains, which are the customer's words. The line to underline: the registry can describe the population; it cannot yet tell a nurse who to call this morning. That sentence is the gap the rest of the deck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 respect what you built" slide. Stages one and two are what the predictive programme already delivers: patient summary, prediction, risk profiles, visit forecasts. Stage three is the proposal. The models and the registry are not replaced; they become tools the agent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tile to something the panel saw in the predictive programme so it reads as continuity. The right column answers the question everyone is thinking, which is whether the assistant can be trusted clinically: four rules, all enforced in code, all visible in the demo (trace, citations, queue,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once: question, supervisor, specialists, tools, evidence. Say out loud: the language model is Gemini Flash and the framework is the Agent Development Kit; on Google Cloud the data specialist is the MCP Toolbox over BigQuery, the guideline specialist is Vertex AI RAG Engine, the risk specialist is a Vertex AI endpoint. Pre-empt "why five agents": this is the orchestration pattern used in the prototype, not a settled production architecture. It demonstrates potential advantages of specialist separation: tool scoping (the guideline agent has no drafting tool; tool exposure, not a separate security identity), modular evaluation (each specialist has its own test set), and a measured prompt-size difference (a flat agent re-reads every tool schema on every hop; the measurement is in the evaluation tab). In discovery we would benchmark a single tool-calling agent, a supervisor/router and the specialist pattern against the customer's evalset before choosing the production topology. The MCP specialist is the interesting one: Google provides MCP connectivity to BigQuery and the FHIR store; Nabd adds the population-health operations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first version honestly: this is where the pattern was proven. An orchestrating agent, guideline grounding, an MCP server exposing SQL, models, decision flows and charts. Then the pivot sentence: the pattern is right; the question for the ministry is which platform runs it at national scale, in Doha, with managed services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Say the Google services out loud, box by box: the managed FHIR store is the Cloud Healthcare API; the warehouse is BigQuery with BigQuery ML; object storage is Cloud Storage; managed retrieval is Vertex AI RAG Engine; the model platform is Vertex AI (pipelines, Model Registry, online endpoint); the serverless app is Cloud Run; the agent runtime is the Agent Development Kit on Gemini, on Cloud Run in Doha, with a managed agent runtime where supported and approved; the data tools are the MCP Toolbox for BigQuery and FHIR; the queue lives in AlloyDB; write-back is a FHIR Task through the Healthcare API. Sovereignty: Assured Workloads with the Qatar data boundary, Cloud KMS keys, VPC Service Controls, Cloud Audit Logs; PHI and identifiable data stay inside the boundary, and the model endpoint and what may enter a prompt are agreed with the ministry's DPO and security team on supported regional processing; the demo uses synthetic data only. This follows Google's own RAG reference architecture: an ingestion subsystem and a serving subsystem.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for the technical questions. Say the Google names out loud: Identity-Aware Proxy in front, Cloud Run for the app and the agent, Gemini Flash via Vertex AI, sessions in AlloyDB, the MCP Toolbox over BigQuery, a Vertex AI endpoint, RAG Engine; the Cloud Healthcare API FHIR store, Pub/Sub events, BigQuery streaming export, Dataform marts, BigQuery ML batch scoring; Terraform, Cloud Build, Artifact Registry, Cloud Logging, Cloud Trace, Cloud Monitoring. Top lane: one question is one synchronous path, five hops, streamed. Middle lane: population numbers are batch, rebuilt nightly, because they move over weeks; only the per-patient signal is event-driven. Bottom lane: for zonal resilience we would use regional managed services and validate each service's HA characteristics against the customer's SLOs; a regional outage is the honest trade-off of strict in-country residency, so in discovery we agree the required RPO and RTO and whether policy permits a compliant secondary recovery location, and if cross-region replication is prohibited a complete regional outage is an accepted dependency on restoration of the Qatar region; model saturation degrades to the direct tool path, which the demo can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deck by making the demo the proof: three acts, twenty minutes, every number computed live. The right-hand table is where you name the Google services out loud, one per row: BigQuery fed by the Cloud Healthcare API; Vertex AI RAG Engine; BigQuery ML or Vertex AI training with an online endpoint; ADK on Cloud Run in Doha, a managed agent runtime where supported and approved; Cloud Run beside the MCP Toolbox; AlloyDB and FHIR Tasks through the Healthcare API; Speech-to-Text and Text-to-Speech; the Gen AI Evaluation Service with Gemini Pro as judge in Cloud Build. Then switch to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82880" cy="182880"/>
          </a:xfrm>
          <a:prstGeom prst="ellipse">
            <a:avLst/>
          </a:prstGeom>
          <a:solidFill>
            <a:srgbClr val="4285F4"/>
          </a:solidFill>
          <a:ln w="12700">
            <a:solidFill>
              <a:srgbClr val="4285F4"/>
            </a:solidFill>
            <a:prstDash val="solid"/>
          </a:ln>
        </p:spPr>
      </p:sp>
      <p:sp>
        <p:nvSpPr>
          <p:cNvPr id="3" name="Shape 1"/>
          <p:cNvSpPr/>
          <p:nvPr/>
        </p:nvSpPr>
        <p:spPr>
          <a:xfrm>
            <a:off x="822960" y="566928"/>
            <a:ext cx="182880" cy="182880"/>
          </a:xfrm>
          <a:prstGeom prst="ellipse">
            <a:avLst/>
          </a:prstGeom>
          <a:solidFill>
            <a:srgbClr val="EA4335"/>
          </a:solidFill>
          <a:ln w="12700">
            <a:solidFill>
              <a:srgbClr val="EA4335"/>
            </a:solidFill>
            <a:prstDash val="solid"/>
          </a:ln>
        </p:spPr>
      </p:sp>
      <p:sp>
        <p:nvSpPr>
          <p:cNvPr id="4" name="Shape 2"/>
          <p:cNvSpPr/>
          <p:nvPr/>
        </p:nvSpPr>
        <p:spPr>
          <a:xfrm>
            <a:off x="1097280" y="566928"/>
            <a:ext cx="182880" cy="182880"/>
          </a:xfrm>
          <a:prstGeom prst="ellipse">
            <a:avLst/>
          </a:prstGeom>
          <a:solidFill>
            <a:srgbClr val="FBBC04"/>
          </a:solidFill>
          <a:ln w="12700">
            <a:solidFill>
              <a:srgbClr val="FBBC04"/>
            </a:solidFill>
            <a:prstDash val="solid"/>
          </a:ln>
        </p:spPr>
      </p:sp>
      <p:sp>
        <p:nvSpPr>
          <p:cNvPr id="5" name="Shape 3"/>
          <p:cNvSpPr/>
          <p:nvPr/>
        </p:nvSpPr>
        <p:spPr>
          <a:xfrm>
            <a:off x="1371600" y="566928"/>
            <a:ext cx="182880" cy="182880"/>
          </a:xfrm>
          <a:prstGeom prst="ellipse">
            <a:avLst/>
          </a:prstGeom>
          <a:solidFill>
            <a:srgbClr val="34A853"/>
          </a:solidFill>
          <a:ln w="12700">
            <a:solidFill>
              <a:srgbClr val="34A853"/>
            </a:solidFill>
            <a:prstDash val="solid"/>
          </a:ln>
        </p:spPr>
      </p:sp>
      <p:sp>
        <p:nvSpPr>
          <p:cNvPr id="6" name="Text 4"/>
          <p:cNvSpPr txBox="1"/>
          <p:nvPr/>
        </p:nvSpPr>
        <p:spPr>
          <a:xfrm>
            <a:off x="1691640" y="548640"/>
            <a:ext cx="7315200" cy="27432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Customer Engineering</a:t>
            </a:r>
            <a:endParaRPr lang="en-US" sz="1100" dirty="0"/>
          </a:p>
        </p:txBody>
      </p:sp>
      <p:sp>
        <p:nvSpPr>
          <p:cNvPr id="7" name="Text 5"/>
          <p:cNvSpPr txBox="1"/>
          <p:nvPr/>
        </p:nvSpPr>
        <p:spPr>
          <a:xfrm>
            <a:off x="548640" y="1737360"/>
            <a:ext cx="5486400" cy="914400"/>
          </a:xfrm>
          <a:prstGeom prst="rect">
            <a:avLst/>
          </a:prstGeom>
          <a:noFill/>
          <a:ln/>
        </p:spPr>
        <p:txBody>
          <a:bodyPr wrap="square" lIns="0" tIns="0" rIns="0" bIns="0" rtlCol="0" anchor="t"/>
          <a:lstStyle/>
          <a:p>
            <a:pPr indent="0" marL="0">
              <a:buNone/>
            </a:pPr>
            <a:r>
              <a:rPr lang="en-US" sz="5400" b="1" dirty="0">
                <a:solidFill>
                  <a:srgbClr val="202124"/>
                </a:solidFill>
                <a:latin typeface="Arial" pitchFamily="34" charset="0"/>
                <a:ea typeface="Arial" pitchFamily="34" charset="-122"/>
                <a:cs typeface="Arial" pitchFamily="34" charset="-120"/>
              </a:rPr>
              <a:t>Nabd</a:t>
            </a:r>
            <a:endParaRPr lang="en-US" sz="5400" dirty="0"/>
          </a:p>
        </p:txBody>
      </p:sp>
      <p:sp>
        <p:nvSpPr>
          <p:cNvPr id="8" name="Text 6"/>
          <p:cNvSpPr txBox="1"/>
          <p:nvPr/>
        </p:nvSpPr>
        <p:spPr>
          <a:xfrm>
            <a:off x="2331720" y="1810512"/>
            <a:ext cx="2743200" cy="914400"/>
          </a:xfrm>
          <a:prstGeom prst="rect">
            <a:avLst/>
          </a:prstGeom>
          <a:noFill/>
          <a:ln/>
        </p:spPr>
        <p:txBody>
          <a:bodyPr wrap="square" lIns="0" tIns="0" rIns="0" bIns="0" rtlCol="0" anchor="t"/>
          <a:lstStyle/>
          <a:p>
            <a:pPr indent="0" marL="0">
              <a:buNone/>
            </a:pPr>
            <a:r>
              <a:rPr lang="en-US" sz="4400" dirty="0">
                <a:solidFill>
                  <a:srgbClr val="1A73E8"/>
                </a:solidFill>
                <a:latin typeface="Arial" pitchFamily="34" charset="0"/>
                <a:ea typeface="Arial" pitchFamily="34" charset="-122"/>
                <a:cs typeface="Arial" pitchFamily="34" charset="-120"/>
              </a:rPr>
              <a:t>نبض</a:t>
            </a:r>
            <a:endParaRPr lang="en-US" sz="4400" dirty="0"/>
          </a:p>
        </p:txBody>
      </p:sp>
      <p:sp>
        <p:nvSpPr>
          <p:cNvPr id="9" name="Text 7"/>
          <p:cNvSpPr txBox="1"/>
          <p:nvPr/>
        </p:nvSpPr>
        <p:spPr>
          <a:xfrm>
            <a:off x="548640" y="2743200"/>
            <a:ext cx="8229600" cy="1463040"/>
          </a:xfrm>
          <a:prstGeom prst="rect">
            <a:avLst/>
          </a:prstGeom>
          <a:noFill/>
          <a:ln/>
        </p:spPr>
        <p:txBody>
          <a:bodyPr wrap="square" lIns="0" tIns="0" rIns="0" bIns="0" rtlCol="0" anchor="t"/>
          <a:lstStyle/>
          <a:p>
            <a:pPr indent="0" marL="0">
              <a:lnSpc>
                <a:spcPct val="105000"/>
              </a:lnSpc>
              <a:buNone/>
            </a:pPr>
            <a:r>
              <a:rPr lang="en-US" sz="3200" b="1" dirty="0">
                <a:solidFill>
                  <a:srgbClr val="202124"/>
                </a:solidFill>
                <a:latin typeface="Arial" pitchFamily="34" charset="0"/>
                <a:ea typeface="Arial" pitchFamily="34" charset="-122"/>
                <a:cs typeface="Arial" pitchFamily="34" charset="-120"/>
              </a:rPr>
              <a:t>Agentic population health</a:t>
            </a:r>
            <a:endParaRPr lang="en-US" sz="3200" dirty="0"/>
          </a:p>
          <a:p>
            <a:pPr indent="0" marL="0">
              <a:lnSpc>
                <a:spcPct val="105000"/>
              </a:lnSpc>
              <a:buNone/>
            </a:pPr>
            <a:r>
              <a:rPr lang="en-US" sz="3200" b="1" dirty="0">
                <a:solidFill>
                  <a:srgbClr val="202124"/>
                </a:solidFill>
                <a:latin typeface="Arial" pitchFamily="34" charset="0"/>
                <a:ea typeface="Arial" pitchFamily="34" charset="-122"/>
                <a:cs typeface="Arial" pitchFamily="34" charset="-120"/>
              </a:rPr>
              <a:t>for a national diabetes registry</a:t>
            </a:r>
            <a:endParaRPr lang="en-US" sz="3200" dirty="0"/>
          </a:p>
        </p:txBody>
      </p:sp>
      <p:sp>
        <p:nvSpPr>
          <p:cNvPr id="10" name="Text 8"/>
          <p:cNvSpPr txBox="1"/>
          <p:nvPr/>
        </p:nvSpPr>
        <p:spPr>
          <a:xfrm>
            <a:off x="548640" y="4343400"/>
            <a:ext cx="7863840" cy="731520"/>
          </a:xfrm>
          <a:prstGeom prst="rect">
            <a:avLst/>
          </a:prstGeom>
          <a:noFill/>
          <a:ln/>
        </p:spPr>
        <p:txBody>
          <a:bodyPr wrap="square" lIns="0" tIns="0" rIns="0" bIns="0" rtlCol="0" anchor="t"/>
          <a:lstStyle/>
          <a:p>
            <a:pPr indent="0" marL="0">
              <a:lnSpc>
                <a:spcPct val="115000"/>
              </a:lnSpc>
              <a:buNone/>
            </a:pPr>
            <a:r>
              <a:rPr lang="en-US" sz="1500" dirty="0">
                <a:solidFill>
                  <a:srgbClr val="5F6368"/>
                </a:solidFill>
                <a:latin typeface="Arial" pitchFamily="34" charset="0"/>
                <a:ea typeface="Arial" pitchFamily="34" charset="-122"/>
                <a:cs typeface="Arial" pitchFamily="34" charset="-120"/>
              </a:rPr>
              <a:t>A working demonstration and a reference architecture, built for the ministry of health of a Gulf state with a national Health Information Exchange.</a:t>
            </a:r>
            <a:endParaRPr lang="en-US" sz="1500" dirty="0"/>
          </a:p>
        </p:txBody>
      </p:sp>
      <p:sp>
        <p:nvSpPr>
          <p:cNvPr id="11" name="Text 9"/>
          <p:cNvSpPr txBox="1"/>
          <p:nvPr/>
        </p:nvSpPr>
        <p:spPr>
          <a:xfrm>
            <a:off x="548640" y="5989320"/>
            <a:ext cx="7315200" cy="27432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Raed Aldweik  ·  AI Customer Engineer  ·  September 2026</a:t>
            </a:r>
            <a:endParaRPr lang="en-US" sz="1100" dirty="0"/>
          </a:p>
        </p:txBody>
      </p:sp>
      <p:sp>
        <p:nvSpPr>
          <p:cNvPr id="12" name="Shape 10"/>
          <p:cNvSpPr/>
          <p:nvPr/>
        </p:nvSpPr>
        <p:spPr>
          <a:xfrm>
            <a:off x="9326880" y="2011680"/>
            <a:ext cx="1737360" cy="1737360"/>
          </a:xfrm>
          <a:prstGeom prst="ellipse">
            <a:avLst/>
          </a:prstGeom>
          <a:solidFill>
            <a:srgbClr val="4285F4">
              <a:alpha val="88000"/>
            </a:srgbClr>
          </a:solidFill>
          <a:ln w="12700">
            <a:solidFill>
              <a:srgbClr val="4285F4"/>
            </a:solidFill>
            <a:prstDash val="solid"/>
          </a:ln>
        </p:spPr>
      </p:sp>
      <p:sp>
        <p:nvSpPr>
          <p:cNvPr id="13" name="Shape 11"/>
          <p:cNvSpPr/>
          <p:nvPr/>
        </p:nvSpPr>
        <p:spPr>
          <a:xfrm>
            <a:off x="10561320" y="3246120"/>
            <a:ext cx="1143000" cy="1143000"/>
          </a:xfrm>
          <a:prstGeom prst="ellipse">
            <a:avLst/>
          </a:prstGeom>
          <a:solidFill>
            <a:srgbClr val="EA4335">
              <a:alpha val="88000"/>
            </a:srgbClr>
          </a:solidFill>
          <a:ln w="12700">
            <a:solidFill>
              <a:srgbClr val="EA4335"/>
            </a:solidFill>
            <a:prstDash val="solid"/>
          </a:ln>
        </p:spPr>
      </p:sp>
      <p:sp>
        <p:nvSpPr>
          <p:cNvPr id="14" name="Shape 12"/>
          <p:cNvSpPr/>
          <p:nvPr/>
        </p:nvSpPr>
        <p:spPr>
          <a:xfrm>
            <a:off x="8732520" y="3703320"/>
            <a:ext cx="914400" cy="914400"/>
          </a:xfrm>
          <a:prstGeom prst="ellipse">
            <a:avLst/>
          </a:prstGeom>
          <a:solidFill>
            <a:srgbClr val="FBBC04">
              <a:alpha val="88000"/>
            </a:srgbClr>
          </a:solidFill>
          <a:ln w="12700">
            <a:solidFill>
              <a:srgbClr val="FBBC04"/>
            </a:solidFill>
            <a:prstDash val="solid"/>
          </a:ln>
        </p:spPr>
      </p:sp>
      <p:sp>
        <p:nvSpPr>
          <p:cNvPr id="15" name="Shape 13"/>
          <p:cNvSpPr/>
          <p:nvPr/>
        </p:nvSpPr>
        <p:spPr>
          <a:xfrm>
            <a:off x="9829800" y="4297680"/>
            <a:ext cx="1417320" cy="1417320"/>
          </a:xfrm>
          <a:prstGeom prst="ellipse">
            <a:avLst/>
          </a:prstGeom>
          <a:solidFill>
            <a:srgbClr val="34A853">
              <a:alpha val="88000"/>
            </a:srgbClr>
          </a:solidFill>
          <a:ln w="12700">
            <a:solidFill>
              <a:srgbClr val="34A85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Qatar carries one of the heaviest diabetes burdens in the world, and the system still sees it one patient at a time</a:t>
            </a:r>
            <a:endParaRPr lang="en-US" sz="2600" dirty="0"/>
          </a:p>
        </p:txBody>
      </p:sp>
      <p:sp>
        <p:nvSpPr>
          <p:cNvPr id="3" name="Shape 1"/>
          <p:cNvSpPr/>
          <p:nvPr/>
        </p:nvSpPr>
        <p:spPr>
          <a:xfrm>
            <a:off x="548640" y="1600200"/>
            <a:ext cx="3566160" cy="1417320"/>
          </a:xfrm>
          <a:prstGeom prst="roundRect">
            <a:avLst>
              <a:gd name="adj" fmla="val 5161"/>
            </a:avLst>
          </a:prstGeom>
          <a:solidFill>
            <a:srgbClr val="F8F9FA"/>
          </a:solidFill>
          <a:ln w="12700">
            <a:solidFill>
              <a:srgbClr val="F8F9FA"/>
            </a:solidFill>
            <a:prstDash val="solid"/>
          </a:ln>
        </p:spPr>
      </p:sp>
      <p:sp>
        <p:nvSpPr>
          <p:cNvPr id="4" name="Text 2"/>
          <p:cNvSpPr txBox="1"/>
          <p:nvPr/>
        </p:nvSpPr>
        <p:spPr>
          <a:xfrm>
            <a:off x="777240" y="1737360"/>
            <a:ext cx="3200400" cy="594360"/>
          </a:xfrm>
          <a:prstGeom prst="rect">
            <a:avLst/>
          </a:prstGeom>
          <a:noFill/>
          <a:ln/>
        </p:spPr>
        <p:txBody>
          <a:bodyPr wrap="square" lIns="0" tIns="0" rIns="0" bIns="0" rtlCol="0" anchor="ctr"/>
          <a:lstStyle/>
          <a:p>
            <a:pPr indent="0" marL="0">
              <a:buNone/>
            </a:pPr>
            <a:r>
              <a:rPr lang="en-US" sz="3400" b="1" dirty="0">
                <a:solidFill>
                  <a:srgbClr val="4285F4"/>
                </a:solidFill>
                <a:latin typeface="Arial" pitchFamily="34" charset="0"/>
                <a:ea typeface="Arial" pitchFamily="34" charset="-122"/>
                <a:cs typeface="Arial" pitchFamily="34" charset="-120"/>
              </a:rPr>
              <a:t>Top 5</a:t>
            </a:r>
            <a:endParaRPr lang="en-US" sz="3400" dirty="0"/>
          </a:p>
        </p:txBody>
      </p:sp>
      <p:sp>
        <p:nvSpPr>
          <p:cNvPr id="5" name="Text 3"/>
          <p:cNvSpPr txBox="1"/>
          <p:nvPr/>
        </p:nvSpPr>
        <p:spPr>
          <a:xfrm>
            <a:off x="77724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global diabetes prevalence among adults (IDF Diabetes Atlas)</a:t>
            </a:r>
            <a:endParaRPr lang="en-US" sz="1050" dirty="0"/>
          </a:p>
        </p:txBody>
      </p:sp>
      <p:sp>
        <p:nvSpPr>
          <p:cNvPr id="6" name="Shape 4"/>
          <p:cNvSpPr/>
          <p:nvPr/>
        </p:nvSpPr>
        <p:spPr>
          <a:xfrm>
            <a:off x="4297680" y="1600200"/>
            <a:ext cx="3566160" cy="1417320"/>
          </a:xfrm>
          <a:prstGeom prst="roundRect">
            <a:avLst>
              <a:gd name="adj" fmla="val 5161"/>
            </a:avLst>
          </a:prstGeom>
          <a:solidFill>
            <a:srgbClr val="F8F9FA"/>
          </a:solidFill>
          <a:ln w="12700">
            <a:solidFill>
              <a:srgbClr val="F8F9FA"/>
            </a:solidFill>
            <a:prstDash val="solid"/>
          </a:ln>
        </p:spPr>
      </p:sp>
      <p:sp>
        <p:nvSpPr>
          <p:cNvPr id="7" name="Text 5"/>
          <p:cNvSpPr txBox="1"/>
          <p:nvPr/>
        </p:nvSpPr>
        <p:spPr>
          <a:xfrm>
            <a:off x="4526280" y="1737360"/>
            <a:ext cx="3200400" cy="594360"/>
          </a:xfrm>
          <a:prstGeom prst="rect">
            <a:avLst/>
          </a:prstGeom>
          <a:noFill/>
          <a:ln/>
        </p:spPr>
        <p:txBody>
          <a:bodyPr wrap="square" lIns="0" tIns="0" rIns="0" bIns="0" rtlCol="0" anchor="ctr"/>
          <a:lstStyle/>
          <a:p>
            <a:pPr indent="0" marL="0">
              <a:buNone/>
            </a:pPr>
            <a:r>
              <a:rPr lang="en-US" sz="2600" b="1" dirty="0">
                <a:solidFill>
                  <a:srgbClr val="EA4335"/>
                </a:solidFill>
                <a:latin typeface="Arial" pitchFamily="34" charset="0"/>
                <a:ea typeface="Arial" pitchFamily="34" charset="-122"/>
                <a:cs typeface="Arial" pitchFamily="34" charset="-120"/>
              </a:rPr>
              <a:t>QR 1.8bn to 5bn</a:t>
            </a:r>
            <a:endParaRPr lang="en-US" sz="2600" dirty="0"/>
          </a:p>
        </p:txBody>
      </p:sp>
      <p:sp>
        <p:nvSpPr>
          <p:cNvPr id="8" name="Text 6"/>
          <p:cNvSpPr txBox="1"/>
          <p:nvPr/>
        </p:nvSpPr>
        <p:spPr>
          <a:xfrm>
            <a:off x="452628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annual cost of diabetes care, 2015 to 2035 projection (National Diabetes Strategy)</a:t>
            </a:r>
            <a:endParaRPr lang="en-US" sz="1050" dirty="0"/>
          </a:p>
        </p:txBody>
      </p:sp>
      <p:sp>
        <p:nvSpPr>
          <p:cNvPr id="9" name="Shape 7"/>
          <p:cNvSpPr/>
          <p:nvPr/>
        </p:nvSpPr>
        <p:spPr>
          <a:xfrm>
            <a:off x="8046720" y="1600200"/>
            <a:ext cx="3566160" cy="1417320"/>
          </a:xfrm>
          <a:prstGeom prst="roundRect">
            <a:avLst>
              <a:gd name="adj" fmla="val 5161"/>
            </a:avLst>
          </a:prstGeom>
          <a:solidFill>
            <a:srgbClr val="F8F9FA"/>
          </a:solidFill>
          <a:ln w="12700">
            <a:solidFill>
              <a:srgbClr val="F8F9FA"/>
            </a:solidFill>
            <a:prstDash val="solid"/>
          </a:ln>
        </p:spPr>
      </p:sp>
      <p:sp>
        <p:nvSpPr>
          <p:cNvPr id="10" name="Text 8"/>
          <p:cNvSpPr txBox="1"/>
          <p:nvPr/>
        </p:nvSpPr>
        <p:spPr>
          <a:xfrm>
            <a:off x="8275320" y="1737360"/>
            <a:ext cx="3200400" cy="594360"/>
          </a:xfrm>
          <a:prstGeom prst="rect">
            <a:avLst/>
          </a:prstGeom>
          <a:noFill/>
          <a:ln/>
        </p:spPr>
        <p:txBody>
          <a:bodyPr wrap="square" lIns="0" tIns="0" rIns="0" bIns="0" rtlCol="0" anchor="ctr"/>
          <a:lstStyle/>
          <a:p>
            <a:pPr indent="0" marL="0">
              <a:buNone/>
            </a:pPr>
            <a:r>
              <a:rPr lang="en-US" sz="3400" b="1" dirty="0">
                <a:solidFill>
                  <a:srgbClr val="FBBC04"/>
                </a:solidFill>
                <a:latin typeface="Arial" pitchFamily="34" charset="0"/>
                <a:ea typeface="Arial" pitchFamily="34" charset="-122"/>
                <a:cs typeface="Arial" pitchFamily="34" charset="-120"/>
              </a:rPr>
              <a:t>50%</a:t>
            </a:r>
            <a:endParaRPr lang="en-US" sz="3400" dirty="0"/>
          </a:p>
        </p:txBody>
      </p:sp>
      <p:sp>
        <p:nvSpPr>
          <p:cNvPr id="11" name="Text 9"/>
          <p:cNvSpPr txBox="1"/>
          <p:nvPr/>
        </p:nvSpPr>
        <p:spPr>
          <a:xfrm>
            <a:off x="827532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of all dialysis in Qatar is attributable to diabetes; about 70% of stroke patients have diabetes or pre-diabetes</a:t>
            </a:r>
            <a:endParaRPr lang="en-US" sz="1050" dirty="0"/>
          </a:p>
        </p:txBody>
      </p:sp>
      <p:sp>
        <p:nvSpPr>
          <p:cNvPr id="12" name="Text 10"/>
          <p:cNvSpPr txBox="1"/>
          <p:nvPr/>
        </p:nvSpPr>
        <p:spPr>
          <a:xfrm>
            <a:off x="548640" y="3337560"/>
            <a:ext cx="5486400" cy="201168"/>
          </a:xfrm>
          <a:prstGeom prst="rect">
            <a:avLst/>
          </a:prstGeom>
          <a:noFill/>
          <a:ln/>
        </p:spPr>
        <p:txBody>
          <a:bodyPr wrap="square" lIns="0" tIns="0" rIns="0" bIns="0" rtlCol="0" anchor="t"/>
          <a:lstStyle/>
          <a:p>
            <a:pPr indent="0" marL="0">
              <a:buNone/>
            </a:pPr>
            <a:r>
              <a:rPr lang="en-US" sz="850" b="1" spc="150" kern="0" dirty="0">
                <a:solidFill>
                  <a:srgbClr val="5F6368"/>
                </a:solidFill>
                <a:latin typeface="Arial" pitchFamily="34" charset="0"/>
                <a:ea typeface="Arial" pitchFamily="34" charset="-122"/>
                <a:cs typeface="Arial" pitchFamily="34" charset="-120"/>
              </a:rPr>
              <a:t>WHAT CLINICIANS AND HEALTH LEADERS TOLD US</a:t>
            </a:r>
            <a:endParaRPr lang="en-US" sz="850" dirty="0"/>
          </a:p>
        </p:txBody>
      </p:sp>
      <p:sp>
        <p:nvSpPr>
          <p:cNvPr id="13" name="Shape 11"/>
          <p:cNvSpPr/>
          <p:nvPr/>
        </p:nvSpPr>
        <p:spPr>
          <a:xfrm>
            <a:off x="548640" y="3657600"/>
            <a:ext cx="502920" cy="502920"/>
          </a:xfrm>
          <a:prstGeom prst="ellipse">
            <a:avLst/>
          </a:prstGeom>
          <a:solidFill>
            <a:srgbClr val="4285F4"/>
          </a:solidFill>
          <a:ln w="12700">
            <a:solidFill>
              <a:srgbClr val="4285F4"/>
            </a:solidFill>
            <a:prstDash val="solid"/>
          </a:ln>
        </p:spPr>
      </p:sp>
      <p:pic>
        <p:nvPicPr>
          <p:cNvPr id="14" name="Image 0" descr="preencoded.png">    </p:cNvPr>
          <p:cNvPicPr>
            <a:picLocks noChangeAspect="1"/>
          </p:cNvPicPr>
          <p:nvPr/>
        </p:nvPicPr>
        <p:blipFill>
          <a:blip r:embed="rId1"/>
          <a:stretch>
            <a:fillRect/>
          </a:stretch>
        </p:blipFill>
        <p:spPr>
          <a:xfrm>
            <a:off x="669341" y="3778301"/>
            <a:ext cx="261518" cy="261518"/>
          </a:xfrm>
          <a:prstGeom prst="rect">
            <a:avLst/>
          </a:prstGeom>
        </p:spPr>
      </p:pic>
      <p:sp>
        <p:nvSpPr>
          <p:cNvPr id="15" name="Text 12"/>
          <p:cNvSpPr txBox="1"/>
          <p:nvPr/>
        </p:nvSpPr>
        <p:spPr>
          <a:xfrm>
            <a:off x="120700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The patient story is fragmented</a:t>
            </a:r>
            <a:endParaRPr lang="en-US" sz="1400" dirty="0"/>
          </a:p>
        </p:txBody>
      </p:sp>
      <p:sp>
        <p:nvSpPr>
          <p:cNvPr id="16" name="Text 13"/>
          <p:cNvSpPr txBox="1"/>
          <p:nvPr/>
        </p:nvSpPr>
        <p:spPr>
          <a:xfrm>
            <a:off x="54864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Eighteen or more facilities, an exchange with eight relational tables, and guidelines in PDFs. A complete view of one patient exists only after someone assembles it.</a:t>
            </a:r>
            <a:endParaRPr lang="en-US" sz="1150" dirty="0"/>
          </a:p>
        </p:txBody>
      </p:sp>
      <p:sp>
        <p:nvSpPr>
          <p:cNvPr id="17" name="Shape 14"/>
          <p:cNvSpPr/>
          <p:nvPr/>
        </p:nvSpPr>
        <p:spPr>
          <a:xfrm>
            <a:off x="4297680" y="3657600"/>
            <a:ext cx="502920" cy="502920"/>
          </a:xfrm>
          <a:prstGeom prst="ellipse">
            <a:avLst/>
          </a:prstGeom>
          <a:solidFill>
            <a:srgbClr val="EA4335"/>
          </a:solidFill>
          <a:ln w="12700">
            <a:solidFill>
              <a:srgbClr val="EA4335"/>
            </a:solidFill>
            <a:prstDash val="solid"/>
          </a:ln>
        </p:spPr>
      </p:sp>
      <p:pic>
        <p:nvPicPr>
          <p:cNvPr id="18" name="Image 1" descr="preencoded.png">    </p:cNvPr>
          <p:cNvPicPr>
            <a:picLocks noChangeAspect="1"/>
          </p:cNvPicPr>
          <p:nvPr/>
        </p:nvPicPr>
        <p:blipFill>
          <a:blip r:embed="rId2"/>
          <a:stretch>
            <a:fillRect/>
          </a:stretch>
        </p:blipFill>
        <p:spPr>
          <a:xfrm>
            <a:off x="4418381" y="3778301"/>
            <a:ext cx="261518" cy="261518"/>
          </a:xfrm>
          <a:prstGeom prst="rect">
            <a:avLst/>
          </a:prstGeom>
        </p:spPr>
      </p:pic>
      <p:sp>
        <p:nvSpPr>
          <p:cNvPr id="19" name="Text 15"/>
          <p:cNvSpPr txBox="1"/>
          <p:nvPr/>
        </p:nvSpPr>
        <p:spPr>
          <a:xfrm>
            <a:off x="495604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Care is reactive</a:t>
            </a:r>
            <a:endParaRPr lang="en-US" sz="1400" dirty="0"/>
          </a:p>
        </p:txBody>
      </p:sp>
      <p:sp>
        <p:nvSpPr>
          <p:cNvPr id="20" name="Text 16"/>
          <p:cNvSpPr txBox="1"/>
          <p:nvPr/>
        </p:nvSpPr>
        <p:spPr>
          <a:xfrm>
            <a:off x="429768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Risk is recognised at the admission, not before it. The registry can describe the population; it cannot yet tell a nurse who to call this morning.</a:t>
            </a:r>
            <a:endParaRPr lang="en-US" sz="1150" dirty="0"/>
          </a:p>
        </p:txBody>
      </p:sp>
      <p:sp>
        <p:nvSpPr>
          <p:cNvPr id="21" name="Shape 17"/>
          <p:cNvSpPr/>
          <p:nvPr/>
        </p:nvSpPr>
        <p:spPr>
          <a:xfrm>
            <a:off x="8046720" y="3657600"/>
            <a:ext cx="502920" cy="502920"/>
          </a:xfrm>
          <a:prstGeom prst="ellipse">
            <a:avLst/>
          </a:prstGeom>
          <a:solidFill>
            <a:srgbClr val="34A853"/>
          </a:solidFill>
          <a:ln w="12700">
            <a:solidFill>
              <a:srgbClr val="34A853"/>
            </a:solidFill>
            <a:prstDash val="solid"/>
          </a:ln>
        </p:spPr>
      </p:sp>
      <p:pic>
        <p:nvPicPr>
          <p:cNvPr id="22" name="Image 2" descr="preencoded.png">    </p:cNvPr>
          <p:cNvPicPr>
            <a:picLocks noChangeAspect="1"/>
          </p:cNvPicPr>
          <p:nvPr/>
        </p:nvPicPr>
        <p:blipFill>
          <a:blip r:embed="rId3"/>
          <a:stretch>
            <a:fillRect/>
          </a:stretch>
        </p:blipFill>
        <p:spPr>
          <a:xfrm>
            <a:off x="8167421" y="3778301"/>
            <a:ext cx="261518" cy="261518"/>
          </a:xfrm>
          <a:prstGeom prst="rect">
            <a:avLst/>
          </a:prstGeom>
        </p:spPr>
      </p:pic>
      <p:sp>
        <p:nvSpPr>
          <p:cNvPr id="23" name="Text 18"/>
          <p:cNvSpPr txBox="1"/>
          <p:nvPr/>
        </p:nvSpPr>
        <p:spPr>
          <a:xfrm>
            <a:off x="870508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Insight is slow and rationed</a:t>
            </a:r>
            <a:endParaRPr lang="en-US" sz="1400" dirty="0"/>
          </a:p>
        </p:txBody>
      </p:sp>
      <p:sp>
        <p:nvSpPr>
          <p:cNvPr id="24" name="Text 19"/>
          <p:cNvSpPr txBox="1"/>
          <p:nvPr/>
        </p:nvSpPr>
        <p:spPr>
          <a:xfrm>
            <a:off x="804672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A director's question becomes an analyst's week. A clinician cannot ask at all. Dashboards answer the questions someone anticipated.</a:t>
            </a:r>
            <a:endParaRPr lang="en-US" sz="1150" dirty="0"/>
          </a:p>
        </p:txBody>
      </p:sp>
      <p:sp>
        <p:nvSpPr>
          <p:cNvPr id="25" name="Text 20"/>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Sources: IDF Diabetes Atlas country profile (Qatar); Qatar National Diabetes Strategy 2016 to 2022 and national cost projections as reported by Gulf Times.</a:t>
            </a:r>
            <a:endParaRPr lang="en-US" sz="850" dirty="0"/>
          </a:p>
        </p:txBody>
      </p:sp>
      <p:sp>
        <p:nvSpPr>
          <p:cNvPr id="26" name="Text 21"/>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Agentic population health for a national diabetes registry</a:t>
            </a:r>
            <a:endParaRPr lang="en-US" sz="850" dirty="0"/>
          </a:p>
        </p:txBody>
      </p:sp>
      <p:sp>
        <p:nvSpPr>
          <p:cNvPr id="27" name="Text 2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From registry, to predictive programme, to agentic assistant</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Each stage builds on the previous one. The registry and the models become tools the agent calls.</a:t>
            </a:r>
            <a:endParaRPr lang="en-US" sz="1300" dirty="0"/>
          </a:p>
        </p:txBody>
      </p:sp>
      <p:sp>
        <p:nvSpPr>
          <p:cNvPr id="4" name="Shape 2"/>
          <p:cNvSpPr/>
          <p:nvPr/>
        </p:nvSpPr>
        <p:spPr>
          <a:xfrm>
            <a:off x="548640" y="1783080"/>
            <a:ext cx="3566160" cy="3291840"/>
          </a:xfrm>
          <a:prstGeom prst="roundRect">
            <a:avLst>
              <a:gd name="adj" fmla="val 2222"/>
            </a:avLst>
          </a:prstGeom>
          <a:solidFill>
            <a:srgbClr val="F8F9FA"/>
          </a:solidFill>
          <a:ln w="12700">
            <a:solidFill>
              <a:srgbClr val="F8F9FA"/>
            </a:solidFill>
            <a:prstDash val="solid"/>
          </a:ln>
        </p:spPr>
      </p:sp>
      <p:sp>
        <p:nvSpPr>
          <p:cNvPr id="5" name="Shape 3"/>
          <p:cNvSpPr/>
          <p:nvPr/>
        </p:nvSpPr>
        <p:spPr>
          <a:xfrm>
            <a:off x="777240" y="2011680"/>
            <a:ext cx="548640" cy="548640"/>
          </a:xfrm>
          <a:prstGeom prst="ellipse">
            <a:avLst/>
          </a:prstGeom>
          <a:solidFill>
            <a:srgbClr val="4285F4"/>
          </a:solidFill>
          <a:ln w="12700">
            <a:solidFill>
              <a:srgbClr val="4285F4"/>
            </a:solidFill>
            <a:prstDash val="solid"/>
          </a:ln>
        </p:spPr>
      </p:sp>
      <p:pic>
        <p:nvPicPr>
          <p:cNvPr id="6" name="Image 0" descr="preencoded.png">    </p:cNvPr>
          <p:cNvPicPr>
            <a:picLocks noChangeAspect="1"/>
          </p:cNvPicPr>
          <p:nvPr/>
        </p:nvPicPr>
        <p:blipFill>
          <a:blip r:embed="rId1"/>
          <a:stretch>
            <a:fillRect/>
          </a:stretch>
        </p:blipFill>
        <p:spPr>
          <a:xfrm>
            <a:off x="908914" y="2143354"/>
            <a:ext cx="285293" cy="285293"/>
          </a:xfrm>
          <a:prstGeom prst="rect">
            <a:avLst/>
          </a:prstGeom>
        </p:spPr>
      </p:pic>
      <p:sp>
        <p:nvSpPr>
          <p:cNvPr id="7" name="Text 4"/>
          <p:cNvSpPr txBox="1"/>
          <p:nvPr/>
        </p:nvSpPr>
        <p:spPr>
          <a:xfrm>
            <a:off x="1463040" y="2011680"/>
            <a:ext cx="914400" cy="228600"/>
          </a:xfrm>
          <a:prstGeom prst="rect">
            <a:avLst/>
          </a:prstGeom>
          <a:noFill/>
          <a:ln/>
        </p:spPr>
        <p:txBody>
          <a:bodyPr wrap="square" lIns="0" tIns="0" rIns="0" bIns="0" rtlCol="0" anchor="t"/>
          <a:lstStyle/>
          <a:p>
            <a:pPr indent="0" marL="0">
              <a:buNone/>
            </a:pPr>
            <a:r>
              <a:rPr lang="en-US" sz="1000" b="1" spc="200" kern="0" dirty="0">
                <a:solidFill>
                  <a:srgbClr val="4285F4"/>
                </a:solidFill>
                <a:latin typeface="Arial" pitchFamily="34" charset="0"/>
                <a:ea typeface="Arial" pitchFamily="34" charset="-122"/>
                <a:cs typeface="Arial" pitchFamily="34" charset="-120"/>
              </a:rPr>
              <a:t>01</a:t>
            </a:r>
            <a:endParaRPr lang="en-US" sz="1000" dirty="0"/>
          </a:p>
        </p:txBody>
      </p:sp>
      <p:sp>
        <p:nvSpPr>
          <p:cNvPr id="8" name="Text 5"/>
          <p:cNvSpPr txBox="1"/>
          <p:nvPr/>
        </p:nvSpPr>
        <p:spPr>
          <a:xfrm>
            <a:off x="146304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Registry</a:t>
            </a:r>
            <a:endParaRPr lang="en-US" sz="1800" dirty="0"/>
          </a:p>
        </p:txBody>
      </p:sp>
      <p:sp>
        <p:nvSpPr>
          <p:cNvPr id="9" name="Text 6"/>
          <p:cNvSpPr txBox="1"/>
          <p:nvPr/>
        </p:nvSpPr>
        <p:spPr>
          <a:xfrm>
            <a:off x="777240" y="2743200"/>
            <a:ext cx="3108960" cy="274320"/>
          </a:xfrm>
          <a:prstGeom prst="rect">
            <a:avLst/>
          </a:prstGeom>
          <a:noFill/>
          <a:ln/>
        </p:spPr>
        <p:txBody>
          <a:bodyPr wrap="square" lIns="0" tIns="0" rIns="0" bIns="0" rtlCol="0" anchor="t"/>
          <a:lstStyle/>
          <a:p>
            <a:pPr indent="0" marL="0">
              <a:buNone/>
            </a:pPr>
            <a:r>
              <a:rPr lang="en-US" sz="1200" b="1" dirty="0">
                <a:solidFill>
                  <a:srgbClr val="4285F4"/>
                </a:solidFill>
                <a:latin typeface="Arial" pitchFamily="34" charset="0"/>
                <a:ea typeface="Arial" pitchFamily="34" charset="-122"/>
                <a:cs typeface="Arial" pitchFamily="34" charset="-120"/>
              </a:rPr>
              <a:t>Describe</a:t>
            </a:r>
            <a:endParaRPr lang="en-US" sz="1200" dirty="0"/>
          </a:p>
        </p:txBody>
      </p:sp>
      <p:sp>
        <p:nvSpPr>
          <p:cNvPr id="10" name="Text 7"/>
          <p:cNvSpPr txBox="1"/>
          <p:nvPr/>
        </p:nvSpPr>
        <p:spPr>
          <a:xfrm>
            <a:off x="77724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Diabetic patient summary, geography of visits, cohorts by nationality and age. The pattern used by state registries in the United States and by Emirates Health Services.</a:t>
            </a:r>
            <a:endParaRPr lang="en-US" sz="1150" dirty="0"/>
          </a:p>
        </p:txBody>
      </p:sp>
      <p:sp>
        <p:nvSpPr>
          <p:cNvPr id="11" name="Text 8"/>
          <p:cNvSpPr txBox="1"/>
          <p:nvPr/>
        </p:nvSpPr>
        <p:spPr>
          <a:xfrm>
            <a:off x="77724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analysts, planners</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how many, where, who</a:t>
            </a:r>
            <a:endParaRPr lang="en-US" sz="1050" dirty="0"/>
          </a:p>
        </p:txBody>
      </p:sp>
      <p:sp>
        <p:nvSpPr>
          <p:cNvPr id="12" name="Shape 9"/>
          <p:cNvSpPr/>
          <p:nvPr/>
        </p:nvSpPr>
        <p:spPr>
          <a:xfrm>
            <a:off x="4133088" y="3429000"/>
            <a:ext cx="146304" cy="0"/>
          </a:xfrm>
          <a:prstGeom prst="line">
            <a:avLst/>
          </a:prstGeom>
          <a:noFill/>
          <a:ln w="15875">
            <a:solidFill>
              <a:srgbClr val="5F6368"/>
            </a:solidFill>
            <a:prstDash val="solid"/>
            <a:tailEnd type="triangle"/>
          </a:ln>
        </p:spPr>
      </p:sp>
      <p:sp>
        <p:nvSpPr>
          <p:cNvPr id="13" name="Shape 10"/>
          <p:cNvSpPr/>
          <p:nvPr/>
        </p:nvSpPr>
        <p:spPr>
          <a:xfrm>
            <a:off x="4297680" y="1783080"/>
            <a:ext cx="3566160" cy="3291840"/>
          </a:xfrm>
          <a:prstGeom prst="roundRect">
            <a:avLst>
              <a:gd name="adj" fmla="val 2222"/>
            </a:avLst>
          </a:prstGeom>
          <a:solidFill>
            <a:srgbClr val="F8F9FA"/>
          </a:solidFill>
          <a:ln w="12700">
            <a:solidFill>
              <a:srgbClr val="F8F9FA"/>
            </a:solidFill>
            <a:prstDash val="solid"/>
          </a:ln>
        </p:spPr>
      </p:sp>
      <p:sp>
        <p:nvSpPr>
          <p:cNvPr id="14" name="Shape 11"/>
          <p:cNvSpPr/>
          <p:nvPr/>
        </p:nvSpPr>
        <p:spPr>
          <a:xfrm>
            <a:off x="4526280" y="2011680"/>
            <a:ext cx="548640" cy="548640"/>
          </a:xfrm>
          <a:prstGeom prst="ellipse">
            <a:avLst/>
          </a:prstGeom>
          <a:solidFill>
            <a:srgbClr val="FBBC04"/>
          </a:solidFill>
          <a:ln w="12700">
            <a:solidFill>
              <a:srgbClr val="FBBC04"/>
            </a:solidFill>
            <a:prstDash val="solid"/>
          </a:ln>
        </p:spPr>
      </p:sp>
      <p:pic>
        <p:nvPicPr>
          <p:cNvPr id="15" name="Image 1" descr="preencoded.png">    </p:cNvPr>
          <p:cNvPicPr>
            <a:picLocks noChangeAspect="1"/>
          </p:cNvPicPr>
          <p:nvPr/>
        </p:nvPicPr>
        <p:blipFill>
          <a:blip r:embed="rId2"/>
          <a:stretch>
            <a:fillRect/>
          </a:stretch>
        </p:blipFill>
        <p:spPr>
          <a:xfrm>
            <a:off x="4657954" y="2143354"/>
            <a:ext cx="285293" cy="285293"/>
          </a:xfrm>
          <a:prstGeom prst="rect">
            <a:avLst/>
          </a:prstGeom>
        </p:spPr>
      </p:pic>
      <p:sp>
        <p:nvSpPr>
          <p:cNvPr id="16" name="Text 12"/>
          <p:cNvSpPr txBox="1"/>
          <p:nvPr/>
        </p:nvSpPr>
        <p:spPr>
          <a:xfrm>
            <a:off x="5212080" y="2011680"/>
            <a:ext cx="914400" cy="228600"/>
          </a:xfrm>
          <a:prstGeom prst="rect">
            <a:avLst/>
          </a:prstGeom>
          <a:noFill/>
          <a:ln/>
        </p:spPr>
        <p:txBody>
          <a:bodyPr wrap="square" lIns="0" tIns="0" rIns="0" bIns="0" rtlCol="0" anchor="t"/>
          <a:lstStyle/>
          <a:p>
            <a:pPr indent="0" marL="0">
              <a:buNone/>
            </a:pPr>
            <a:r>
              <a:rPr lang="en-US" sz="1000" b="1" spc="200" kern="0" dirty="0">
                <a:solidFill>
                  <a:srgbClr val="FBBC04"/>
                </a:solidFill>
                <a:latin typeface="Arial" pitchFamily="34" charset="0"/>
                <a:ea typeface="Arial" pitchFamily="34" charset="-122"/>
                <a:cs typeface="Arial" pitchFamily="34" charset="-120"/>
              </a:rPr>
              <a:t>02</a:t>
            </a:r>
            <a:endParaRPr lang="en-US" sz="1000" dirty="0"/>
          </a:p>
        </p:txBody>
      </p:sp>
      <p:sp>
        <p:nvSpPr>
          <p:cNvPr id="17" name="Text 13"/>
          <p:cNvSpPr txBox="1"/>
          <p:nvPr/>
        </p:nvSpPr>
        <p:spPr>
          <a:xfrm>
            <a:off x="521208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Predictive programme</a:t>
            </a:r>
            <a:endParaRPr lang="en-US" sz="1800" dirty="0"/>
          </a:p>
        </p:txBody>
      </p:sp>
      <p:sp>
        <p:nvSpPr>
          <p:cNvPr id="18" name="Text 14"/>
          <p:cNvSpPr txBox="1"/>
          <p:nvPr/>
        </p:nvSpPr>
        <p:spPr>
          <a:xfrm>
            <a:off x="4526280" y="2743200"/>
            <a:ext cx="3108960" cy="274320"/>
          </a:xfrm>
          <a:prstGeom prst="rect">
            <a:avLst/>
          </a:prstGeom>
          <a:noFill/>
          <a:ln/>
        </p:spPr>
        <p:txBody>
          <a:bodyPr wrap="square" lIns="0" tIns="0" rIns="0" bIns="0" rtlCol="0" anchor="t"/>
          <a:lstStyle/>
          <a:p>
            <a:pPr indent="0" marL="0">
              <a:buNone/>
            </a:pPr>
            <a:r>
              <a:rPr lang="en-US" sz="1200" b="1" dirty="0">
                <a:solidFill>
                  <a:srgbClr val="FBBC04"/>
                </a:solidFill>
                <a:latin typeface="Arial" pitchFamily="34" charset="0"/>
                <a:ea typeface="Arial" pitchFamily="34" charset="-122"/>
                <a:cs typeface="Arial" pitchFamily="34" charset="-120"/>
              </a:rPr>
              <a:t>Anticipate</a:t>
            </a:r>
            <a:endParaRPr lang="en-US" sz="1200" dirty="0"/>
          </a:p>
        </p:txBody>
      </p:sp>
      <p:sp>
        <p:nvSpPr>
          <p:cNvPr id="19" name="Text 15"/>
          <p:cNvSpPr txBox="1"/>
          <p:nvPr/>
        </p:nvSpPr>
        <p:spPr>
          <a:xfrm>
            <a:off x="452628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Deterioration prediction, high versus low risk profiles, visit forecasting with confidence bands, cost impact. Built on SAS Viya.</a:t>
            </a:r>
            <a:endParaRPr lang="en-US" sz="1150" dirty="0"/>
          </a:p>
        </p:txBody>
      </p:sp>
      <p:sp>
        <p:nvSpPr>
          <p:cNvPr id="20" name="Text 16"/>
          <p:cNvSpPr txBox="1"/>
          <p:nvPr/>
        </p:nvSpPr>
        <p:spPr>
          <a:xfrm>
            <a:off x="452628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care managers, finance</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who will deteriorate, what it will cost</a:t>
            </a:r>
            <a:endParaRPr lang="en-US" sz="1050" dirty="0"/>
          </a:p>
        </p:txBody>
      </p:sp>
      <p:sp>
        <p:nvSpPr>
          <p:cNvPr id="21" name="Shape 17"/>
          <p:cNvSpPr/>
          <p:nvPr/>
        </p:nvSpPr>
        <p:spPr>
          <a:xfrm>
            <a:off x="7882128" y="3429000"/>
            <a:ext cx="146304" cy="0"/>
          </a:xfrm>
          <a:prstGeom prst="line">
            <a:avLst/>
          </a:prstGeom>
          <a:noFill/>
          <a:ln w="15875">
            <a:solidFill>
              <a:srgbClr val="5F6368"/>
            </a:solidFill>
            <a:prstDash val="solid"/>
            <a:tailEnd type="triangle"/>
          </a:ln>
        </p:spPr>
      </p:sp>
      <p:sp>
        <p:nvSpPr>
          <p:cNvPr id="22" name="Shape 18"/>
          <p:cNvSpPr/>
          <p:nvPr/>
        </p:nvSpPr>
        <p:spPr>
          <a:xfrm>
            <a:off x="8046720" y="1783080"/>
            <a:ext cx="3566160" cy="3291840"/>
          </a:xfrm>
          <a:prstGeom prst="roundRect">
            <a:avLst>
              <a:gd name="adj" fmla="val 2222"/>
            </a:avLst>
          </a:prstGeom>
          <a:solidFill>
            <a:srgbClr val="E6F4EA"/>
          </a:solidFill>
          <a:ln w="12700">
            <a:solidFill>
              <a:srgbClr val="E6F4EA"/>
            </a:solidFill>
            <a:prstDash val="solid"/>
          </a:ln>
        </p:spPr>
      </p:sp>
      <p:sp>
        <p:nvSpPr>
          <p:cNvPr id="23" name="Shape 19"/>
          <p:cNvSpPr/>
          <p:nvPr/>
        </p:nvSpPr>
        <p:spPr>
          <a:xfrm>
            <a:off x="8275320" y="2011680"/>
            <a:ext cx="548640" cy="548640"/>
          </a:xfrm>
          <a:prstGeom prst="ellipse">
            <a:avLst/>
          </a:prstGeom>
          <a:solidFill>
            <a:srgbClr val="34A853"/>
          </a:solidFill>
          <a:ln w="12700">
            <a:solidFill>
              <a:srgbClr val="34A853"/>
            </a:solidFill>
            <a:prstDash val="solid"/>
          </a:ln>
        </p:spPr>
      </p:sp>
      <p:pic>
        <p:nvPicPr>
          <p:cNvPr id="24" name="Image 2" descr="preencoded.png">    </p:cNvPr>
          <p:cNvPicPr>
            <a:picLocks noChangeAspect="1"/>
          </p:cNvPicPr>
          <p:nvPr/>
        </p:nvPicPr>
        <p:blipFill>
          <a:blip r:embed="rId3"/>
          <a:stretch>
            <a:fillRect/>
          </a:stretch>
        </p:blipFill>
        <p:spPr>
          <a:xfrm>
            <a:off x="8406994" y="2143354"/>
            <a:ext cx="285293" cy="285293"/>
          </a:xfrm>
          <a:prstGeom prst="rect">
            <a:avLst/>
          </a:prstGeom>
        </p:spPr>
      </p:pic>
      <p:sp>
        <p:nvSpPr>
          <p:cNvPr id="25" name="Text 20"/>
          <p:cNvSpPr txBox="1"/>
          <p:nvPr/>
        </p:nvSpPr>
        <p:spPr>
          <a:xfrm>
            <a:off x="8961120" y="2011680"/>
            <a:ext cx="914400" cy="228600"/>
          </a:xfrm>
          <a:prstGeom prst="rect">
            <a:avLst/>
          </a:prstGeom>
          <a:noFill/>
          <a:ln/>
        </p:spPr>
        <p:txBody>
          <a:bodyPr wrap="square" lIns="0" tIns="0" rIns="0" bIns="0" rtlCol="0" anchor="t"/>
          <a:lstStyle/>
          <a:p>
            <a:pPr indent="0" marL="0">
              <a:buNone/>
            </a:pPr>
            <a:r>
              <a:rPr lang="en-US" sz="1000" b="1" spc="200" kern="0" dirty="0">
                <a:solidFill>
                  <a:srgbClr val="34A853"/>
                </a:solidFill>
                <a:latin typeface="Arial" pitchFamily="34" charset="0"/>
                <a:ea typeface="Arial" pitchFamily="34" charset="-122"/>
                <a:cs typeface="Arial" pitchFamily="34" charset="-120"/>
              </a:rPr>
              <a:t>03</a:t>
            </a:r>
            <a:endParaRPr lang="en-US" sz="1000" dirty="0"/>
          </a:p>
        </p:txBody>
      </p:sp>
      <p:sp>
        <p:nvSpPr>
          <p:cNvPr id="26" name="Text 21"/>
          <p:cNvSpPr txBox="1"/>
          <p:nvPr/>
        </p:nvSpPr>
        <p:spPr>
          <a:xfrm>
            <a:off x="896112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Agentic assistant</a:t>
            </a:r>
            <a:endParaRPr lang="en-US" sz="1800" dirty="0"/>
          </a:p>
        </p:txBody>
      </p:sp>
      <p:sp>
        <p:nvSpPr>
          <p:cNvPr id="27" name="Text 22"/>
          <p:cNvSpPr txBox="1"/>
          <p:nvPr/>
        </p:nvSpPr>
        <p:spPr>
          <a:xfrm>
            <a:off x="8275320" y="2743200"/>
            <a:ext cx="3108960" cy="274320"/>
          </a:xfrm>
          <a:prstGeom prst="rect">
            <a:avLst/>
          </a:prstGeom>
          <a:noFill/>
          <a:ln/>
        </p:spPr>
        <p:txBody>
          <a:bodyPr wrap="square" lIns="0" tIns="0" rIns="0" bIns="0" rtlCol="0" anchor="t"/>
          <a:lstStyle/>
          <a:p>
            <a:pPr indent="0" marL="0">
              <a:buNone/>
            </a:pPr>
            <a:r>
              <a:rPr lang="en-US" sz="1200" b="1" dirty="0">
                <a:solidFill>
                  <a:srgbClr val="34A853"/>
                </a:solidFill>
                <a:latin typeface="Arial" pitchFamily="34" charset="0"/>
                <a:ea typeface="Arial" pitchFamily="34" charset="-122"/>
                <a:cs typeface="Arial" pitchFamily="34" charset="-120"/>
              </a:rPr>
              <a:t>Ask and act</a:t>
            </a:r>
            <a:endParaRPr lang="en-US" sz="1200" dirty="0"/>
          </a:p>
        </p:txBody>
      </p:sp>
      <p:sp>
        <p:nvSpPr>
          <p:cNvPr id="28" name="Text 23"/>
          <p:cNvSpPr txBox="1"/>
          <p:nvPr/>
        </p:nvSpPr>
        <p:spPr>
          <a:xfrm>
            <a:off x="827532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Any clinician or director asks in plain language. Agents query the exchange, cite the national guideline, run the models, and draft actions a human signs.</a:t>
            </a:r>
            <a:endParaRPr lang="en-US" sz="1150" dirty="0"/>
          </a:p>
        </p:txBody>
      </p:sp>
      <p:sp>
        <p:nvSpPr>
          <p:cNvPr id="29" name="Text 24"/>
          <p:cNvSpPr txBox="1"/>
          <p:nvPr/>
        </p:nvSpPr>
        <p:spPr>
          <a:xfrm>
            <a:off x="827532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every clinician, every director</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the question nobody anticipated</a:t>
            </a:r>
            <a:endParaRPr lang="en-US" sz="1050" dirty="0"/>
          </a:p>
        </p:txBody>
      </p:sp>
      <p:sp>
        <p:nvSpPr>
          <p:cNvPr id="30" name="Text 25"/>
          <p:cNvSpPr txBox="1"/>
          <p:nvPr/>
        </p:nvSpPr>
        <p:spPr>
          <a:xfrm>
            <a:off x="548640" y="5394960"/>
            <a:ext cx="11064240" cy="457200"/>
          </a:xfrm>
          <a:prstGeom prst="rect">
            <a:avLst/>
          </a:prstGeom>
          <a:noFill/>
          <a:ln/>
        </p:spPr>
        <p:txBody>
          <a:bodyPr wrap="square" lIns="0" tIns="0" rIns="0" bIns="0" rtlCol="0" anchor="t"/>
          <a:lstStyle/>
          <a:p>
            <a:pPr indent="0" marL="0">
              <a:buNone/>
            </a:pPr>
            <a:r>
              <a:rPr lang="en-US" sz="1250" b="1" dirty="0">
                <a:solidFill>
                  <a:srgbClr val="202124"/>
                </a:solidFill>
                <a:latin typeface="Arial" pitchFamily="34" charset="0"/>
                <a:ea typeface="Arial" pitchFamily="34" charset="-122"/>
                <a:cs typeface="Arial" pitchFamily="34" charset="-120"/>
              </a:rPr>
              <a:t>What changes: </a:t>
            </a:r>
            <a:pPr indent="0" marL="0">
              <a:buNone/>
            </a:pPr>
            <a:r>
              <a:rPr lang="en-US" sz="1250" dirty="0">
                <a:solidFill>
                  <a:srgbClr val="5F6368"/>
                </a:solidFill>
                <a:latin typeface="Arial" pitchFamily="34" charset="0"/>
                <a:ea typeface="Arial" pitchFamily="34" charset="-122"/>
                <a:cs typeface="Arial" pitchFamily="34" charset="-120"/>
              </a:rPr>
              <a:t>from dashboards people must find, to answers people can ask for, with the same rigour, the same models, and a human signature on every action.</a:t>
            </a:r>
            <a:endParaRPr lang="en-US" sz="1250" dirty="0"/>
          </a:p>
        </p:txBody>
      </p:sp>
      <p:sp>
        <p:nvSpPr>
          <p:cNvPr id="31" name="Text 26"/>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Agentic population health for a national diabetes registry</a:t>
            </a:r>
            <a:endParaRPr lang="en-US" sz="850" dirty="0"/>
          </a:p>
        </p:txBody>
      </p:sp>
      <p:sp>
        <p:nvSpPr>
          <p:cNvPr id="32" name="Text 27"/>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Nabd: one conversation over the exchange, the guidelines and the models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The same four capabilities as the predictive programme, available to anyone who can ask.</a:t>
            </a:r>
            <a:endParaRPr lang="en-US" sz="1300" dirty="0"/>
          </a:p>
        </p:txBody>
      </p:sp>
      <p:sp>
        <p:nvSpPr>
          <p:cNvPr id="4" name="Shape 2"/>
          <p:cNvSpPr/>
          <p:nvPr/>
        </p:nvSpPr>
        <p:spPr>
          <a:xfrm>
            <a:off x="548640" y="1783080"/>
            <a:ext cx="3063240" cy="1828800"/>
          </a:xfrm>
          <a:prstGeom prst="roundRect">
            <a:avLst>
              <a:gd name="adj" fmla="val 4000"/>
            </a:avLst>
          </a:prstGeom>
          <a:solidFill>
            <a:srgbClr val="F8F9FA"/>
          </a:solidFill>
          <a:ln w="12700">
            <a:solidFill>
              <a:srgbClr val="F8F9FA"/>
            </a:solidFill>
            <a:prstDash val="solid"/>
          </a:ln>
        </p:spPr>
      </p:sp>
      <p:sp>
        <p:nvSpPr>
          <p:cNvPr id="5" name="Shape 3"/>
          <p:cNvSpPr/>
          <p:nvPr/>
        </p:nvSpPr>
        <p:spPr>
          <a:xfrm>
            <a:off x="749808" y="1984248"/>
            <a:ext cx="457200" cy="457200"/>
          </a:xfrm>
          <a:prstGeom prst="ellipse">
            <a:avLst/>
          </a:prstGeom>
          <a:solidFill>
            <a:srgbClr val="4285F4"/>
          </a:solidFill>
          <a:ln w="12700">
            <a:solidFill>
              <a:srgbClr val="4285F4"/>
            </a:solidFill>
            <a:prstDash val="solid"/>
          </a:ln>
        </p:spPr>
      </p:sp>
      <p:pic>
        <p:nvPicPr>
          <p:cNvPr id="6" name="Image 0" descr="preencoded.png">    </p:cNvPr>
          <p:cNvPicPr>
            <a:picLocks noChangeAspect="1"/>
          </p:cNvPicPr>
          <p:nvPr/>
        </p:nvPicPr>
        <p:blipFill>
          <a:blip r:embed="rId1"/>
          <a:stretch>
            <a:fillRect/>
          </a:stretch>
        </p:blipFill>
        <p:spPr>
          <a:xfrm>
            <a:off x="859536" y="2093976"/>
            <a:ext cx="237744" cy="237744"/>
          </a:xfrm>
          <a:prstGeom prst="rect">
            <a:avLst/>
          </a:prstGeom>
        </p:spPr>
      </p:pic>
      <p:sp>
        <p:nvSpPr>
          <p:cNvPr id="7" name="Text 4"/>
          <p:cNvSpPr txBox="1"/>
          <p:nvPr/>
        </p:nvSpPr>
        <p:spPr>
          <a:xfrm>
            <a:off x="1325880" y="200253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Diabetic patient 360</a:t>
            </a:r>
            <a:endParaRPr lang="en-US" sz="1250" dirty="0"/>
          </a:p>
        </p:txBody>
      </p:sp>
      <p:sp>
        <p:nvSpPr>
          <p:cNvPr id="8" name="Text 5"/>
          <p:cNvSpPr txBox="1"/>
          <p:nvPr/>
        </p:nvSpPr>
        <p:spPr>
          <a:xfrm>
            <a:off x="749808" y="256032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Summary, HbA1c trajectory, comorbidities, medications, open care gaps, assembled on request with consent enforced.</a:t>
            </a:r>
            <a:endParaRPr lang="en-US" sz="1050" dirty="0"/>
          </a:p>
        </p:txBody>
      </p:sp>
      <p:sp>
        <p:nvSpPr>
          <p:cNvPr id="9" name="Shape 6"/>
          <p:cNvSpPr/>
          <p:nvPr/>
        </p:nvSpPr>
        <p:spPr>
          <a:xfrm>
            <a:off x="3794760" y="1783080"/>
            <a:ext cx="3063240" cy="1828800"/>
          </a:xfrm>
          <a:prstGeom prst="roundRect">
            <a:avLst>
              <a:gd name="adj" fmla="val 4000"/>
            </a:avLst>
          </a:prstGeom>
          <a:solidFill>
            <a:srgbClr val="F8F9FA"/>
          </a:solidFill>
          <a:ln w="12700">
            <a:solidFill>
              <a:srgbClr val="F8F9FA"/>
            </a:solidFill>
            <a:prstDash val="solid"/>
          </a:ln>
        </p:spPr>
      </p:sp>
      <p:sp>
        <p:nvSpPr>
          <p:cNvPr id="10" name="Shape 7"/>
          <p:cNvSpPr/>
          <p:nvPr/>
        </p:nvSpPr>
        <p:spPr>
          <a:xfrm>
            <a:off x="3995928" y="1984248"/>
            <a:ext cx="457200" cy="457200"/>
          </a:xfrm>
          <a:prstGeom prst="ellipse">
            <a:avLst/>
          </a:prstGeom>
          <a:solidFill>
            <a:srgbClr val="FBBC04"/>
          </a:solidFill>
          <a:ln w="12700">
            <a:solidFill>
              <a:srgbClr val="FBBC04"/>
            </a:solidFill>
            <a:prstDash val="solid"/>
          </a:ln>
        </p:spPr>
      </p:sp>
      <p:pic>
        <p:nvPicPr>
          <p:cNvPr id="11" name="Image 1" descr="preencoded.png">    </p:cNvPr>
          <p:cNvPicPr>
            <a:picLocks noChangeAspect="1"/>
          </p:cNvPicPr>
          <p:nvPr/>
        </p:nvPicPr>
        <p:blipFill>
          <a:blip r:embed="rId2"/>
          <a:stretch>
            <a:fillRect/>
          </a:stretch>
        </p:blipFill>
        <p:spPr>
          <a:xfrm>
            <a:off x="4105656" y="2093976"/>
            <a:ext cx="237744" cy="237744"/>
          </a:xfrm>
          <a:prstGeom prst="rect">
            <a:avLst/>
          </a:prstGeom>
        </p:spPr>
      </p:pic>
      <p:sp>
        <p:nvSpPr>
          <p:cNvPr id="12" name="Text 8"/>
          <p:cNvSpPr txBox="1"/>
          <p:nvPr/>
        </p:nvSpPr>
        <p:spPr>
          <a:xfrm>
            <a:off x="4572000" y="200253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Risk stratification and visit prediction</a:t>
            </a:r>
            <a:endParaRPr lang="en-US" sz="1250" dirty="0"/>
          </a:p>
        </p:txBody>
      </p:sp>
      <p:sp>
        <p:nvSpPr>
          <p:cNvPr id="13" name="Text 9"/>
          <p:cNvSpPr txBox="1"/>
          <p:nvPr/>
        </p:nvSpPr>
        <p:spPr>
          <a:xfrm>
            <a:off x="3995928" y="256032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Explainable 12-month deterioration risk, cohort bands, similar patients, and demand forecasts for planning.</a:t>
            </a:r>
            <a:endParaRPr lang="en-US" sz="1050" dirty="0"/>
          </a:p>
        </p:txBody>
      </p:sp>
      <p:sp>
        <p:nvSpPr>
          <p:cNvPr id="14" name="Shape 10"/>
          <p:cNvSpPr/>
          <p:nvPr/>
        </p:nvSpPr>
        <p:spPr>
          <a:xfrm>
            <a:off x="548640" y="3794760"/>
            <a:ext cx="3063240" cy="1828800"/>
          </a:xfrm>
          <a:prstGeom prst="roundRect">
            <a:avLst>
              <a:gd name="adj" fmla="val 4000"/>
            </a:avLst>
          </a:prstGeom>
          <a:solidFill>
            <a:srgbClr val="F8F9FA"/>
          </a:solidFill>
          <a:ln w="12700">
            <a:solidFill>
              <a:srgbClr val="F8F9FA"/>
            </a:solidFill>
            <a:prstDash val="solid"/>
          </a:ln>
        </p:spPr>
      </p:sp>
      <p:sp>
        <p:nvSpPr>
          <p:cNvPr id="15" name="Shape 11"/>
          <p:cNvSpPr/>
          <p:nvPr/>
        </p:nvSpPr>
        <p:spPr>
          <a:xfrm>
            <a:off x="749808" y="3995928"/>
            <a:ext cx="457200" cy="457200"/>
          </a:xfrm>
          <a:prstGeom prst="ellipse">
            <a:avLst/>
          </a:prstGeom>
          <a:solidFill>
            <a:srgbClr val="EA4335"/>
          </a:solidFill>
          <a:ln w="12700">
            <a:solidFill>
              <a:srgbClr val="EA4335"/>
            </a:solidFill>
            <a:prstDash val="solid"/>
          </a:ln>
        </p:spPr>
      </p:sp>
      <p:pic>
        <p:nvPicPr>
          <p:cNvPr id="16" name="Image 2" descr="preencoded.png">    </p:cNvPr>
          <p:cNvPicPr>
            <a:picLocks noChangeAspect="1"/>
          </p:cNvPicPr>
          <p:nvPr/>
        </p:nvPicPr>
        <p:blipFill>
          <a:blip r:embed="rId3"/>
          <a:stretch>
            <a:fillRect/>
          </a:stretch>
        </p:blipFill>
        <p:spPr>
          <a:xfrm>
            <a:off x="859536" y="4105656"/>
            <a:ext cx="237744" cy="237744"/>
          </a:xfrm>
          <a:prstGeom prst="rect">
            <a:avLst/>
          </a:prstGeom>
        </p:spPr>
      </p:pic>
      <p:sp>
        <p:nvSpPr>
          <p:cNvPr id="17" name="Text 12"/>
          <p:cNvSpPr txBox="1"/>
          <p:nvPr/>
        </p:nvSpPr>
        <p:spPr>
          <a:xfrm>
            <a:off x="1325880" y="401421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Guideline-grounded decision support</a:t>
            </a:r>
            <a:endParaRPr lang="en-US" sz="1250" dirty="0"/>
          </a:p>
        </p:txBody>
      </p:sp>
      <p:sp>
        <p:nvSpPr>
          <p:cNvPr id="18" name="Text 13"/>
          <p:cNvSpPr txBox="1"/>
          <p:nvPr/>
        </p:nvSpPr>
        <p:spPr>
          <a:xfrm>
            <a:off x="749808" y="457200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Recommendations retrieved from the national clinical guidelines and cited to the page. No clinical claim without a source.</a:t>
            </a:r>
            <a:endParaRPr lang="en-US" sz="1050" dirty="0"/>
          </a:p>
        </p:txBody>
      </p:sp>
      <p:sp>
        <p:nvSpPr>
          <p:cNvPr id="19" name="Shape 14"/>
          <p:cNvSpPr/>
          <p:nvPr/>
        </p:nvSpPr>
        <p:spPr>
          <a:xfrm>
            <a:off x="3794760" y="3794760"/>
            <a:ext cx="3063240" cy="1828800"/>
          </a:xfrm>
          <a:prstGeom prst="roundRect">
            <a:avLst>
              <a:gd name="adj" fmla="val 4000"/>
            </a:avLst>
          </a:prstGeom>
          <a:solidFill>
            <a:srgbClr val="F8F9FA"/>
          </a:solidFill>
          <a:ln w="12700">
            <a:solidFill>
              <a:srgbClr val="F8F9FA"/>
            </a:solidFill>
            <a:prstDash val="solid"/>
          </a:ln>
        </p:spPr>
      </p:sp>
      <p:sp>
        <p:nvSpPr>
          <p:cNvPr id="20" name="Shape 15"/>
          <p:cNvSpPr/>
          <p:nvPr/>
        </p:nvSpPr>
        <p:spPr>
          <a:xfrm>
            <a:off x="3995928" y="3995928"/>
            <a:ext cx="457200" cy="457200"/>
          </a:xfrm>
          <a:prstGeom prst="ellipse">
            <a:avLst/>
          </a:prstGeom>
          <a:solidFill>
            <a:srgbClr val="34A853"/>
          </a:solidFill>
          <a:ln w="12700">
            <a:solidFill>
              <a:srgbClr val="34A853"/>
            </a:solidFill>
            <a:prstDash val="solid"/>
          </a:ln>
        </p:spPr>
      </p:sp>
      <p:pic>
        <p:nvPicPr>
          <p:cNvPr id="21" name="Image 3" descr="preencoded.png">    </p:cNvPr>
          <p:cNvPicPr>
            <a:picLocks noChangeAspect="1"/>
          </p:cNvPicPr>
          <p:nvPr/>
        </p:nvPicPr>
        <p:blipFill>
          <a:blip r:embed="rId4"/>
          <a:stretch>
            <a:fillRect/>
          </a:stretch>
        </p:blipFill>
        <p:spPr>
          <a:xfrm>
            <a:off x="4105656" y="4105656"/>
            <a:ext cx="237744" cy="237744"/>
          </a:xfrm>
          <a:prstGeom prst="rect">
            <a:avLst/>
          </a:prstGeom>
        </p:spPr>
      </p:pic>
      <p:sp>
        <p:nvSpPr>
          <p:cNvPr id="22" name="Text 16"/>
          <p:cNvSpPr txBox="1"/>
          <p:nvPr/>
        </p:nvSpPr>
        <p:spPr>
          <a:xfrm>
            <a:off x="4572000" y="401421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Population view and risk scenarios</a:t>
            </a:r>
            <a:endParaRPr lang="en-US" sz="1250" dirty="0"/>
          </a:p>
        </p:txBody>
      </p:sp>
      <p:sp>
        <p:nvSpPr>
          <p:cNvPr id="23" name="Text 17"/>
          <p:cNvSpPr txBox="1"/>
          <p:nvPr/>
        </p:nvSpPr>
        <p:spPr>
          <a:xfrm>
            <a:off x="3995928" y="457200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Control rates, care gaps and cost by facility and population group; predictive risk scenarios that show where the model is most sensitive to which inputs.</a:t>
            </a:r>
            <a:endParaRPr lang="en-US" sz="1050" dirty="0"/>
          </a:p>
        </p:txBody>
      </p:sp>
      <p:sp>
        <p:nvSpPr>
          <p:cNvPr id="24" name="Shape 18"/>
          <p:cNvSpPr/>
          <p:nvPr/>
        </p:nvSpPr>
        <p:spPr>
          <a:xfrm>
            <a:off x="7315200" y="1783080"/>
            <a:ext cx="4297680" cy="3840480"/>
          </a:xfrm>
          <a:prstGeom prst="roundRect">
            <a:avLst>
              <a:gd name="adj" fmla="val 1905"/>
            </a:avLst>
          </a:prstGeom>
          <a:solidFill>
            <a:srgbClr val="E8F0FE"/>
          </a:solidFill>
          <a:ln w="12700">
            <a:solidFill>
              <a:srgbClr val="E8F0FE"/>
            </a:solidFill>
            <a:prstDash val="solid"/>
          </a:ln>
        </p:spPr>
      </p:sp>
      <p:sp>
        <p:nvSpPr>
          <p:cNvPr id="25" name="Text 19"/>
          <p:cNvSpPr txBox="1"/>
          <p:nvPr/>
        </p:nvSpPr>
        <p:spPr>
          <a:xfrm>
            <a:off x="7589520" y="1965960"/>
            <a:ext cx="3840480" cy="320040"/>
          </a:xfrm>
          <a:prstGeom prst="rect">
            <a:avLst/>
          </a:prstGeom>
          <a:noFill/>
          <a:ln/>
        </p:spPr>
        <p:txBody>
          <a:bodyPr wrap="square" lIns="0" tIns="0" rIns="0" bIns="0" rtlCol="0" anchor="t"/>
          <a:lstStyle/>
          <a:p>
            <a:pPr indent="0" marL="0">
              <a:buNone/>
            </a:pPr>
            <a:r>
              <a:rPr lang="en-US" sz="1400" b="1" dirty="0">
                <a:solidFill>
                  <a:srgbClr val="1A73E8"/>
                </a:solidFill>
                <a:latin typeface="Arial" pitchFamily="34" charset="0"/>
                <a:ea typeface="Arial" pitchFamily="34" charset="-122"/>
                <a:cs typeface="Arial" pitchFamily="34" charset="-120"/>
              </a:rPr>
              <a:t>Controls, enforced in code</a:t>
            </a:r>
            <a:endParaRPr lang="en-US" sz="1400" dirty="0"/>
          </a:p>
        </p:txBody>
      </p:sp>
      <p:pic>
        <p:nvPicPr>
          <p:cNvPr id="26" name="Image 4" descr="preencoded.png">    </p:cNvPr>
          <p:cNvPicPr>
            <a:picLocks noChangeAspect="1"/>
          </p:cNvPicPr>
          <p:nvPr/>
        </p:nvPicPr>
        <p:blipFill>
          <a:blip r:embed="rId5"/>
          <a:stretch>
            <a:fillRect/>
          </a:stretch>
        </p:blipFill>
        <p:spPr>
          <a:xfrm>
            <a:off x="7589520" y="2450592"/>
            <a:ext cx="274320" cy="274320"/>
          </a:xfrm>
          <a:prstGeom prst="rect">
            <a:avLst/>
          </a:prstGeom>
        </p:spPr>
      </p:pic>
      <p:sp>
        <p:nvSpPr>
          <p:cNvPr id="27" name="Text 20"/>
          <p:cNvSpPr txBox="1"/>
          <p:nvPr/>
        </p:nvSpPr>
        <p:spPr>
          <a:xfrm>
            <a:off x="8001000" y="2423160"/>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Numbers only from tools</a:t>
            </a:r>
            <a:endParaRPr lang="en-US" sz="1150" dirty="0"/>
          </a:p>
        </p:txBody>
      </p:sp>
      <p:sp>
        <p:nvSpPr>
          <p:cNvPr id="28" name="Text 21"/>
          <p:cNvSpPr txBox="1"/>
          <p:nvPr/>
        </p:nvSpPr>
        <p:spPr>
          <a:xfrm>
            <a:off x="8001000" y="2679192"/>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the model narrates; it never invents a value</a:t>
            </a:r>
            <a:endParaRPr lang="en-US" sz="1000" dirty="0"/>
          </a:p>
        </p:txBody>
      </p:sp>
      <p:pic>
        <p:nvPicPr>
          <p:cNvPr id="29" name="Image 5" descr="preencoded.png">    </p:cNvPr>
          <p:cNvPicPr>
            <a:picLocks noChangeAspect="1"/>
          </p:cNvPicPr>
          <p:nvPr/>
        </p:nvPicPr>
        <p:blipFill>
          <a:blip r:embed="rId6"/>
          <a:stretch>
            <a:fillRect/>
          </a:stretch>
        </p:blipFill>
        <p:spPr>
          <a:xfrm>
            <a:off x="7589520" y="3072384"/>
            <a:ext cx="274320" cy="274320"/>
          </a:xfrm>
          <a:prstGeom prst="rect">
            <a:avLst/>
          </a:prstGeom>
        </p:spPr>
      </p:pic>
      <p:sp>
        <p:nvSpPr>
          <p:cNvPr id="30" name="Text 22"/>
          <p:cNvSpPr txBox="1"/>
          <p:nvPr/>
        </p:nvSpPr>
        <p:spPr>
          <a:xfrm>
            <a:off x="8001000" y="3044952"/>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Claims only with a citation</a:t>
            </a:r>
            <a:endParaRPr lang="en-US" sz="1150" dirty="0"/>
          </a:p>
        </p:txBody>
      </p:sp>
      <p:sp>
        <p:nvSpPr>
          <p:cNvPr id="31" name="Text 23"/>
          <p:cNvSpPr txBox="1"/>
          <p:nvPr/>
        </p:nvSpPr>
        <p:spPr>
          <a:xfrm>
            <a:off x="8001000" y="3300984"/>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document and page from the national guideline</a:t>
            </a:r>
            <a:endParaRPr lang="en-US" sz="1000" dirty="0"/>
          </a:p>
        </p:txBody>
      </p:sp>
      <p:pic>
        <p:nvPicPr>
          <p:cNvPr id="32" name="Image 6" descr="preencoded.png">    </p:cNvPr>
          <p:cNvPicPr>
            <a:picLocks noChangeAspect="1"/>
          </p:cNvPicPr>
          <p:nvPr/>
        </p:nvPicPr>
        <p:blipFill>
          <a:blip r:embed="rId7"/>
          <a:stretch>
            <a:fillRect/>
          </a:stretch>
        </p:blipFill>
        <p:spPr>
          <a:xfrm>
            <a:off x="7589520" y="3694176"/>
            <a:ext cx="274320" cy="274320"/>
          </a:xfrm>
          <a:prstGeom prst="rect">
            <a:avLst/>
          </a:prstGeom>
        </p:spPr>
      </p:pic>
      <p:sp>
        <p:nvSpPr>
          <p:cNvPr id="33" name="Text 24"/>
          <p:cNvSpPr txBox="1"/>
          <p:nvPr/>
        </p:nvSpPr>
        <p:spPr>
          <a:xfrm>
            <a:off x="8001000" y="3666744"/>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Actions only with a signature</a:t>
            </a:r>
            <a:endParaRPr lang="en-US" sz="1150" dirty="0"/>
          </a:p>
        </p:txBody>
      </p:sp>
      <p:sp>
        <p:nvSpPr>
          <p:cNvPr id="34" name="Text 25"/>
          <p:cNvSpPr txBox="1"/>
          <p:nvPr/>
        </p:nvSpPr>
        <p:spPr>
          <a:xfrm>
            <a:off x="8001000" y="3922776"/>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drafts wait in a queue for a named clinician</a:t>
            </a:r>
            <a:endParaRPr lang="en-US" sz="1000" dirty="0"/>
          </a:p>
        </p:txBody>
      </p:sp>
      <p:pic>
        <p:nvPicPr>
          <p:cNvPr id="35" name="Image 7" descr="preencoded.png">    </p:cNvPr>
          <p:cNvPicPr>
            <a:picLocks noChangeAspect="1"/>
          </p:cNvPicPr>
          <p:nvPr/>
        </p:nvPicPr>
        <p:blipFill>
          <a:blip r:embed="rId8"/>
          <a:stretch>
            <a:fillRect/>
          </a:stretch>
        </p:blipFill>
        <p:spPr>
          <a:xfrm>
            <a:off x="7589520" y="4315968"/>
            <a:ext cx="274320" cy="274320"/>
          </a:xfrm>
          <a:prstGeom prst="rect">
            <a:avLst/>
          </a:prstGeom>
        </p:spPr>
      </p:pic>
      <p:sp>
        <p:nvSpPr>
          <p:cNvPr id="36" name="Text 26"/>
          <p:cNvSpPr txBox="1"/>
          <p:nvPr/>
        </p:nvSpPr>
        <p:spPr>
          <a:xfrm>
            <a:off x="8001000" y="4288536"/>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Every step audited</a:t>
            </a:r>
            <a:endParaRPr lang="en-US" sz="1150" dirty="0"/>
          </a:p>
        </p:txBody>
      </p:sp>
      <p:sp>
        <p:nvSpPr>
          <p:cNvPr id="37" name="Text 27"/>
          <p:cNvSpPr txBox="1"/>
          <p:nvPr/>
        </p:nvSpPr>
        <p:spPr>
          <a:xfrm>
            <a:off x="8001000" y="4544568"/>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tool calls, scores, citations and decisions</a:t>
            </a:r>
            <a:endParaRPr lang="en-US" sz="1000" dirty="0"/>
          </a:p>
        </p:txBody>
      </p:sp>
      <p:pic>
        <p:nvPicPr>
          <p:cNvPr id="38" name="Image 8" descr="preencoded.png">    </p:cNvPr>
          <p:cNvPicPr>
            <a:picLocks noChangeAspect="1"/>
          </p:cNvPicPr>
          <p:nvPr/>
        </p:nvPicPr>
        <p:blipFill>
          <a:blip r:embed="rId9"/>
          <a:stretch>
            <a:fillRect/>
          </a:stretch>
        </p:blipFill>
        <p:spPr>
          <a:xfrm>
            <a:off x="7589520" y="4937760"/>
            <a:ext cx="274320" cy="274320"/>
          </a:xfrm>
          <a:prstGeom prst="rect">
            <a:avLst/>
          </a:prstGeom>
        </p:spPr>
      </p:pic>
      <p:sp>
        <p:nvSpPr>
          <p:cNvPr id="39" name="Text 28"/>
          <p:cNvSpPr txBox="1"/>
          <p:nvPr/>
        </p:nvSpPr>
        <p:spPr>
          <a:xfrm>
            <a:off x="8001000" y="4910328"/>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Arabic and English, by voice</a:t>
            </a:r>
            <a:endParaRPr lang="en-US" sz="1150" dirty="0"/>
          </a:p>
        </p:txBody>
      </p:sp>
      <p:sp>
        <p:nvSpPr>
          <p:cNvPr id="40" name="Text 29"/>
          <p:cNvSpPr txBox="1"/>
          <p:nvPr/>
        </p:nvSpPr>
        <p:spPr>
          <a:xfrm>
            <a:off x="8001000" y="5166360"/>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ask between patients, or from the car</a:t>
            </a:r>
            <a:endParaRPr lang="en-US" sz="1000" dirty="0"/>
          </a:p>
        </p:txBody>
      </p:sp>
      <p:sp>
        <p:nvSpPr>
          <p:cNvPr id="41" name="Text 30"/>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100" b="1" dirty="0">
                <a:solidFill>
                  <a:srgbClr val="202124"/>
                </a:solidFill>
                <a:latin typeface="Arial" pitchFamily="34" charset="0"/>
                <a:ea typeface="Arial" pitchFamily="34" charset="-122"/>
                <a:cs typeface="Arial" pitchFamily="34" charset="-120"/>
              </a:rPr>
              <a:t>Scope of this build: </a:t>
            </a:r>
            <a:pPr indent="0" marL="0">
              <a:buNone/>
            </a:pPr>
            <a:r>
              <a:rPr lang="en-US" sz="1100" dirty="0">
                <a:solidFill>
                  <a:srgbClr val="5F6368"/>
                </a:solidFill>
                <a:latin typeface="Arial" pitchFamily="34" charset="0"/>
                <a:ea typeface="Arial" pitchFamily="34" charset="-122"/>
                <a:cs typeface="Arial" pitchFamily="34" charset="-120"/>
              </a:rPr>
              <a:t>type 2 diabetes, a 4,000-patient synthetic exchange shaped like the national HIE (FHIR R4 export, LOINC / ICD-10 / ATC coded, 36 months). Zero PHI.</a:t>
            </a:r>
            <a:endParaRPr lang="en-US" sz="1100" dirty="0"/>
          </a:p>
        </p:txBody>
      </p:sp>
      <p:sp>
        <p:nvSpPr>
          <p:cNvPr id="42" name="Text 31"/>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Agentic population health for a national diabetes registry</a:t>
            </a:r>
            <a:endParaRPr lang="en-US" sz="850" dirty="0"/>
          </a:p>
        </p:txBody>
      </p:sp>
      <p:sp>
        <p:nvSpPr>
          <p:cNvPr id="43" name="Text 3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How it works in the prototype: a supervisor and five specialists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The orchestration pattern used in this prototype. Each specialist sees only its own tools; the production topology is benchmarked during discovery.</a:t>
            </a:r>
            <a:endParaRPr lang="en-US" sz="1300" dirty="0"/>
          </a:p>
        </p:txBody>
      </p:sp>
      <p:sp>
        <p:nvSpPr>
          <p:cNvPr id="4" name="Shape 2"/>
          <p:cNvSpPr/>
          <p:nvPr/>
        </p:nvSpPr>
        <p:spPr>
          <a:xfrm>
            <a:off x="4480560" y="1737360"/>
            <a:ext cx="3246120" cy="457200"/>
          </a:xfrm>
          <a:prstGeom prst="roundRect">
            <a:avLst>
              <a:gd name="adj" fmla="val 16000"/>
            </a:avLst>
          </a:prstGeom>
          <a:solidFill>
            <a:srgbClr val="F1F3F4"/>
          </a:solidFill>
          <a:ln w="12700">
            <a:solidFill>
              <a:srgbClr val="F1F3F4"/>
            </a:solidFill>
            <a:prstDash val="solid"/>
          </a:ln>
        </p:spPr>
      </p:sp>
      <p:pic>
        <p:nvPicPr>
          <p:cNvPr id="5" name="Image 0" descr="preencoded.png">    </p:cNvPr>
          <p:cNvPicPr>
            <a:picLocks noChangeAspect="1"/>
          </p:cNvPicPr>
          <p:nvPr/>
        </p:nvPicPr>
        <p:blipFill>
          <a:blip r:embed="rId1"/>
          <a:stretch>
            <a:fillRect/>
          </a:stretch>
        </p:blipFill>
        <p:spPr>
          <a:xfrm>
            <a:off x="4617720" y="1837944"/>
            <a:ext cx="256032" cy="256032"/>
          </a:xfrm>
          <a:prstGeom prst="rect">
            <a:avLst/>
          </a:prstGeom>
        </p:spPr>
      </p:pic>
      <p:sp>
        <p:nvSpPr>
          <p:cNvPr id="6" name="Text 3"/>
          <p:cNvSpPr txBox="1"/>
          <p:nvPr/>
        </p:nvSpPr>
        <p:spPr>
          <a:xfrm>
            <a:off x="4956048" y="1737360"/>
            <a:ext cx="2743200" cy="457200"/>
          </a:xfrm>
          <a:prstGeom prst="rect">
            <a:avLst/>
          </a:prstGeom>
          <a:noFill/>
          <a:ln/>
        </p:spPr>
        <p:txBody>
          <a:bodyPr wrap="square" lIns="0" tIns="0" rIns="0" bIns="0" rtlCol="0" anchor="ctr"/>
          <a:lstStyle/>
          <a:p>
            <a:pPr indent="0" marL="0">
              <a:buNone/>
            </a:pPr>
            <a:r>
              <a:rPr lang="en-US" sz="1050" i="1" dirty="0">
                <a:solidFill>
                  <a:srgbClr val="202124"/>
                </a:solidFill>
                <a:latin typeface="Arial" pitchFamily="34" charset="0"/>
                <a:ea typeface="Arial" pitchFamily="34" charset="-122"/>
                <a:cs typeface="Arial" pitchFamily="34" charset="-120"/>
              </a:rPr>
              <a:t>"Who on my panel needs attention today?"</a:t>
            </a:r>
            <a:endParaRPr lang="en-US" sz="1050" dirty="0"/>
          </a:p>
        </p:txBody>
      </p:sp>
      <p:sp>
        <p:nvSpPr>
          <p:cNvPr id="7" name="Shape 4"/>
          <p:cNvSpPr/>
          <p:nvPr/>
        </p:nvSpPr>
        <p:spPr>
          <a:xfrm>
            <a:off x="6099048" y="2212848"/>
            <a:ext cx="0" cy="192024"/>
          </a:xfrm>
          <a:prstGeom prst="line">
            <a:avLst/>
          </a:prstGeom>
          <a:noFill/>
          <a:ln w="15875">
            <a:solidFill>
              <a:srgbClr val="5F6368"/>
            </a:solidFill>
            <a:prstDash val="solid"/>
            <a:tailEnd type="triangle"/>
          </a:ln>
        </p:spPr>
      </p:sp>
      <p:sp>
        <p:nvSpPr>
          <p:cNvPr id="8" name="Shape 5"/>
          <p:cNvSpPr/>
          <p:nvPr/>
        </p:nvSpPr>
        <p:spPr>
          <a:xfrm>
            <a:off x="3931920" y="2423160"/>
            <a:ext cx="4343400" cy="777240"/>
          </a:xfrm>
          <a:prstGeom prst="roundRect">
            <a:avLst>
              <a:gd name="adj" fmla="val 9412"/>
            </a:avLst>
          </a:prstGeom>
          <a:solidFill>
            <a:srgbClr val="4285F4"/>
          </a:solidFill>
          <a:ln w="12700">
            <a:solidFill>
              <a:srgbClr val="4285F4"/>
            </a:solidFill>
            <a:prstDash val="solid"/>
          </a:ln>
        </p:spPr>
      </p:sp>
      <p:sp>
        <p:nvSpPr>
          <p:cNvPr id="9" name="Text 6"/>
          <p:cNvSpPr txBox="1"/>
          <p:nvPr/>
        </p:nvSpPr>
        <p:spPr>
          <a:xfrm>
            <a:off x="4114800" y="2478024"/>
            <a:ext cx="4023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Nabd supervisor</a:t>
            </a:r>
            <a:endParaRPr lang="en-US" sz="1400" dirty="0"/>
          </a:p>
        </p:txBody>
      </p:sp>
      <p:sp>
        <p:nvSpPr>
          <p:cNvPr id="10" name="Text 7"/>
          <p:cNvSpPr txBox="1"/>
          <p:nvPr/>
        </p:nvSpPr>
        <p:spPr>
          <a:xfrm>
            <a:off x="4114800" y="2788920"/>
            <a:ext cx="4023360" cy="36576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A language model inside an agent framework: plans, routes and composes; never guesses a number</a:t>
            </a:r>
            <a:endParaRPr lang="en-US" sz="950" dirty="0"/>
          </a:p>
        </p:txBody>
      </p:sp>
      <p:sp>
        <p:nvSpPr>
          <p:cNvPr id="11" name="Shape 8"/>
          <p:cNvSpPr/>
          <p:nvPr/>
        </p:nvSpPr>
        <p:spPr>
          <a:xfrm flipH="1">
            <a:off x="1600200" y="3200400"/>
            <a:ext cx="4498848" cy="384048"/>
          </a:xfrm>
          <a:prstGeom prst="line">
            <a:avLst/>
          </a:prstGeom>
          <a:noFill/>
          <a:ln w="15875">
            <a:solidFill>
              <a:srgbClr val="DADCE0"/>
            </a:solidFill>
            <a:prstDash val="solid"/>
            <a:tailEnd type="triangle"/>
          </a:ln>
        </p:spPr>
      </p:sp>
      <p:sp>
        <p:nvSpPr>
          <p:cNvPr id="12" name="Shape 9"/>
          <p:cNvSpPr/>
          <p:nvPr/>
        </p:nvSpPr>
        <p:spPr>
          <a:xfrm>
            <a:off x="548640" y="3611880"/>
            <a:ext cx="2103120" cy="658368"/>
          </a:xfrm>
          <a:prstGeom prst="roundRect">
            <a:avLst>
              <a:gd name="adj" fmla="val 11111"/>
            </a:avLst>
          </a:prstGeom>
          <a:solidFill>
            <a:srgbClr val="FFFFFF"/>
          </a:solidFill>
          <a:ln w="9525">
            <a:solidFill>
              <a:srgbClr val="DADCE0"/>
            </a:solidFill>
            <a:prstDash val="solid"/>
          </a:ln>
        </p:spPr>
      </p:sp>
      <p:sp>
        <p:nvSpPr>
          <p:cNvPr id="13" name="Shape 10"/>
          <p:cNvSpPr/>
          <p:nvPr/>
        </p:nvSpPr>
        <p:spPr>
          <a:xfrm>
            <a:off x="658368" y="3712464"/>
            <a:ext cx="457200" cy="457200"/>
          </a:xfrm>
          <a:prstGeom prst="ellipse">
            <a:avLst/>
          </a:prstGeom>
          <a:solidFill>
            <a:srgbClr val="4285F4"/>
          </a:solidFill>
          <a:ln w="12700">
            <a:solidFill>
              <a:srgbClr val="4285F4"/>
            </a:solidFill>
            <a:prstDash val="solid"/>
          </a:ln>
        </p:spPr>
      </p:sp>
      <p:pic>
        <p:nvPicPr>
          <p:cNvPr id="14" name="Image 1" descr="preencoded.png">    </p:cNvPr>
          <p:cNvPicPr>
            <a:picLocks noChangeAspect="1"/>
          </p:cNvPicPr>
          <p:nvPr/>
        </p:nvPicPr>
        <p:blipFill>
          <a:blip r:embed="rId2"/>
          <a:stretch>
            <a:fillRect/>
          </a:stretch>
        </p:blipFill>
        <p:spPr>
          <a:xfrm>
            <a:off x="768096" y="3822192"/>
            <a:ext cx="237744" cy="237744"/>
          </a:xfrm>
          <a:prstGeom prst="rect">
            <a:avLst/>
          </a:prstGeom>
        </p:spPr>
      </p:pic>
      <p:sp>
        <p:nvSpPr>
          <p:cNvPr id="15" name="Text 11"/>
          <p:cNvSpPr txBox="1"/>
          <p:nvPr/>
        </p:nvSpPr>
        <p:spPr>
          <a:xfrm>
            <a:off x="118872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Data specialist</a:t>
            </a:r>
            <a:endParaRPr lang="en-US" sz="1100" dirty="0"/>
          </a:p>
        </p:txBody>
      </p:sp>
      <p:sp>
        <p:nvSpPr>
          <p:cNvPr id="16" name="Shape 12"/>
          <p:cNvSpPr/>
          <p:nvPr/>
        </p:nvSpPr>
        <p:spPr>
          <a:xfrm>
            <a:off x="1600200" y="4270248"/>
            <a:ext cx="0" cy="192024"/>
          </a:xfrm>
          <a:prstGeom prst="line">
            <a:avLst/>
          </a:prstGeom>
          <a:noFill/>
          <a:ln w="15875">
            <a:solidFill>
              <a:srgbClr val="DADCE0"/>
            </a:solidFill>
            <a:prstDash val="solid"/>
            <a:tailEnd type="triangle"/>
          </a:ln>
        </p:spPr>
      </p:sp>
      <p:sp>
        <p:nvSpPr>
          <p:cNvPr id="17" name="Shape 13"/>
          <p:cNvSpPr/>
          <p:nvPr/>
        </p:nvSpPr>
        <p:spPr>
          <a:xfrm>
            <a:off x="548640" y="4480560"/>
            <a:ext cx="2103120" cy="1143000"/>
          </a:xfrm>
          <a:prstGeom prst="roundRect">
            <a:avLst>
              <a:gd name="adj" fmla="val 6400"/>
            </a:avLst>
          </a:prstGeom>
          <a:solidFill>
            <a:srgbClr val="F8F9FA"/>
          </a:solidFill>
          <a:ln w="12700">
            <a:solidFill>
              <a:srgbClr val="F8F9FA"/>
            </a:solidFill>
            <a:prstDash val="solid"/>
          </a:ln>
        </p:spPr>
      </p:sp>
      <p:sp>
        <p:nvSpPr>
          <p:cNvPr id="18" name="Text 14"/>
          <p:cNvSpPr txBox="1"/>
          <p:nvPr/>
        </p:nvSpPr>
        <p:spPr>
          <a:xfrm>
            <a:off x="68580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Cohorts, timelines, group-bys over the exchange</a:t>
            </a:r>
            <a:endParaRPr lang="en-US" sz="1000" dirty="0"/>
          </a:p>
        </p:txBody>
      </p:sp>
      <p:sp>
        <p:nvSpPr>
          <p:cNvPr id="19" name="Text 15"/>
          <p:cNvSpPr txBox="1"/>
          <p:nvPr/>
        </p:nvSpPr>
        <p:spPr>
          <a:xfrm>
            <a:off x="68580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4285F4"/>
                </a:solidFill>
                <a:latin typeface="Arial" pitchFamily="34" charset="0"/>
                <a:ea typeface="Arial" pitchFamily="34" charset="-122"/>
                <a:cs typeface="Arial" pitchFamily="34" charset="-120"/>
              </a:rPr>
              <a:t>Typed query tools over the HIE tables</a:t>
            </a:r>
            <a:endParaRPr lang="en-US" sz="900" dirty="0"/>
          </a:p>
        </p:txBody>
      </p:sp>
      <p:sp>
        <p:nvSpPr>
          <p:cNvPr id="20" name="Shape 16"/>
          <p:cNvSpPr/>
          <p:nvPr/>
        </p:nvSpPr>
        <p:spPr>
          <a:xfrm flipH="1">
            <a:off x="3840480" y="3200400"/>
            <a:ext cx="2258568" cy="384048"/>
          </a:xfrm>
          <a:prstGeom prst="line">
            <a:avLst/>
          </a:prstGeom>
          <a:noFill/>
          <a:ln w="15875">
            <a:solidFill>
              <a:srgbClr val="DADCE0"/>
            </a:solidFill>
            <a:prstDash val="solid"/>
            <a:tailEnd type="triangle"/>
          </a:ln>
        </p:spPr>
      </p:sp>
      <p:sp>
        <p:nvSpPr>
          <p:cNvPr id="21" name="Shape 17"/>
          <p:cNvSpPr/>
          <p:nvPr/>
        </p:nvSpPr>
        <p:spPr>
          <a:xfrm>
            <a:off x="2788920" y="3611880"/>
            <a:ext cx="2103120" cy="658368"/>
          </a:xfrm>
          <a:prstGeom prst="roundRect">
            <a:avLst>
              <a:gd name="adj" fmla="val 11111"/>
            </a:avLst>
          </a:prstGeom>
          <a:solidFill>
            <a:srgbClr val="FFFFFF"/>
          </a:solidFill>
          <a:ln w="9525">
            <a:solidFill>
              <a:srgbClr val="DADCE0"/>
            </a:solidFill>
            <a:prstDash val="solid"/>
          </a:ln>
        </p:spPr>
      </p:sp>
      <p:sp>
        <p:nvSpPr>
          <p:cNvPr id="22" name="Shape 18"/>
          <p:cNvSpPr/>
          <p:nvPr/>
        </p:nvSpPr>
        <p:spPr>
          <a:xfrm>
            <a:off x="2898648" y="3712464"/>
            <a:ext cx="457200" cy="457200"/>
          </a:xfrm>
          <a:prstGeom prst="ellipse">
            <a:avLst/>
          </a:prstGeom>
          <a:solidFill>
            <a:srgbClr val="EA4335"/>
          </a:solidFill>
          <a:ln w="12700">
            <a:solidFill>
              <a:srgbClr val="EA4335"/>
            </a:solidFill>
            <a:prstDash val="solid"/>
          </a:ln>
        </p:spPr>
      </p:sp>
      <p:pic>
        <p:nvPicPr>
          <p:cNvPr id="23" name="Image 2" descr="preencoded.png">    </p:cNvPr>
          <p:cNvPicPr>
            <a:picLocks noChangeAspect="1"/>
          </p:cNvPicPr>
          <p:nvPr/>
        </p:nvPicPr>
        <p:blipFill>
          <a:blip r:embed="rId3"/>
          <a:stretch>
            <a:fillRect/>
          </a:stretch>
        </p:blipFill>
        <p:spPr>
          <a:xfrm>
            <a:off x="3008376" y="3822192"/>
            <a:ext cx="237744" cy="237744"/>
          </a:xfrm>
          <a:prstGeom prst="rect">
            <a:avLst/>
          </a:prstGeom>
        </p:spPr>
      </p:pic>
      <p:sp>
        <p:nvSpPr>
          <p:cNvPr id="24" name="Text 19"/>
          <p:cNvSpPr txBox="1"/>
          <p:nvPr/>
        </p:nvSpPr>
        <p:spPr>
          <a:xfrm>
            <a:off x="342900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Guideline specialist</a:t>
            </a:r>
            <a:endParaRPr lang="en-US" sz="1100" dirty="0"/>
          </a:p>
        </p:txBody>
      </p:sp>
      <p:sp>
        <p:nvSpPr>
          <p:cNvPr id="25" name="Shape 20"/>
          <p:cNvSpPr/>
          <p:nvPr/>
        </p:nvSpPr>
        <p:spPr>
          <a:xfrm>
            <a:off x="3840480" y="4270248"/>
            <a:ext cx="0" cy="192024"/>
          </a:xfrm>
          <a:prstGeom prst="line">
            <a:avLst/>
          </a:prstGeom>
          <a:noFill/>
          <a:ln w="15875">
            <a:solidFill>
              <a:srgbClr val="DADCE0"/>
            </a:solidFill>
            <a:prstDash val="solid"/>
            <a:tailEnd type="triangle"/>
          </a:ln>
        </p:spPr>
      </p:sp>
      <p:sp>
        <p:nvSpPr>
          <p:cNvPr id="26" name="Shape 21"/>
          <p:cNvSpPr/>
          <p:nvPr/>
        </p:nvSpPr>
        <p:spPr>
          <a:xfrm>
            <a:off x="2788920" y="4480560"/>
            <a:ext cx="2103120" cy="1143000"/>
          </a:xfrm>
          <a:prstGeom prst="roundRect">
            <a:avLst>
              <a:gd name="adj" fmla="val 6400"/>
            </a:avLst>
          </a:prstGeom>
          <a:solidFill>
            <a:srgbClr val="F8F9FA"/>
          </a:solidFill>
          <a:ln w="12700">
            <a:solidFill>
              <a:srgbClr val="F8F9FA"/>
            </a:solidFill>
            <a:prstDash val="solid"/>
          </a:ln>
        </p:spPr>
      </p:sp>
      <p:sp>
        <p:nvSpPr>
          <p:cNvPr id="27" name="Text 22"/>
          <p:cNvSpPr txBox="1"/>
          <p:nvPr/>
        </p:nvSpPr>
        <p:spPr>
          <a:xfrm>
            <a:off x="292608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Retrieval over the national guidelines with page citations</a:t>
            </a:r>
            <a:endParaRPr lang="en-US" sz="1000" dirty="0"/>
          </a:p>
        </p:txBody>
      </p:sp>
      <p:sp>
        <p:nvSpPr>
          <p:cNvPr id="28" name="Text 23"/>
          <p:cNvSpPr txBox="1"/>
          <p:nvPr/>
        </p:nvSpPr>
        <p:spPr>
          <a:xfrm>
            <a:off x="292608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EA4335"/>
                </a:solidFill>
                <a:latin typeface="Arial" pitchFamily="34" charset="0"/>
                <a:ea typeface="Arial" pitchFamily="34" charset="-122"/>
                <a:cs typeface="Arial" pitchFamily="34" charset="-120"/>
              </a:rPr>
              <a:t>Hybrid keyword and semantic search</a:t>
            </a:r>
            <a:endParaRPr lang="en-US" sz="900" dirty="0"/>
          </a:p>
        </p:txBody>
      </p:sp>
      <p:sp>
        <p:nvSpPr>
          <p:cNvPr id="29" name="Shape 24"/>
          <p:cNvSpPr/>
          <p:nvPr/>
        </p:nvSpPr>
        <p:spPr>
          <a:xfrm flipH="1">
            <a:off x="6080760" y="3200400"/>
            <a:ext cx="18288" cy="384048"/>
          </a:xfrm>
          <a:prstGeom prst="line">
            <a:avLst/>
          </a:prstGeom>
          <a:noFill/>
          <a:ln w="15875">
            <a:solidFill>
              <a:srgbClr val="DADCE0"/>
            </a:solidFill>
            <a:prstDash val="solid"/>
            <a:tailEnd type="triangle"/>
          </a:ln>
        </p:spPr>
      </p:sp>
      <p:sp>
        <p:nvSpPr>
          <p:cNvPr id="30" name="Shape 25"/>
          <p:cNvSpPr/>
          <p:nvPr/>
        </p:nvSpPr>
        <p:spPr>
          <a:xfrm>
            <a:off x="5029200" y="3611880"/>
            <a:ext cx="2103120" cy="658368"/>
          </a:xfrm>
          <a:prstGeom prst="roundRect">
            <a:avLst>
              <a:gd name="adj" fmla="val 11111"/>
            </a:avLst>
          </a:prstGeom>
          <a:solidFill>
            <a:srgbClr val="FFFFFF"/>
          </a:solidFill>
          <a:ln w="9525">
            <a:solidFill>
              <a:srgbClr val="DADCE0"/>
            </a:solidFill>
            <a:prstDash val="solid"/>
          </a:ln>
        </p:spPr>
      </p:sp>
      <p:sp>
        <p:nvSpPr>
          <p:cNvPr id="31" name="Shape 26"/>
          <p:cNvSpPr/>
          <p:nvPr/>
        </p:nvSpPr>
        <p:spPr>
          <a:xfrm>
            <a:off x="5138928" y="3712464"/>
            <a:ext cx="457200" cy="457200"/>
          </a:xfrm>
          <a:prstGeom prst="ellipse">
            <a:avLst/>
          </a:prstGeom>
          <a:solidFill>
            <a:srgbClr val="FBBC04"/>
          </a:solidFill>
          <a:ln w="12700">
            <a:solidFill>
              <a:srgbClr val="FBBC04"/>
            </a:solidFill>
            <a:prstDash val="solid"/>
          </a:ln>
        </p:spPr>
      </p:sp>
      <p:pic>
        <p:nvPicPr>
          <p:cNvPr id="32" name="Image 3" descr="preencoded.png">    </p:cNvPr>
          <p:cNvPicPr>
            <a:picLocks noChangeAspect="1"/>
          </p:cNvPicPr>
          <p:nvPr/>
        </p:nvPicPr>
        <p:blipFill>
          <a:blip r:embed="rId4"/>
          <a:stretch>
            <a:fillRect/>
          </a:stretch>
        </p:blipFill>
        <p:spPr>
          <a:xfrm>
            <a:off x="5248656" y="3822192"/>
            <a:ext cx="237744" cy="237744"/>
          </a:xfrm>
          <a:prstGeom prst="rect">
            <a:avLst/>
          </a:prstGeom>
        </p:spPr>
      </p:pic>
      <p:sp>
        <p:nvSpPr>
          <p:cNvPr id="33" name="Text 27"/>
          <p:cNvSpPr txBox="1"/>
          <p:nvPr/>
        </p:nvSpPr>
        <p:spPr>
          <a:xfrm>
            <a:off x="566928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Risk specialist</a:t>
            </a:r>
            <a:endParaRPr lang="en-US" sz="1100" dirty="0"/>
          </a:p>
        </p:txBody>
      </p:sp>
      <p:sp>
        <p:nvSpPr>
          <p:cNvPr id="34" name="Shape 28"/>
          <p:cNvSpPr/>
          <p:nvPr/>
        </p:nvSpPr>
        <p:spPr>
          <a:xfrm>
            <a:off x="6080760" y="4270248"/>
            <a:ext cx="0" cy="192024"/>
          </a:xfrm>
          <a:prstGeom prst="line">
            <a:avLst/>
          </a:prstGeom>
          <a:noFill/>
          <a:ln w="15875">
            <a:solidFill>
              <a:srgbClr val="DADCE0"/>
            </a:solidFill>
            <a:prstDash val="solid"/>
            <a:tailEnd type="triangle"/>
          </a:ln>
        </p:spPr>
      </p:sp>
      <p:sp>
        <p:nvSpPr>
          <p:cNvPr id="35" name="Shape 29"/>
          <p:cNvSpPr/>
          <p:nvPr/>
        </p:nvSpPr>
        <p:spPr>
          <a:xfrm>
            <a:off x="5029200" y="4480560"/>
            <a:ext cx="2103120" cy="1143000"/>
          </a:xfrm>
          <a:prstGeom prst="roundRect">
            <a:avLst>
              <a:gd name="adj" fmla="val 6400"/>
            </a:avLst>
          </a:prstGeom>
          <a:solidFill>
            <a:srgbClr val="F8F9FA"/>
          </a:solidFill>
          <a:ln w="12700">
            <a:solidFill>
              <a:srgbClr val="F8F9FA"/>
            </a:solidFill>
            <a:prstDash val="solid"/>
          </a:ln>
        </p:spPr>
      </p:sp>
      <p:sp>
        <p:nvSpPr>
          <p:cNvPr id="36" name="Text 30"/>
          <p:cNvSpPr txBox="1"/>
          <p:nvPr/>
        </p:nvSpPr>
        <p:spPr>
          <a:xfrm>
            <a:off x="516636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Scores, explains, forecasts, runs risk scenarios</a:t>
            </a:r>
            <a:endParaRPr lang="en-US" sz="1000" dirty="0"/>
          </a:p>
        </p:txBody>
      </p:sp>
      <p:sp>
        <p:nvSpPr>
          <p:cNvPr id="37" name="Text 31"/>
          <p:cNvSpPr txBox="1"/>
          <p:nvPr/>
        </p:nvSpPr>
        <p:spPr>
          <a:xfrm>
            <a:off x="516636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B06000"/>
                </a:solidFill>
                <a:latin typeface="Arial" pitchFamily="34" charset="0"/>
                <a:ea typeface="Arial" pitchFamily="34" charset="-122"/>
                <a:cs typeface="Arial" pitchFamily="34" charset="-120"/>
              </a:rPr>
              <a:t>XGBoost risk model (AUC 0.85, synthetic held-out) · segments · forecast</a:t>
            </a:r>
            <a:endParaRPr lang="en-US" sz="900" dirty="0"/>
          </a:p>
        </p:txBody>
      </p:sp>
      <p:sp>
        <p:nvSpPr>
          <p:cNvPr id="38" name="Shape 32"/>
          <p:cNvSpPr/>
          <p:nvPr/>
        </p:nvSpPr>
        <p:spPr>
          <a:xfrm>
            <a:off x="6099048" y="3200400"/>
            <a:ext cx="2221992" cy="384048"/>
          </a:xfrm>
          <a:prstGeom prst="line">
            <a:avLst/>
          </a:prstGeom>
          <a:noFill/>
          <a:ln w="15875">
            <a:solidFill>
              <a:srgbClr val="DADCE0"/>
            </a:solidFill>
            <a:prstDash val="solid"/>
            <a:tailEnd type="triangle"/>
          </a:ln>
        </p:spPr>
      </p:sp>
      <p:sp>
        <p:nvSpPr>
          <p:cNvPr id="39" name="Shape 33"/>
          <p:cNvSpPr/>
          <p:nvPr/>
        </p:nvSpPr>
        <p:spPr>
          <a:xfrm>
            <a:off x="7269480" y="3611880"/>
            <a:ext cx="2103120" cy="658368"/>
          </a:xfrm>
          <a:prstGeom prst="roundRect">
            <a:avLst>
              <a:gd name="adj" fmla="val 11111"/>
            </a:avLst>
          </a:prstGeom>
          <a:solidFill>
            <a:srgbClr val="FFFFFF"/>
          </a:solidFill>
          <a:ln w="9525">
            <a:solidFill>
              <a:srgbClr val="DADCE0"/>
            </a:solidFill>
            <a:prstDash val="solid"/>
          </a:ln>
        </p:spPr>
      </p:sp>
      <p:sp>
        <p:nvSpPr>
          <p:cNvPr id="40" name="Shape 34"/>
          <p:cNvSpPr/>
          <p:nvPr/>
        </p:nvSpPr>
        <p:spPr>
          <a:xfrm>
            <a:off x="7379208" y="3712464"/>
            <a:ext cx="457200" cy="457200"/>
          </a:xfrm>
          <a:prstGeom prst="ellipse">
            <a:avLst/>
          </a:prstGeom>
          <a:solidFill>
            <a:srgbClr val="34A853"/>
          </a:solidFill>
          <a:ln w="12700">
            <a:solidFill>
              <a:srgbClr val="34A853"/>
            </a:solidFill>
            <a:prstDash val="solid"/>
          </a:ln>
        </p:spPr>
      </p:sp>
      <p:pic>
        <p:nvPicPr>
          <p:cNvPr id="41" name="Image 4" descr="preencoded.png">    </p:cNvPr>
          <p:cNvPicPr>
            <a:picLocks noChangeAspect="1"/>
          </p:cNvPicPr>
          <p:nvPr/>
        </p:nvPicPr>
        <p:blipFill>
          <a:blip r:embed="rId5"/>
          <a:stretch>
            <a:fillRect/>
          </a:stretch>
        </p:blipFill>
        <p:spPr>
          <a:xfrm>
            <a:off x="7488936" y="3822192"/>
            <a:ext cx="237744" cy="237744"/>
          </a:xfrm>
          <a:prstGeom prst="rect">
            <a:avLst/>
          </a:prstGeom>
        </p:spPr>
      </p:pic>
      <p:sp>
        <p:nvSpPr>
          <p:cNvPr id="42" name="Text 35"/>
          <p:cNvSpPr txBox="1"/>
          <p:nvPr/>
        </p:nvSpPr>
        <p:spPr>
          <a:xfrm>
            <a:off x="790956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Population-health MCP</a:t>
            </a:r>
            <a:endParaRPr lang="en-US" sz="1100" dirty="0"/>
          </a:p>
        </p:txBody>
      </p:sp>
      <p:sp>
        <p:nvSpPr>
          <p:cNvPr id="43" name="Shape 36"/>
          <p:cNvSpPr/>
          <p:nvPr/>
        </p:nvSpPr>
        <p:spPr>
          <a:xfrm>
            <a:off x="8321040" y="4270248"/>
            <a:ext cx="0" cy="192024"/>
          </a:xfrm>
          <a:prstGeom prst="line">
            <a:avLst/>
          </a:prstGeom>
          <a:noFill/>
          <a:ln w="15875">
            <a:solidFill>
              <a:srgbClr val="DADCE0"/>
            </a:solidFill>
            <a:prstDash val="solid"/>
            <a:tailEnd type="triangle"/>
          </a:ln>
        </p:spPr>
      </p:sp>
      <p:sp>
        <p:nvSpPr>
          <p:cNvPr id="44" name="Shape 37"/>
          <p:cNvSpPr/>
          <p:nvPr/>
        </p:nvSpPr>
        <p:spPr>
          <a:xfrm>
            <a:off x="7269480" y="4480560"/>
            <a:ext cx="2103120" cy="1143000"/>
          </a:xfrm>
          <a:prstGeom prst="roundRect">
            <a:avLst>
              <a:gd name="adj" fmla="val 6400"/>
            </a:avLst>
          </a:prstGeom>
          <a:solidFill>
            <a:srgbClr val="F8F9FA"/>
          </a:solidFill>
          <a:ln w="12700">
            <a:solidFill>
              <a:srgbClr val="F8F9FA"/>
            </a:solidFill>
            <a:prstDash val="solid"/>
          </a:ln>
        </p:spPr>
      </p:sp>
      <p:sp>
        <p:nvSpPr>
          <p:cNvPr id="45" name="Text 38"/>
          <p:cNvSpPr txBox="1"/>
          <p:nvPr/>
        </p:nvSpPr>
        <p:spPr>
          <a:xfrm>
            <a:off x="740664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Care gaps, quality measures, stratification</a:t>
            </a:r>
            <a:endParaRPr lang="en-US" sz="1000" dirty="0"/>
          </a:p>
        </p:txBody>
      </p:sp>
      <p:sp>
        <p:nvSpPr>
          <p:cNvPr id="46" name="Text 39"/>
          <p:cNvSpPr txBox="1"/>
          <p:nvPr/>
        </p:nvSpPr>
        <p:spPr>
          <a:xfrm>
            <a:off x="740664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34A853"/>
                </a:solidFill>
                <a:latin typeface="Arial" pitchFamily="34" charset="0"/>
                <a:ea typeface="Arial" pitchFamily="34" charset="-122"/>
                <a:cs typeface="Arial" pitchFamily="34" charset="-120"/>
              </a:rPr>
              <a:t>Nabd MCP server, seven tools, any MCP client</a:t>
            </a:r>
            <a:endParaRPr lang="en-US" sz="900" dirty="0"/>
          </a:p>
        </p:txBody>
      </p:sp>
      <p:sp>
        <p:nvSpPr>
          <p:cNvPr id="47" name="Shape 40"/>
          <p:cNvSpPr/>
          <p:nvPr/>
        </p:nvSpPr>
        <p:spPr>
          <a:xfrm>
            <a:off x="6099048" y="3200400"/>
            <a:ext cx="4462272" cy="384048"/>
          </a:xfrm>
          <a:prstGeom prst="line">
            <a:avLst/>
          </a:prstGeom>
          <a:noFill/>
          <a:ln w="15875">
            <a:solidFill>
              <a:srgbClr val="DADCE0"/>
            </a:solidFill>
            <a:prstDash val="solid"/>
            <a:tailEnd type="triangle"/>
          </a:ln>
        </p:spPr>
      </p:sp>
      <p:sp>
        <p:nvSpPr>
          <p:cNvPr id="48" name="Shape 41"/>
          <p:cNvSpPr/>
          <p:nvPr/>
        </p:nvSpPr>
        <p:spPr>
          <a:xfrm>
            <a:off x="9509760" y="3611880"/>
            <a:ext cx="2103120" cy="658368"/>
          </a:xfrm>
          <a:prstGeom prst="roundRect">
            <a:avLst>
              <a:gd name="adj" fmla="val 11111"/>
            </a:avLst>
          </a:prstGeom>
          <a:solidFill>
            <a:srgbClr val="FFFFFF"/>
          </a:solidFill>
          <a:ln w="9525">
            <a:solidFill>
              <a:srgbClr val="DADCE0"/>
            </a:solidFill>
            <a:prstDash val="solid"/>
          </a:ln>
        </p:spPr>
      </p:sp>
      <p:sp>
        <p:nvSpPr>
          <p:cNvPr id="49" name="Shape 42"/>
          <p:cNvSpPr/>
          <p:nvPr/>
        </p:nvSpPr>
        <p:spPr>
          <a:xfrm>
            <a:off x="9619488" y="3712464"/>
            <a:ext cx="457200" cy="457200"/>
          </a:xfrm>
          <a:prstGeom prst="ellipse">
            <a:avLst/>
          </a:prstGeom>
          <a:solidFill>
            <a:srgbClr val="5F6368"/>
          </a:solidFill>
          <a:ln w="12700">
            <a:solidFill>
              <a:srgbClr val="5F6368"/>
            </a:solidFill>
            <a:prstDash val="solid"/>
          </a:ln>
        </p:spPr>
      </p:sp>
      <p:pic>
        <p:nvPicPr>
          <p:cNvPr id="50" name="Image 5" descr="preencoded.png">    </p:cNvPr>
          <p:cNvPicPr>
            <a:picLocks noChangeAspect="1"/>
          </p:cNvPicPr>
          <p:nvPr/>
        </p:nvPicPr>
        <p:blipFill>
          <a:blip r:embed="rId6"/>
          <a:stretch>
            <a:fillRect/>
          </a:stretch>
        </p:blipFill>
        <p:spPr>
          <a:xfrm>
            <a:off x="9729216" y="3822192"/>
            <a:ext cx="237744" cy="237744"/>
          </a:xfrm>
          <a:prstGeom prst="rect">
            <a:avLst/>
          </a:prstGeom>
        </p:spPr>
      </p:pic>
      <p:sp>
        <p:nvSpPr>
          <p:cNvPr id="51" name="Text 43"/>
          <p:cNvSpPr txBox="1"/>
          <p:nvPr/>
        </p:nvSpPr>
        <p:spPr>
          <a:xfrm>
            <a:off x="1014984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Action specialist</a:t>
            </a:r>
            <a:endParaRPr lang="en-US" sz="1100" dirty="0"/>
          </a:p>
        </p:txBody>
      </p:sp>
      <p:sp>
        <p:nvSpPr>
          <p:cNvPr id="52" name="Shape 44"/>
          <p:cNvSpPr/>
          <p:nvPr/>
        </p:nvSpPr>
        <p:spPr>
          <a:xfrm>
            <a:off x="10561320" y="4270248"/>
            <a:ext cx="0" cy="192024"/>
          </a:xfrm>
          <a:prstGeom prst="line">
            <a:avLst/>
          </a:prstGeom>
          <a:noFill/>
          <a:ln w="15875">
            <a:solidFill>
              <a:srgbClr val="DADCE0"/>
            </a:solidFill>
            <a:prstDash val="solid"/>
            <a:tailEnd type="triangle"/>
          </a:ln>
        </p:spPr>
      </p:sp>
      <p:sp>
        <p:nvSpPr>
          <p:cNvPr id="53" name="Shape 45"/>
          <p:cNvSpPr/>
          <p:nvPr/>
        </p:nvSpPr>
        <p:spPr>
          <a:xfrm>
            <a:off x="9509760" y="4480560"/>
            <a:ext cx="2103120" cy="1143000"/>
          </a:xfrm>
          <a:prstGeom prst="roundRect">
            <a:avLst>
              <a:gd name="adj" fmla="val 6400"/>
            </a:avLst>
          </a:prstGeom>
          <a:solidFill>
            <a:srgbClr val="F8F9FA"/>
          </a:solidFill>
          <a:ln w="12700">
            <a:solidFill>
              <a:srgbClr val="F8F9FA"/>
            </a:solidFill>
            <a:prstDash val="solid"/>
          </a:ln>
        </p:spPr>
      </p:sp>
      <p:sp>
        <p:nvSpPr>
          <p:cNvPr id="54" name="Text 46"/>
          <p:cNvSpPr txBox="1"/>
          <p:nvPr/>
        </p:nvSpPr>
        <p:spPr>
          <a:xfrm>
            <a:off x="964692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Drafts review tasks, recalls, referrals</a:t>
            </a:r>
            <a:endParaRPr lang="en-US" sz="1000" dirty="0"/>
          </a:p>
        </p:txBody>
      </p:sp>
      <p:sp>
        <p:nvSpPr>
          <p:cNvPr id="55" name="Text 47"/>
          <p:cNvSpPr txBox="1"/>
          <p:nvPr/>
        </p:nvSpPr>
        <p:spPr>
          <a:xfrm>
            <a:off x="964692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5F6368"/>
                </a:solidFill>
                <a:latin typeface="Arial" pitchFamily="34" charset="0"/>
                <a:ea typeface="Arial" pitchFamily="34" charset="-122"/>
                <a:cs typeface="Arial" pitchFamily="34" charset="-120"/>
              </a:rPr>
              <a:t>Human-in-the-loop approval queue</a:t>
            </a:r>
            <a:endParaRPr lang="en-US" sz="900" dirty="0"/>
          </a:p>
        </p:txBody>
      </p:sp>
      <p:sp>
        <p:nvSpPr>
          <p:cNvPr id="56" name="Shape 48"/>
          <p:cNvSpPr/>
          <p:nvPr/>
        </p:nvSpPr>
        <p:spPr>
          <a:xfrm>
            <a:off x="548640" y="5760720"/>
            <a:ext cx="11064240" cy="566928"/>
          </a:xfrm>
          <a:prstGeom prst="roundRect">
            <a:avLst>
              <a:gd name="adj" fmla="val 12903"/>
            </a:avLst>
          </a:prstGeom>
          <a:solidFill>
            <a:srgbClr val="E6F4EA"/>
          </a:solidFill>
          <a:ln w="12700">
            <a:solidFill>
              <a:srgbClr val="E6F4EA"/>
            </a:solidFill>
            <a:prstDash val="solid"/>
          </a:ln>
        </p:spPr>
      </p:sp>
      <p:pic>
        <p:nvPicPr>
          <p:cNvPr id="57" name="Image 6" descr="preencoded.png">    </p:cNvPr>
          <p:cNvPicPr>
            <a:picLocks noChangeAspect="1"/>
          </p:cNvPicPr>
          <p:nvPr/>
        </p:nvPicPr>
        <p:blipFill>
          <a:blip r:embed="rId7"/>
          <a:stretch>
            <a:fillRect/>
          </a:stretch>
        </p:blipFill>
        <p:spPr>
          <a:xfrm>
            <a:off x="731520" y="5907024"/>
            <a:ext cx="274320" cy="274320"/>
          </a:xfrm>
          <a:prstGeom prst="rect">
            <a:avLst/>
          </a:prstGeom>
        </p:spPr>
      </p:pic>
      <p:sp>
        <p:nvSpPr>
          <p:cNvPr id="58" name="Text 49"/>
          <p:cNvSpPr txBox="1"/>
          <p:nvPr/>
        </p:nvSpPr>
        <p:spPr>
          <a:xfrm>
            <a:off x="1097280" y="5779008"/>
            <a:ext cx="10424160" cy="548640"/>
          </a:xfrm>
          <a:prstGeom prst="rect">
            <a:avLst/>
          </a:prstGeom>
          <a:noFill/>
          <a:ln/>
        </p:spPr>
        <p:txBody>
          <a:bodyPr wrap="square" lIns="0" tIns="0" rIns="0" bIns="0" rtlCol="0" anchor="ctr"/>
          <a:lstStyle/>
          <a:p>
            <a:pPr indent="0" marL="0">
              <a:lnSpc>
                <a:spcPct val="110000"/>
              </a:lnSpc>
              <a:buNone/>
            </a:pPr>
            <a:r>
              <a:rPr lang="en-US" sz="1000" b="1" dirty="0">
                <a:solidFill>
                  <a:srgbClr val="202124"/>
                </a:solidFill>
                <a:latin typeface="Arial" pitchFamily="34" charset="0"/>
                <a:ea typeface="Arial" pitchFamily="34" charset="-122"/>
                <a:cs typeface="Arial" pitchFamily="34" charset="-120"/>
              </a:rPr>
              <a:t>Every answer ships with its evidence: </a:t>
            </a:r>
            <a:pPr indent="0" marL="0">
              <a:lnSpc>
                <a:spcPct val="110000"/>
              </a:lnSpc>
              <a:buNone/>
            </a:pPr>
            <a:r>
              <a:rPr lang="en-US" sz="1000" dirty="0">
                <a:solidFill>
                  <a:srgbClr val="5F6368"/>
                </a:solidFill>
                <a:latin typeface="Arial" pitchFamily="34" charset="0"/>
                <a:ea typeface="Arial" pitchFamily="34" charset="-122"/>
                <a:cs typeface="Arial" pitchFamily="34" charset="-120"/>
              </a:rPr>
              <a:t>the tool trace, guideline citations, model drivers and any drafted action, streamed live so the user watches the agents work.</a:t>
            </a:r>
            <a:endParaRPr lang="en-US" sz="1000" dirty="0"/>
          </a:p>
        </p:txBody>
      </p:sp>
      <p:sp>
        <p:nvSpPr>
          <p:cNvPr id="59" name="Text 50"/>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Agentic population health for a national diabetes registry</a:t>
            </a:r>
            <a:endParaRPr lang="en-US" sz="850" dirty="0"/>
          </a:p>
        </p:txBody>
      </p:sp>
      <p:sp>
        <p:nvSpPr>
          <p:cNvPr id="60" name="Text 51"/>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Reference architecture A: SAS Viya, the first working version</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What was built and proven first: agentic retrieval over guidelines, structured data in CAS, tools behind an MCP server.</a:t>
            </a:r>
            <a:endParaRPr lang="en-US" sz="1300" dirty="0"/>
          </a:p>
        </p:txBody>
      </p:sp>
      <p:sp>
        <p:nvSpPr>
          <p:cNvPr id="4" name="Shape 2"/>
          <p:cNvSpPr/>
          <p:nvPr/>
        </p:nvSpPr>
        <p:spPr>
          <a:xfrm>
            <a:off x="548640" y="1783080"/>
            <a:ext cx="2834640" cy="2606040"/>
          </a:xfrm>
          <a:prstGeom prst="roundRect">
            <a:avLst>
              <a:gd name="adj" fmla="val 4211"/>
            </a:avLst>
          </a:prstGeom>
          <a:solidFill>
            <a:srgbClr val="FFFFFF">
              <a:alpha val="0"/>
            </a:srgbClr>
          </a:solidFill>
          <a:ln w="12700">
            <a:solidFill>
              <a:srgbClr val="4285F4"/>
            </a:solidFill>
            <a:prstDash val="dash"/>
          </a:ln>
        </p:spPr>
      </p:sp>
      <p:sp>
        <p:nvSpPr>
          <p:cNvPr id="5" name="Text 3"/>
          <p:cNvSpPr txBox="1"/>
          <p:nvPr/>
        </p:nvSpPr>
        <p:spPr>
          <a:xfrm>
            <a:off x="731520" y="1874520"/>
            <a:ext cx="256032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UNSTRUCTURED DATA</a:t>
            </a:r>
            <a:endParaRPr lang="en-US" sz="850" dirty="0"/>
          </a:p>
        </p:txBody>
      </p:sp>
      <p:sp>
        <p:nvSpPr>
          <p:cNvPr id="6" name="Shape 4"/>
          <p:cNvSpPr/>
          <p:nvPr/>
        </p:nvSpPr>
        <p:spPr>
          <a:xfrm>
            <a:off x="731520" y="2103120"/>
            <a:ext cx="2468880" cy="713232"/>
          </a:xfrm>
          <a:prstGeom prst="roundRect">
            <a:avLst>
              <a:gd name="adj" fmla="val 7692"/>
            </a:avLst>
          </a:prstGeom>
          <a:solidFill>
            <a:srgbClr val="FFFFFF"/>
          </a:solidFill>
          <a:ln w="9525">
            <a:solidFill>
              <a:srgbClr val="DADCE0"/>
            </a:solidFill>
            <a:prstDash val="solid"/>
          </a:ln>
        </p:spPr>
      </p:sp>
      <p:pic>
        <p:nvPicPr>
          <p:cNvPr id="7" name="Image 0" descr="preencoded.png">    </p:cNvPr>
          <p:cNvPicPr>
            <a:picLocks noChangeAspect="1"/>
          </p:cNvPicPr>
          <p:nvPr/>
        </p:nvPicPr>
        <p:blipFill>
          <a:blip r:embed="rId1"/>
          <a:stretch>
            <a:fillRect/>
          </a:stretch>
        </p:blipFill>
        <p:spPr>
          <a:xfrm>
            <a:off x="841248" y="2203704"/>
            <a:ext cx="237744" cy="237744"/>
          </a:xfrm>
          <a:prstGeom prst="rect">
            <a:avLst/>
          </a:prstGeom>
        </p:spPr>
      </p:pic>
      <p:sp>
        <p:nvSpPr>
          <p:cNvPr id="8" name="Text 5"/>
          <p:cNvSpPr txBox="1"/>
          <p:nvPr/>
        </p:nvSpPr>
        <p:spPr>
          <a:xfrm>
            <a:off x="1152144" y="217627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Clinical guidelines and policy</a:t>
            </a:r>
            <a:endParaRPr lang="en-US" sz="1050" dirty="0"/>
          </a:p>
        </p:txBody>
      </p:sp>
      <p:sp>
        <p:nvSpPr>
          <p:cNvPr id="9" name="Text 6"/>
          <p:cNvSpPr txBox="1"/>
          <p:nvPr/>
        </p:nvSpPr>
        <p:spPr>
          <a:xfrm>
            <a:off x="841248" y="2432304"/>
            <a:ext cx="2286000" cy="347472"/>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national guidelines · care protocols · policy frameworks</a:t>
            </a:r>
            <a:endParaRPr lang="en-US" sz="850" dirty="0"/>
          </a:p>
        </p:txBody>
      </p:sp>
      <p:sp>
        <p:nvSpPr>
          <p:cNvPr id="10" name="Shape 7"/>
          <p:cNvSpPr/>
          <p:nvPr/>
        </p:nvSpPr>
        <p:spPr>
          <a:xfrm>
            <a:off x="1965960" y="2816352"/>
            <a:ext cx="0" cy="182880"/>
          </a:xfrm>
          <a:prstGeom prst="line">
            <a:avLst/>
          </a:prstGeom>
          <a:noFill/>
          <a:ln w="15875">
            <a:solidFill>
              <a:srgbClr val="5F6368"/>
            </a:solidFill>
            <a:prstDash val="solid"/>
            <a:tailEnd type="triangle"/>
          </a:ln>
        </p:spPr>
      </p:sp>
      <p:sp>
        <p:nvSpPr>
          <p:cNvPr id="11" name="Shape 8"/>
          <p:cNvSpPr/>
          <p:nvPr/>
        </p:nvSpPr>
        <p:spPr>
          <a:xfrm>
            <a:off x="731520" y="3017520"/>
            <a:ext cx="2468880" cy="384048"/>
          </a:xfrm>
          <a:prstGeom prst="roundRect">
            <a:avLst>
              <a:gd name="adj" fmla="val 14286"/>
            </a:avLst>
          </a:prstGeom>
          <a:solidFill>
            <a:srgbClr val="E8F0FE"/>
          </a:solidFill>
          <a:ln w="9525">
            <a:solidFill>
              <a:srgbClr val="E8F0FE"/>
            </a:solidFill>
            <a:prstDash val="solid"/>
          </a:ln>
        </p:spPr>
      </p:sp>
      <p:sp>
        <p:nvSpPr>
          <p:cNvPr id="12" name="Text 9"/>
          <p:cNvSpPr txBox="1"/>
          <p:nvPr/>
        </p:nvSpPr>
        <p:spPr>
          <a:xfrm>
            <a:off x="841248" y="3090672"/>
            <a:ext cx="2286000" cy="237744"/>
          </a:xfrm>
          <a:prstGeom prst="rect">
            <a:avLst/>
          </a:prstGeom>
          <a:noFill/>
          <a:ln/>
        </p:spPr>
        <p:txBody>
          <a:bodyPr wrap="square" lIns="0" tIns="0" rIns="0" bIns="0" rtlCol="0" anchor="ctr"/>
          <a:lstStyle/>
          <a:p>
            <a:pPr indent="0" marL="0">
              <a:buNone/>
            </a:pPr>
            <a:r>
              <a:rPr lang="en-US" sz="1050" b="1" dirty="0">
                <a:solidFill>
                  <a:srgbClr val="202124"/>
                </a:solidFill>
                <a:latin typeface="Arial" pitchFamily="34" charset="0"/>
                <a:ea typeface="Arial" pitchFamily="34" charset="-122"/>
                <a:cs typeface="Arial" pitchFamily="34" charset="-120"/>
              </a:rPr>
              <a:t>Embedding model</a:t>
            </a:r>
            <a:endParaRPr lang="en-US" sz="1050" dirty="0"/>
          </a:p>
        </p:txBody>
      </p:sp>
      <p:sp>
        <p:nvSpPr>
          <p:cNvPr id="13" name="Shape 10"/>
          <p:cNvSpPr/>
          <p:nvPr/>
        </p:nvSpPr>
        <p:spPr>
          <a:xfrm>
            <a:off x="1965960" y="3401568"/>
            <a:ext cx="0" cy="182880"/>
          </a:xfrm>
          <a:prstGeom prst="line">
            <a:avLst/>
          </a:prstGeom>
          <a:noFill/>
          <a:ln w="15875">
            <a:solidFill>
              <a:srgbClr val="5F6368"/>
            </a:solidFill>
            <a:prstDash val="solid"/>
            <a:tailEnd type="triangle"/>
          </a:ln>
        </p:spPr>
      </p:sp>
      <p:sp>
        <p:nvSpPr>
          <p:cNvPr id="14" name="Shape 11"/>
          <p:cNvSpPr/>
          <p:nvPr/>
        </p:nvSpPr>
        <p:spPr>
          <a:xfrm>
            <a:off x="731520" y="3602736"/>
            <a:ext cx="2468880" cy="603504"/>
          </a:xfrm>
          <a:prstGeom prst="roundRect">
            <a:avLst>
              <a:gd name="adj" fmla="val 9091"/>
            </a:avLst>
          </a:prstGeom>
          <a:solidFill>
            <a:srgbClr val="1A73E8"/>
          </a:solidFill>
          <a:ln w="9525">
            <a:solidFill>
              <a:srgbClr val="1A73E8"/>
            </a:solidFill>
            <a:prstDash val="solid"/>
          </a:ln>
        </p:spPr>
      </p:sp>
      <p:sp>
        <p:nvSpPr>
          <p:cNvPr id="15" name="Text 12"/>
          <p:cNvSpPr txBox="1"/>
          <p:nvPr/>
        </p:nvSpPr>
        <p:spPr>
          <a:xfrm>
            <a:off x="841248" y="3675888"/>
            <a:ext cx="2286000" cy="274320"/>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Vector store (RAG)</a:t>
            </a:r>
            <a:endParaRPr lang="en-US" sz="1050" dirty="0"/>
          </a:p>
        </p:txBody>
      </p:sp>
      <p:sp>
        <p:nvSpPr>
          <p:cNvPr id="16" name="Text 13"/>
          <p:cNvSpPr txBox="1"/>
          <p:nvPr/>
        </p:nvSpPr>
        <p:spPr>
          <a:xfrm>
            <a:off x="841248" y="3931920"/>
            <a:ext cx="2286000" cy="237744"/>
          </a:xfrm>
          <a:prstGeom prst="rect">
            <a:avLst/>
          </a:prstGeom>
          <a:noFill/>
          <a:ln/>
        </p:spPr>
        <p:txBody>
          <a:bodyPr wrap="square" lIns="0" tIns="0" rIns="0" bIns="0" rtlCol="0" anchor="t"/>
          <a:lstStyle/>
          <a:p>
            <a:pPr indent="0" marL="0">
              <a:lnSpc>
                <a:spcPct val="105000"/>
              </a:lnSpc>
              <a:buNone/>
            </a:pPr>
            <a:r>
              <a:rPr lang="en-US" sz="850" dirty="0">
                <a:solidFill>
                  <a:srgbClr val="FFFFFF"/>
                </a:solidFill>
                <a:latin typeface="Arial" pitchFamily="34" charset="0"/>
                <a:ea typeface="Arial" pitchFamily="34" charset="-122"/>
                <a:cs typeface="Arial" pitchFamily="34" charset="-120"/>
              </a:rPr>
              <a:t>agentic retrieval at question time</a:t>
            </a:r>
            <a:endParaRPr lang="en-US" sz="850" dirty="0"/>
          </a:p>
        </p:txBody>
      </p:sp>
      <p:sp>
        <p:nvSpPr>
          <p:cNvPr id="17" name="Shape 14"/>
          <p:cNvSpPr/>
          <p:nvPr/>
        </p:nvSpPr>
        <p:spPr>
          <a:xfrm>
            <a:off x="548640" y="4572000"/>
            <a:ext cx="2834640" cy="1325880"/>
          </a:xfrm>
          <a:prstGeom prst="roundRect">
            <a:avLst>
              <a:gd name="adj" fmla="val 8276"/>
            </a:avLst>
          </a:prstGeom>
          <a:solidFill>
            <a:srgbClr val="FFFFFF">
              <a:alpha val="0"/>
            </a:srgbClr>
          </a:solidFill>
          <a:ln w="12700">
            <a:solidFill>
              <a:srgbClr val="4285F4"/>
            </a:solidFill>
            <a:prstDash val="dash"/>
          </a:ln>
        </p:spPr>
      </p:sp>
      <p:sp>
        <p:nvSpPr>
          <p:cNvPr id="18" name="Text 15"/>
          <p:cNvSpPr txBox="1"/>
          <p:nvPr/>
        </p:nvSpPr>
        <p:spPr>
          <a:xfrm>
            <a:off x="731520" y="4663440"/>
            <a:ext cx="256032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STRUCTURED DATA</a:t>
            </a:r>
            <a:endParaRPr lang="en-US" sz="850" dirty="0"/>
          </a:p>
        </p:txBody>
      </p:sp>
      <p:sp>
        <p:nvSpPr>
          <p:cNvPr id="19" name="Shape 16"/>
          <p:cNvSpPr/>
          <p:nvPr/>
        </p:nvSpPr>
        <p:spPr>
          <a:xfrm>
            <a:off x="731520" y="4892040"/>
            <a:ext cx="2468880" cy="868680"/>
          </a:xfrm>
          <a:prstGeom prst="roundRect">
            <a:avLst>
              <a:gd name="adj" fmla="val 6316"/>
            </a:avLst>
          </a:prstGeom>
          <a:solidFill>
            <a:srgbClr val="FFFFFF"/>
          </a:solidFill>
          <a:ln w="9525">
            <a:solidFill>
              <a:srgbClr val="DADCE0"/>
            </a:solidFill>
            <a:prstDash val="solid"/>
          </a:ln>
        </p:spPr>
      </p:sp>
      <p:pic>
        <p:nvPicPr>
          <p:cNvPr id="20" name="Image 1" descr="preencoded.png">    </p:cNvPr>
          <p:cNvPicPr>
            <a:picLocks noChangeAspect="1"/>
          </p:cNvPicPr>
          <p:nvPr/>
        </p:nvPicPr>
        <p:blipFill>
          <a:blip r:embed="rId2"/>
          <a:stretch>
            <a:fillRect/>
          </a:stretch>
        </p:blipFill>
        <p:spPr>
          <a:xfrm>
            <a:off x="841248" y="4992624"/>
            <a:ext cx="237744" cy="237744"/>
          </a:xfrm>
          <a:prstGeom prst="rect">
            <a:avLst/>
          </a:prstGeom>
        </p:spPr>
      </p:pic>
      <p:sp>
        <p:nvSpPr>
          <p:cNvPr id="21" name="Text 17"/>
          <p:cNvSpPr txBox="1"/>
          <p:nvPr/>
        </p:nvSpPr>
        <p:spPr>
          <a:xfrm>
            <a:off x="1152144" y="496519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National HIE</a:t>
            </a:r>
            <a:endParaRPr lang="en-US" sz="1050" dirty="0"/>
          </a:p>
        </p:txBody>
      </p:sp>
      <p:sp>
        <p:nvSpPr>
          <p:cNvPr id="22" name="Text 18"/>
          <p:cNvSpPr txBox="1"/>
          <p:nvPr/>
        </p:nvSpPr>
        <p:spPr>
          <a:xfrm>
            <a:off x="841248" y="5221224"/>
            <a:ext cx="2286000" cy="50292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patients · encounters · diagnoses · facilities (tabular)</a:t>
            </a:r>
            <a:endParaRPr lang="en-US" sz="850" dirty="0"/>
          </a:p>
        </p:txBody>
      </p:sp>
      <p:sp>
        <p:nvSpPr>
          <p:cNvPr id="23" name="Shape 19"/>
          <p:cNvSpPr/>
          <p:nvPr/>
        </p:nvSpPr>
        <p:spPr>
          <a:xfrm>
            <a:off x="3931920" y="4892040"/>
            <a:ext cx="2468880" cy="868680"/>
          </a:xfrm>
          <a:prstGeom prst="roundRect">
            <a:avLst>
              <a:gd name="adj" fmla="val 6316"/>
            </a:avLst>
          </a:prstGeom>
          <a:solidFill>
            <a:srgbClr val="F8F9FA"/>
          </a:solidFill>
          <a:ln w="9525">
            <a:solidFill>
              <a:srgbClr val="F8F9FA"/>
            </a:solidFill>
            <a:prstDash val="solid"/>
          </a:ln>
        </p:spPr>
      </p:sp>
      <p:pic>
        <p:nvPicPr>
          <p:cNvPr id="24" name="Image 2" descr="preencoded.png">    </p:cNvPr>
          <p:cNvPicPr>
            <a:picLocks noChangeAspect="1"/>
          </p:cNvPicPr>
          <p:nvPr/>
        </p:nvPicPr>
        <p:blipFill>
          <a:blip r:embed="rId3"/>
          <a:stretch>
            <a:fillRect/>
          </a:stretch>
        </p:blipFill>
        <p:spPr>
          <a:xfrm>
            <a:off x="4041648" y="4992624"/>
            <a:ext cx="237744" cy="237744"/>
          </a:xfrm>
          <a:prstGeom prst="rect">
            <a:avLst/>
          </a:prstGeom>
        </p:spPr>
      </p:pic>
      <p:sp>
        <p:nvSpPr>
          <p:cNvPr id="25" name="Text 20"/>
          <p:cNvSpPr txBox="1"/>
          <p:nvPr/>
        </p:nvSpPr>
        <p:spPr>
          <a:xfrm>
            <a:off x="4352544" y="496519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CAS table (SAS Viya)</a:t>
            </a:r>
            <a:endParaRPr lang="en-US" sz="1050" dirty="0"/>
          </a:p>
        </p:txBody>
      </p:sp>
      <p:sp>
        <p:nvSpPr>
          <p:cNvPr id="26" name="Text 21"/>
          <p:cNvSpPr txBox="1"/>
          <p:nvPr/>
        </p:nvSpPr>
        <p:spPr>
          <a:xfrm>
            <a:off x="4041648" y="5221224"/>
            <a:ext cx="2286000" cy="50292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in-memory analytics tables · read by the SQL tool</a:t>
            </a:r>
            <a:endParaRPr lang="en-US" sz="850" dirty="0"/>
          </a:p>
        </p:txBody>
      </p:sp>
      <p:sp>
        <p:nvSpPr>
          <p:cNvPr id="27" name="Shape 22"/>
          <p:cNvSpPr/>
          <p:nvPr/>
        </p:nvSpPr>
        <p:spPr>
          <a:xfrm>
            <a:off x="3200400" y="5321808"/>
            <a:ext cx="731520" cy="0"/>
          </a:xfrm>
          <a:prstGeom prst="line">
            <a:avLst/>
          </a:prstGeom>
          <a:noFill/>
          <a:ln w="15875">
            <a:solidFill>
              <a:srgbClr val="5F6368"/>
            </a:solidFill>
            <a:prstDash val="dash"/>
            <a:tailEnd type="triangle"/>
          </a:ln>
        </p:spPr>
      </p:sp>
      <p:sp>
        <p:nvSpPr>
          <p:cNvPr id="28" name="Shape 23"/>
          <p:cNvSpPr/>
          <p:nvPr/>
        </p:nvSpPr>
        <p:spPr>
          <a:xfrm>
            <a:off x="3931920" y="1783080"/>
            <a:ext cx="2743200" cy="2560320"/>
          </a:xfrm>
          <a:prstGeom prst="roundRect">
            <a:avLst>
              <a:gd name="adj" fmla="val 2857"/>
            </a:avLst>
          </a:prstGeom>
          <a:solidFill>
            <a:srgbClr val="4285F4"/>
          </a:solidFill>
          <a:ln w="12700">
            <a:solidFill>
              <a:srgbClr val="4285F4"/>
            </a:solidFill>
            <a:prstDash val="solid"/>
          </a:ln>
        </p:spPr>
      </p:sp>
      <p:sp>
        <p:nvSpPr>
          <p:cNvPr id="29" name="Text 24"/>
          <p:cNvSpPr txBox="1"/>
          <p:nvPr/>
        </p:nvSpPr>
        <p:spPr>
          <a:xfrm>
            <a:off x="4114800" y="1920240"/>
            <a:ext cx="246888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Health Analytics Agent</a:t>
            </a:r>
            <a:endParaRPr lang="en-US" sz="1300" dirty="0"/>
          </a:p>
        </p:txBody>
      </p:sp>
      <p:sp>
        <p:nvSpPr>
          <p:cNvPr id="30" name="Text 25"/>
          <p:cNvSpPr txBox="1"/>
          <p:nvPr/>
        </p:nvSpPr>
        <p:spPr>
          <a:xfrm>
            <a:off x="4114800" y="2286000"/>
            <a:ext cx="2468880" cy="822960"/>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Arial" pitchFamily="34" charset="0"/>
                <a:ea typeface="Arial" pitchFamily="34" charset="-122"/>
                <a:cs typeface="Arial" pitchFamily="34" charset="-120"/>
              </a:rPr>
              <a:t>Patient-level queries, population insights, cost forecasting, policy simulation, with traceable, cited reasoning</a:t>
            </a:r>
            <a:endParaRPr lang="en-US" sz="950" dirty="0"/>
          </a:p>
        </p:txBody>
      </p:sp>
      <p:sp>
        <p:nvSpPr>
          <p:cNvPr id="31" name="Shape 26"/>
          <p:cNvSpPr/>
          <p:nvPr/>
        </p:nvSpPr>
        <p:spPr>
          <a:xfrm>
            <a:off x="4114800" y="3200400"/>
            <a:ext cx="2377440" cy="960120"/>
          </a:xfrm>
          <a:prstGeom prst="roundRect">
            <a:avLst>
              <a:gd name="adj" fmla="val 7619"/>
            </a:avLst>
          </a:prstGeom>
          <a:solidFill>
            <a:srgbClr val="FFFFFF"/>
          </a:solidFill>
          <a:ln w="12700">
            <a:solidFill>
              <a:srgbClr val="FFFFFF"/>
            </a:solidFill>
            <a:prstDash val="solid"/>
          </a:ln>
        </p:spPr>
      </p:sp>
      <p:sp>
        <p:nvSpPr>
          <p:cNvPr id="32" name="Text 27"/>
          <p:cNvSpPr txBox="1"/>
          <p:nvPr/>
        </p:nvSpPr>
        <p:spPr>
          <a:xfrm>
            <a:off x="4206240" y="3273552"/>
            <a:ext cx="2194560" cy="8229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Orchestrator</a:t>
            </a:r>
            <a:endParaRPr lang="en-US" sz="1000" dirty="0"/>
          </a:p>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Guideline grounding</a:t>
            </a:r>
            <a:endParaRPr lang="en-US" sz="1000" dirty="0"/>
          </a:p>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Audit log</a:t>
            </a:r>
            <a:endParaRPr lang="en-US" sz="1000" dirty="0"/>
          </a:p>
        </p:txBody>
      </p:sp>
      <p:sp>
        <p:nvSpPr>
          <p:cNvPr id="33" name="Shape 28"/>
          <p:cNvSpPr/>
          <p:nvPr/>
        </p:nvSpPr>
        <p:spPr>
          <a:xfrm>
            <a:off x="3383280" y="3017520"/>
            <a:ext cx="548640" cy="0"/>
          </a:xfrm>
          <a:prstGeom prst="line">
            <a:avLst/>
          </a:prstGeom>
          <a:noFill/>
          <a:ln w="15875">
            <a:solidFill>
              <a:srgbClr val="1A73E8"/>
            </a:solidFill>
            <a:prstDash val="solid"/>
            <a:tailEnd type="triangle"/>
          </a:ln>
        </p:spPr>
      </p:sp>
      <p:sp>
        <p:nvSpPr>
          <p:cNvPr id="34" name="Shape 29"/>
          <p:cNvSpPr/>
          <p:nvPr/>
        </p:nvSpPr>
        <p:spPr>
          <a:xfrm>
            <a:off x="7086600" y="2468880"/>
            <a:ext cx="1417320" cy="1188720"/>
          </a:xfrm>
          <a:prstGeom prst="roundRect">
            <a:avLst>
              <a:gd name="adj" fmla="val 4615"/>
            </a:avLst>
          </a:prstGeom>
          <a:solidFill>
            <a:srgbClr val="E8F0FE"/>
          </a:solidFill>
          <a:ln w="9525">
            <a:solidFill>
              <a:srgbClr val="E8F0FE"/>
            </a:solidFill>
            <a:prstDash val="solid"/>
          </a:ln>
        </p:spPr>
      </p:sp>
      <p:pic>
        <p:nvPicPr>
          <p:cNvPr id="35" name="Image 3" descr="preencoded.png">    </p:cNvPr>
          <p:cNvPicPr>
            <a:picLocks noChangeAspect="1"/>
          </p:cNvPicPr>
          <p:nvPr/>
        </p:nvPicPr>
        <p:blipFill>
          <a:blip r:embed="rId4"/>
          <a:stretch>
            <a:fillRect/>
          </a:stretch>
        </p:blipFill>
        <p:spPr>
          <a:xfrm>
            <a:off x="7196328" y="2569464"/>
            <a:ext cx="237744" cy="237744"/>
          </a:xfrm>
          <a:prstGeom prst="rect">
            <a:avLst/>
          </a:prstGeom>
        </p:spPr>
      </p:pic>
      <p:sp>
        <p:nvSpPr>
          <p:cNvPr id="36" name="Text 30"/>
          <p:cNvSpPr txBox="1"/>
          <p:nvPr/>
        </p:nvSpPr>
        <p:spPr>
          <a:xfrm>
            <a:off x="7507224" y="2542032"/>
            <a:ext cx="923544" cy="274320"/>
          </a:xfrm>
          <a:prstGeom prst="rect">
            <a:avLst/>
          </a:prstGeom>
          <a:noFill/>
          <a:ln/>
        </p:spPr>
        <p:txBody>
          <a:bodyPr wrap="square" lIns="0" tIns="0" rIns="0" bIns="0" rtlCol="0" anchor="t"/>
          <a:lstStyle/>
          <a:p>
            <a:pPr indent="0" marL="0">
              <a:buNone/>
            </a:pPr>
            <a:r>
              <a:rPr lang="en-US" sz="1050" b="1" dirty="0">
                <a:solidFill>
                  <a:srgbClr val="1A73E8"/>
                </a:solidFill>
                <a:latin typeface="Arial" pitchFamily="34" charset="0"/>
                <a:ea typeface="Arial" pitchFamily="34" charset="-122"/>
                <a:cs typeface="Arial" pitchFamily="34" charset="-120"/>
              </a:rPr>
              <a:t>MCP server</a:t>
            </a:r>
            <a:endParaRPr lang="en-US" sz="1050" dirty="0"/>
          </a:p>
        </p:txBody>
      </p:sp>
      <p:sp>
        <p:nvSpPr>
          <p:cNvPr id="37" name="Text 31"/>
          <p:cNvSpPr txBox="1"/>
          <p:nvPr/>
        </p:nvSpPr>
        <p:spPr>
          <a:xfrm>
            <a:off x="7196328" y="2798064"/>
            <a:ext cx="1234440" cy="82296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tool gateway</a:t>
            </a:r>
            <a:endParaRPr lang="en-US" sz="850" dirty="0"/>
          </a:p>
        </p:txBody>
      </p:sp>
      <p:sp>
        <p:nvSpPr>
          <p:cNvPr id="38" name="Shape 32"/>
          <p:cNvSpPr/>
          <p:nvPr/>
        </p:nvSpPr>
        <p:spPr>
          <a:xfrm>
            <a:off x="6675120" y="3063240"/>
            <a:ext cx="411480" cy="0"/>
          </a:xfrm>
          <a:prstGeom prst="line">
            <a:avLst/>
          </a:prstGeom>
          <a:noFill/>
          <a:ln w="15875">
            <a:solidFill>
              <a:srgbClr val="1A73E8"/>
            </a:solidFill>
            <a:prstDash val="solid"/>
            <a:tailEnd type="triangle"/>
          </a:ln>
        </p:spPr>
      </p:sp>
      <p:sp>
        <p:nvSpPr>
          <p:cNvPr id="39" name="Text 33"/>
          <p:cNvSpPr txBox="1"/>
          <p:nvPr/>
        </p:nvSpPr>
        <p:spPr>
          <a:xfrm>
            <a:off x="8915400" y="1810512"/>
            <a:ext cx="27432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TOOLS</a:t>
            </a:r>
            <a:endParaRPr lang="en-US" sz="850" dirty="0"/>
          </a:p>
        </p:txBody>
      </p:sp>
      <p:sp>
        <p:nvSpPr>
          <p:cNvPr id="40" name="Shape 34"/>
          <p:cNvSpPr/>
          <p:nvPr/>
        </p:nvSpPr>
        <p:spPr>
          <a:xfrm>
            <a:off x="8915400" y="2057400"/>
            <a:ext cx="2697480" cy="548640"/>
          </a:xfrm>
          <a:prstGeom prst="roundRect">
            <a:avLst>
              <a:gd name="adj" fmla="val 10000"/>
            </a:avLst>
          </a:prstGeom>
          <a:solidFill>
            <a:srgbClr val="F1F3F4"/>
          </a:solidFill>
          <a:ln w="9525">
            <a:solidFill>
              <a:srgbClr val="F1F3F4"/>
            </a:solidFill>
            <a:prstDash val="solid"/>
          </a:ln>
        </p:spPr>
      </p:sp>
      <p:sp>
        <p:nvSpPr>
          <p:cNvPr id="41" name="Text 35"/>
          <p:cNvSpPr txBox="1"/>
          <p:nvPr/>
        </p:nvSpPr>
        <p:spPr>
          <a:xfrm>
            <a:off x="9025128" y="213055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Run and build ML model</a:t>
            </a:r>
            <a:endParaRPr lang="en-US" sz="1000" dirty="0"/>
          </a:p>
        </p:txBody>
      </p:sp>
      <p:sp>
        <p:nvSpPr>
          <p:cNvPr id="42" name="Text 36"/>
          <p:cNvSpPr txBox="1"/>
          <p:nvPr/>
        </p:nvSpPr>
        <p:spPr>
          <a:xfrm>
            <a:off x="9025128" y="238658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forecasting · simulation</a:t>
            </a:r>
            <a:endParaRPr lang="en-US" sz="800" dirty="0"/>
          </a:p>
        </p:txBody>
      </p:sp>
      <p:sp>
        <p:nvSpPr>
          <p:cNvPr id="43" name="Shape 37"/>
          <p:cNvSpPr/>
          <p:nvPr/>
        </p:nvSpPr>
        <p:spPr>
          <a:xfrm flipV="1">
            <a:off x="8503920" y="2331720"/>
            <a:ext cx="411480" cy="731520"/>
          </a:xfrm>
          <a:prstGeom prst="line">
            <a:avLst/>
          </a:prstGeom>
          <a:noFill/>
          <a:ln w="15875">
            <a:solidFill>
              <a:srgbClr val="1A73E8"/>
            </a:solidFill>
            <a:prstDash val="solid"/>
            <a:tailEnd type="triangle"/>
          </a:ln>
        </p:spPr>
      </p:sp>
      <p:sp>
        <p:nvSpPr>
          <p:cNvPr id="44" name="Shape 38"/>
          <p:cNvSpPr/>
          <p:nvPr/>
        </p:nvSpPr>
        <p:spPr>
          <a:xfrm>
            <a:off x="8915400" y="2697480"/>
            <a:ext cx="2697480" cy="548640"/>
          </a:xfrm>
          <a:prstGeom prst="roundRect">
            <a:avLst>
              <a:gd name="adj" fmla="val 10000"/>
            </a:avLst>
          </a:prstGeom>
          <a:solidFill>
            <a:srgbClr val="E8F0FE"/>
          </a:solidFill>
          <a:ln w="9525">
            <a:solidFill>
              <a:srgbClr val="E8F0FE"/>
            </a:solidFill>
            <a:prstDash val="solid"/>
          </a:ln>
        </p:spPr>
      </p:sp>
      <p:sp>
        <p:nvSpPr>
          <p:cNvPr id="45" name="Text 39"/>
          <p:cNvSpPr txBox="1"/>
          <p:nvPr/>
        </p:nvSpPr>
        <p:spPr>
          <a:xfrm>
            <a:off x="9025128" y="277063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Run decision flow</a:t>
            </a:r>
            <a:endParaRPr lang="en-US" sz="1000" dirty="0"/>
          </a:p>
        </p:txBody>
      </p:sp>
      <p:sp>
        <p:nvSpPr>
          <p:cNvPr id="46" name="Text 40"/>
          <p:cNvSpPr txBox="1"/>
          <p:nvPr/>
        </p:nvSpPr>
        <p:spPr>
          <a:xfrm>
            <a:off x="9025128" y="302666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SAS Intelligent Decisioning</a:t>
            </a:r>
            <a:endParaRPr lang="en-US" sz="800" dirty="0"/>
          </a:p>
        </p:txBody>
      </p:sp>
      <p:sp>
        <p:nvSpPr>
          <p:cNvPr id="47" name="Shape 41"/>
          <p:cNvSpPr/>
          <p:nvPr/>
        </p:nvSpPr>
        <p:spPr>
          <a:xfrm flipV="1">
            <a:off x="8503920" y="2971800"/>
            <a:ext cx="411480" cy="91440"/>
          </a:xfrm>
          <a:prstGeom prst="line">
            <a:avLst/>
          </a:prstGeom>
          <a:noFill/>
          <a:ln w="15875">
            <a:solidFill>
              <a:srgbClr val="1A73E8"/>
            </a:solidFill>
            <a:prstDash val="solid"/>
            <a:tailEnd type="triangle"/>
          </a:ln>
        </p:spPr>
      </p:sp>
      <p:sp>
        <p:nvSpPr>
          <p:cNvPr id="48" name="Shape 42"/>
          <p:cNvSpPr/>
          <p:nvPr/>
        </p:nvSpPr>
        <p:spPr>
          <a:xfrm>
            <a:off x="8915400" y="3337560"/>
            <a:ext cx="2697480" cy="548640"/>
          </a:xfrm>
          <a:prstGeom prst="roundRect">
            <a:avLst>
              <a:gd name="adj" fmla="val 10000"/>
            </a:avLst>
          </a:prstGeom>
          <a:solidFill>
            <a:srgbClr val="E8F0FE"/>
          </a:solidFill>
          <a:ln w="9525">
            <a:solidFill>
              <a:srgbClr val="E8F0FE"/>
            </a:solidFill>
            <a:prstDash val="solid"/>
          </a:ln>
        </p:spPr>
      </p:sp>
      <p:sp>
        <p:nvSpPr>
          <p:cNvPr id="49" name="Text 43"/>
          <p:cNvSpPr txBox="1"/>
          <p:nvPr/>
        </p:nvSpPr>
        <p:spPr>
          <a:xfrm>
            <a:off x="9025128" y="341071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Generate charts</a:t>
            </a:r>
            <a:endParaRPr lang="en-US" sz="1000" dirty="0"/>
          </a:p>
        </p:txBody>
      </p:sp>
      <p:sp>
        <p:nvSpPr>
          <p:cNvPr id="50" name="Text 44"/>
          <p:cNvSpPr txBox="1"/>
          <p:nvPr/>
        </p:nvSpPr>
        <p:spPr>
          <a:xfrm>
            <a:off x="9025128" y="366674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for the answer</a:t>
            </a:r>
            <a:endParaRPr lang="en-US" sz="800" dirty="0"/>
          </a:p>
        </p:txBody>
      </p:sp>
      <p:sp>
        <p:nvSpPr>
          <p:cNvPr id="51" name="Shape 45"/>
          <p:cNvSpPr/>
          <p:nvPr/>
        </p:nvSpPr>
        <p:spPr>
          <a:xfrm>
            <a:off x="8503920" y="3063240"/>
            <a:ext cx="411480" cy="548640"/>
          </a:xfrm>
          <a:prstGeom prst="line">
            <a:avLst/>
          </a:prstGeom>
          <a:noFill/>
          <a:ln w="15875">
            <a:solidFill>
              <a:srgbClr val="1A73E8"/>
            </a:solidFill>
            <a:prstDash val="solid"/>
            <a:tailEnd type="triangle"/>
          </a:ln>
        </p:spPr>
      </p:sp>
      <p:sp>
        <p:nvSpPr>
          <p:cNvPr id="52" name="Shape 46"/>
          <p:cNvSpPr/>
          <p:nvPr/>
        </p:nvSpPr>
        <p:spPr>
          <a:xfrm>
            <a:off x="8915400" y="3977640"/>
            <a:ext cx="2697480" cy="548640"/>
          </a:xfrm>
          <a:prstGeom prst="roundRect">
            <a:avLst>
              <a:gd name="adj" fmla="val 10000"/>
            </a:avLst>
          </a:prstGeom>
          <a:solidFill>
            <a:srgbClr val="1A73E8"/>
          </a:solidFill>
          <a:ln w="9525">
            <a:solidFill>
              <a:srgbClr val="1A73E8"/>
            </a:solidFill>
            <a:prstDash val="solid"/>
          </a:ln>
        </p:spPr>
      </p:sp>
      <p:sp>
        <p:nvSpPr>
          <p:cNvPr id="53" name="Text 47"/>
          <p:cNvSpPr txBox="1"/>
          <p:nvPr/>
        </p:nvSpPr>
        <p:spPr>
          <a:xfrm>
            <a:off x="9025128" y="4050792"/>
            <a:ext cx="2514600" cy="27432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Query data (SQL)</a:t>
            </a:r>
            <a:endParaRPr lang="en-US" sz="1000" dirty="0"/>
          </a:p>
        </p:txBody>
      </p:sp>
      <p:sp>
        <p:nvSpPr>
          <p:cNvPr id="54" name="Text 48"/>
          <p:cNvSpPr txBox="1"/>
          <p:nvPr/>
        </p:nvSpPr>
        <p:spPr>
          <a:xfrm>
            <a:off x="9025128" y="430682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FFFFFF"/>
                </a:solidFill>
                <a:latin typeface="Arial" pitchFamily="34" charset="0"/>
                <a:ea typeface="Arial" pitchFamily="34" charset="-122"/>
                <a:cs typeface="Arial" pitchFamily="34" charset="-120"/>
              </a:rPr>
              <a:t>over the CAS tables</a:t>
            </a:r>
            <a:endParaRPr lang="en-US" sz="800" dirty="0"/>
          </a:p>
        </p:txBody>
      </p:sp>
      <p:sp>
        <p:nvSpPr>
          <p:cNvPr id="55" name="Shape 49"/>
          <p:cNvSpPr/>
          <p:nvPr/>
        </p:nvSpPr>
        <p:spPr>
          <a:xfrm>
            <a:off x="8503920" y="3063240"/>
            <a:ext cx="411480" cy="1188720"/>
          </a:xfrm>
          <a:prstGeom prst="line">
            <a:avLst/>
          </a:prstGeom>
          <a:noFill/>
          <a:ln w="15875">
            <a:solidFill>
              <a:srgbClr val="1A73E8"/>
            </a:solidFill>
            <a:prstDash val="solid"/>
            <a:tailEnd type="triangle"/>
          </a:ln>
        </p:spPr>
      </p:sp>
      <p:sp>
        <p:nvSpPr>
          <p:cNvPr id="56" name="Shape 50"/>
          <p:cNvSpPr/>
          <p:nvPr/>
        </p:nvSpPr>
        <p:spPr>
          <a:xfrm>
            <a:off x="7086600" y="4754880"/>
            <a:ext cx="4526280" cy="1143000"/>
          </a:xfrm>
          <a:prstGeom prst="roundRect">
            <a:avLst>
              <a:gd name="adj" fmla="val 6400"/>
            </a:avLst>
          </a:prstGeom>
          <a:solidFill>
            <a:srgbClr val="F8F9FA"/>
          </a:solidFill>
          <a:ln w="12700">
            <a:solidFill>
              <a:srgbClr val="F8F9FA"/>
            </a:solidFill>
            <a:prstDash val="solid"/>
          </a:ln>
        </p:spPr>
      </p:sp>
      <p:sp>
        <p:nvSpPr>
          <p:cNvPr id="57" name="Text 51"/>
          <p:cNvSpPr txBox="1"/>
          <p:nvPr/>
        </p:nvSpPr>
        <p:spPr>
          <a:xfrm>
            <a:off x="7269480" y="4828032"/>
            <a:ext cx="4114800" cy="274320"/>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What it delivered</a:t>
            </a:r>
            <a:endParaRPr lang="en-US" sz="1150" dirty="0"/>
          </a:p>
        </p:txBody>
      </p:sp>
      <p:sp>
        <p:nvSpPr>
          <p:cNvPr id="58" name="Text 52"/>
          <p:cNvSpPr txBox="1"/>
          <p:nvPr/>
        </p:nvSpPr>
        <p:spPr>
          <a:xfrm>
            <a:off x="7269480" y="5102352"/>
            <a:ext cx="4206240" cy="77724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Natural-language questions answered with governed analytics, cohorts and charts</a:t>
            </a:r>
            <a:endParaRPr lang="en-US" sz="950" dirty="0"/>
          </a:p>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ML scoring, forecasting and policy simulation on demand</a:t>
            </a:r>
            <a:endParaRPr lang="en-US" sz="950" dirty="0"/>
          </a:p>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Traceable reasoning: every answer carries its tool calls and sources</a:t>
            </a:r>
            <a:endParaRPr lang="en-US" sz="950" dirty="0"/>
          </a:p>
        </p:txBody>
      </p:sp>
      <p:sp>
        <p:nvSpPr>
          <p:cNvPr id="59" name="Text 53"/>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Reference: agentic AI MVP on SAS Viya at a federal health entity in the GCC, 2025</a:t>
            </a:r>
            <a:endParaRPr lang="en-US" sz="850" dirty="0"/>
          </a:p>
        </p:txBody>
      </p:sp>
      <p:sp>
        <p:nvSpPr>
          <p:cNvPr id="60" name="Text 54"/>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Reference architecture B: the cloud-native target, in country</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The same pattern on managed services: a data ingestion subsystem and a serving subsystem, every component in a sovereign region.</a:t>
            </a:r>
            <a:endParaRPr lang="en-US" sz="1300" dirty="0"/>
          </a:p>
        </p:txBody>
      </p:sp>
      <p:sp>
        <p:nvSpPr>
          <p:cNvPr id="4" name="Shape 2"/>
          <p:cNvSpPr/>
          <p:nvPr/>
        </p:nvSpPr>
        <p:spPr>
          <a:xfrm>
            <a:off x="548640" y="1783080"/>
            <a:ext cx="5440680" cy="3977640"/>
          </a:xfrm>
          <a:prstGeom prst="roundRect">
            <a:avLst>
              <a:gd name="adj" fmla="val 2759"/>
            </a:avLst>
          </a:prstGeom>
          <a:solidFill>
            <a:srgbClr val="FFFFFF">
              <a:alpha val="0"/>
            </a:srgbClr>
          </a:solidFill>
          <a:ln w="12700">
            <a:solidFill>
              <a:srgbClr val="4285F4"/>
            </a:solidFill>
            <a:prstDash val="dash"/>
          </a:ln>
        </p:spPr>
      </p:sp>
      <p:sp>
        <p:nvSpPr>
          <p:cNvPr id="5" name="Text 3"/>
          <p:cNvSpPr txBox="1"/>
          <p:nvPr/>
        </p:nvSpPr>
        <p:spPr>
          <a:xfrm>
            <a:off x="731520" y="1874520"/>
            <a:ext cx="45720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DATA INGESTION SUBSYSTEM</a:t>
            </a:r>
            <a:endParaRPr lang="en-US" sz="850" dirty="0"/>
          </a:p>
        </p:txBody>
      </p:sp>
      <p:sp>
        <p:nvSpPr>
          <p:cNvPr id="6" name="Shape 4"/>
          <p:cNvSpPr/>
          <p:nvPr/>
        </p:nvSpPr>
        <p:spPr>
          <a:xfrm>
            <a:off x="731520" y="2148840"/>
            <a:ext cx="1783080" cy="512064"/>
          </a:xfrm>
          <a:prstGeom prst="roundRect">
            <a:avLst>
              <a:gd name="adj" fmla="val 10714"/>
            </a:avLst>
          </a:prstGeom>
          <a:solidFill>
            <a:srgbClr val="FFFFFF"/>
          </a:solidFill>
          <a:ln w="9525">
            <a:solidFill>
              <a:srgbClr val="DADCE0"/>
            </a:solidFill>
            <a:prstDash val="solid"/>
          </a:ln>
        </p:spPr>
      </p:sp>
      <p:pic>
        <p:nvPicPr>
          <p:cNvPr id="7" name="Image 0" descr="preencoded.png">    </p:cNvPr>
          <p:cNvPicPr>
            <a:picLocks noChangeAspect="1"/>
          </p:cNvPicPr>
          <p:nvPr/>
        </p:nvPicPr>
        <p:blipFill>
          <a:blip r:embed="rId1"/>
          <a:stretch>
            <a:fillRect/>
          </a:stretch>
        </p:blipFill>
        <p:spPr>
          <a:xfrm>
            <a:off x="841248" y="2249424"/>
            <a:ext cx="237744" cy="237744"/>
          </a:xfrm>
          <a:prstGeom prst="rect">
            <a:avLst/>
          </a:prstGeom>
        </p:spPr>
      </p:pic>
      <p:sp>
        <p:nvSpPr>
          <p:cNvPr id="8" name="Text 5"/>
          <p:cNvSpPr txBox="1"/>
          <p:nvPr/>
        </p:nvSpPr>
        <p:spPr>
          <a:xfrm>
            <a:off x="1152144" y="2221992"/>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National HIE (FHIR R4)</a:t>
            </a:r>
            <a:endParaRPr lang="en-US" sz="850" dirty="0"/>
          </a:p>
        </p:txBody>
      </p:sp>
      <p:sp>
        <p:nvSpPr>
          <p:cNvPr id="9" name="Shape 6"/>
          <p:cNvSpPr/>
          <p:nvPr/>
        </p:nvSpPr>
        <p:spPr>
          <a:xfrm>
            <a:off x="731520" y="2752344"/>
            <a:ext cx="1783080" cy="512064"/>
          </a:xfrm>
          <a:prstGeom prst="roundRect">
            <a:avLst>
              <a:gd name="adj" fmla="val 10714"/>
            </a:avLst>
          </a:prstGeom>
          <a:solidFill>
            <a:srgbClr val="FFFFFF"/>
          </a:solidFill>
          <a:ln w="9525">
            <a:solidFill>
              <a:srgbClr val="DADCE0"/>
            </a:solidFill>
            <a:prstDash val="solid"/>
          </a:ln>
        </p:spPr>
      </p:sp>
      <p:pic>
        <p:nvPicPr>
          <p:cNvPr id="10" name="Image 1" descr="preencoded.png">    </p:cNvPr>
          <p:cNvPicPr>
            <a:picLocks noChangeAspect="1"/>
          </p:cNvPicPr>
          <p:nvPr/>
        </p:nvPicPr>
        <p:blipFill>
          <a:blip r:embed="rId2"/>
          <a:stretch>
            <a:fillRect/>
          </a:stretch>
        </p:blipFill>
        <p:spPr>
          <a:xfrm>
            <a:off x="841248" y="2852928"/>
            <a:ext cx="237744" cy="237744"/>
          </a:xfrm>
          <a:prstGeom prst="rect">
            <a:avLst/>
          </a:prstGeom>
        </p:spPr>
      </p:pic>
      <p:sp>
        <p:nvSpPr>
          <p:cNvPr id="11" name="Text 7"/>
          <p:cNvSpPr txBox="1"/>
          <p:nvPr/>
        </p:nvSpPr>
        <p:spPr>
          <a:xfrm>
            <a:off x="1152144" y="2825496"/>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Hospital and primary-care EHRs (HL7v2)</a:t>
            </a:r>
            <a:endParaRPr lang="en-US" sz="850" dirty="0"/>
          </a:p>
        </p:txBody>
      </p:sp>
      <p:sp>
        <p:nvSpPr>
          <p:cNvPr id="12" name="Shape 8"/>
          <p:cNvSpPr/>
          <p:nvPr/>
        </p:nvSpPr>
        <p:spPr>
          <a:xfrm>
            <a:off x="731520" y="3355848"/>
            <a:ext cx="1783080" cy="512064"/>
          </a:xfrm>
          <a:prstGeom prst="roundRect">
            <a:avLst>
              <a:gd name="adj" fmla="val 10714"/>
            </a:avLst>
          </a:prstGeom>
          <a:solidFill>
            <a:srgbClr val="FFFFFF"/>
          </a:solidFill>
          <a:ln w="9525">
            <a:solidFill>
              <a:srgbClr val="DADCE0"/>
            </a:solidFill>
            <a:prstDash val="solid"/>
          </a:ln>
        </p:spPr>
      </p:sp>
      <p:pic>
        <p:nvPicPr>
          <p:cNvPr id="13" name="Image 2" descr="preencoded.png">    </p:cNvPr>
          <p:cNvPicPr>
            <a:picLocks noChangeAspect="1"/>
          </p:cNvPicPr>
          <p:nvPr/>
        </p:nvPicPr>
        <p:blipFill>
          <a:blip r:embed="rId3"/>
          <a:stretch>
            <a:fillRect/>
          </a:stretch>
        </p:blipFill>
        <p:spPr>
          <a:xfrm>
            <a:off x="841248" y="3456432"/>
            <a:ext cx="237744" cy="237744"/>
          </a:xfrm>
          <a:prstGeom prst="rect">
            <a:avLst/>
          </a:prstGeom>
        </p:spPr>
      </p:pic>
      <p:sp>
        <p:nvSpPr>
          <p:cNvPr id="14" name="Text 9"/>
          <p:cNvSpPr txBox="1"/>
          <p:nvPr/>
        </p:nvSpPr>
        <p:spPr>
          <a:xfrm>
            <a:off x="1152144" y="3429000"/>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Claims and pharmacy (nightly)</a:t>
            </a:r>
            <a:endParaRPr lang="en-US" sz="850" dirty="0"/>
          </a:p>
        </p:txBody>
      </p:sp>
      <p:sp>
        <p:nvSpPr>
          <p:cNvPr id="15" name="Shape 10"/>
          <p:cNvSpPr/>
          <p:nvPr/>
        </p:nvSpPr>
        <p:spPr>
          <a:xfrm>
            <a:off x="731520" y="3959352"/>
            <a:ext cx="1783080" cy="512064"/>
          </a:xfrm>
          <a:prstGeom prst="roundRect">
            <a:avLst>
              <a:gd name="adj" fmla="val 10714"/>
            </a:avLst>
          </a:prstGeom>
          <a:solidFill>
            <a:srgbClr val="FFFFFF"/>
          </a:solidFill>
          <a:ln w="9525">
            <a:solidFill>
              <a:srgbClr val="DADCE0"/>
            </a:solidFill>
            <a:prstDash val="solid"/>
          </a:ln>
        </p:spPr>
      </p:sp>
      <p:pic>
        <p:nvPicPr>
          <p:cNvPr id="16" name="Image 3" descr="preencoded.png">    </p:cNvPr>
          <p:cNvPicPr>
            <a:picLocks noChangeAspect="1"/>
          </p:cNvPicPr>
          <p:nvPr/>
        </p:nvPicPr>
        <p:blipFill>
          <a:blip r:embed="rId4"/>
          <a:stretch>
            <a:fillRect/>
          </a:stretch>
        </p:blipFill>
        <p:spPr>
          <a:xfrm>
            <a:off x="841248" y="4059936"/>
            <a:ext cx="237744" cy="237744"/>
          </a:xfrm>
          <a:prstGeom prst="rect">
            <a:avLst/>
          </a:prstGeom>
        </p:spPr>
      </p:pic>
      <p:sp>
        <p:nvSpPr>
          <p:cNvPr id="17" name="Text 11"/>
          <p:cNvSpPr txBox="1"/>
          <p:nvPr/>
        </p:nvSpPr>
        <p:spPr>
          <a:xfrm>
            <a:off x="1152144" y="4032504"/>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National clinical guidelines (PDF)</a:t>
            </a:r>
            <a:endParaRPr lang="en-US" sz="850" dirty="0"/>
          </a:p>
        </p:txBody>
      </p:sp>
      <p:sp>
        <p:nvSpPr>
          <p:cNvPr id="18" name="Shape 12"/>
          <p:cNvSpPr/>
          <p:nvPr/>
        </p:nvSpPr>
        <p:spPr>
          <a:xfrm>
            <a:off x="2788920" y="2148840"/>
            <a:ext cx="1463040" cy="1115568"/>
          </a:xfrm>
          <a:prstGeom prst="roundRect">
            <a:avLst>
              <a:gd name="adj" fmla="val 4918"/>
            </a:avLst>
          </a:prstGeom>
          <a:solidFill>
            <a:srgbClr val="E8F0FE"/>
          </a:solidFill>
          <a:ln w="9525">
            <a:solidFill>
              <a:srgbClr val="E8F0FE"/>
            </a:solidFill>
            <a:prstDash val="solid"/>
          </a:ln>
        </p:spPr>
      </p:sp>
      <p:sp>
        <p:nvSpPr>
          <p:cNvPr id="19" name="Text 13"/>
          <p:cNvSpPr txBox="1"/>
          <p:nvPr/>
        </p:nvSpPr>
        <p:spPr>
          <a:xfrm>
            <a:off x="2898648" y="2221992"/>
            <a:ext cx="128016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Managed FHIR store</a:t>
            </a:r>
            <a:endParaRPr lang="en-US" sz="950" dirty="0"/>
          </a:p>
        </p:txBody>
      </p:sp>
      <p:sp>
        <p:nvSpPr>
          <p:cNvPr id="20" name="Text 14"/>
          <p:cNvSpPr txBox="1"/>
          <p:nvPr/>
        </p:nvSpPr>
        <p:spPr>
          <a:xfrm>
            <a:off x="2898648" y="2478024"/>
            <a:ext cx="1280160" cy="749808"/>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consent enforcement · de-identification · an event on every new resource</a:t>
            </a:r>
            <a:endParaRPr lang="en-US" sz="750" dirty="0"/>
          </a:p>
        </p:txBody>
      </p:sp>
      <p:sp>
        <p:nvSpPr>
          <p:cNvPr id="21" name="Shape 15"/>
          <p:cNvSpPr/>
          <p:nvPr/>
        </p:nvSpPr>
        <p:spPr>
          <a:xfrm>
            <a:off x="4480560" y="2148840"/>
            <a:ext cx="1325880" cy="1115568"/>
          </a:xfrm>
          <a:prstGeom prst="roundRect">
            <a:avLst>
              <a:gd name="adj" fmla="val 4918"/>
            </a:avLst>
          </a:prstGeom>
          <a:solidFill>
            <a:srgbClr val="1A73E8"/>
          </a:solidFill>
          <a:ln w="9525">
            <a:solidFill>
              <a:srgbClr val="1A73E8"/>
            </a:solidFill>
            <a:prstDash val="solid"/>
          </a:ln>
        </p:spPr>
      </p:sp>
      <p:sp>
        <p:nvSpPr>
          <p:cNvPr id="22" name="Text 16"/>
          <p:cNvSpPr txBox="1"/>
          <p:nvPr/>
        </p:nvSpPr>
        <p:spPr>
          <a:xfrm>
            <a:off x="4590288" y="2221992"/>
            <a:ext cx="1143000" cy="27432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Warehouse</a:t>
            </a:r>
            <a:endParaRPr lang="en-US" sz="1000" dirty="0"/>
          </a:p>
        </p:txBody>
      </p:sp>
      <p:sp>
        <p:nvSpPr>
          <p:cNvPr id="23" name="Text 17"/>
          <p:cNvSpPr txBox="1"/>
          <p:nvPr/>
        </p:nvSpPr>
        <p:spPr>
          <a:xfrm>
            <a:off x="4590288" y="2478024"/>
            <a:ext cx="1143000" cy="749808"/>
          </a:xfrm>
          <a:prstGeom prst="rect">
            <a:avLst/>
          </a:prstGeom>
          <a:noFill/>
          <a:ln/>
        </p:spPr>
        <p:txBody>
          <a:bodyPr wrap="square" lIns="0" tIns="0" rIns="0" bIns="0" rtlCol="0" anchor="t"/>
          <a:lstStyle/>
          <a:p>
            <a:pPr indent="0" marL="0">
              <a:lnSpc>
                <a:spcPct val="105000"/>
              </a:lnSpc>
              <a:buNone/>
            </a:pPr>
            <a:r>
              <a:rPr lang="en-US" sz="750" dirty="0">
                <a:solidFill>
                  <a:srgbClr val="FFFFFF"/>
                </a:solidFill>
                <a:latin typeface="Arial" pitchFamily="34" charset="0"/>
                <a:ea typeface="Arial" pitchFamily="34" charset="-122"/>
                <a:cs typeface="Arial" pitchFamily="34" charset="-120"/>
              </a:rPr>
              <a:t>analytical store · streaming export · curated marts · in-warehouse ML</a:t>
            </a:r>
            <a:endParaRPr lang="en-US" sz="750" dirty="0"/>
          </a:p>
        </p:txBody>
      </p:sp>
      <p:sp>
        <p:nvSpPr>
          <p:cNvPr id="24" name="Shape 18"/>
          <p:cNvSpPr/>
          <p:nvPr/>
        </p:nvSpPr>
        <p:spPr>
          <a:xfrm>
            <a:off x="2514600" y="2404872"/>
            <a:ext cx="274320" cy="0"/>
          </a:xfrm>
          <a:prstGeom prst="line">
            <a:avLst/>
          </a:prstGeom>
          <a:noFill/>
          <a:ln w="15875">
            <a:solidFill>
              <a:srgbClr val="5F6368"/>
            </a:solidFill>
            <a:prstDash val="solid"/>
            <a:tailEnd type="triangle"/>
          </a:ln>
        </p:spPr>
      </p:sp>
      <p:sp>
        <p:nvSpPr>
          <p:cNvPr id="25" name="Shape 19"/>
          <p:cNvSpPr/>
          <p:nvPr/>
        </p:nvSpPr>
        <p:spPr>
          <a:xfrm>
            <a:off x="2514600" y="3008376"/>
            <a:ext cx="274320" cy="0"/>
          </a:xfrm>
          <a:prstGeom prst="line">
            <a:avLst/>
          </a:prstGeom>
          <a:noFill/>
          <a:ln w="15875">
            <a:solidFill>
              <a:srgbClr val="5F6368"/>
            </a:solidFill>
            <a:prstDash val="solid"/>
            <a:tailEnd type="triangle"/>
          </a:ln>
        </p:spPr>
      </p:sp>
      <p:sp>
        <p:nvSpPr>
          <p:cNvPr id="26" name="Shape 20"/>
          <p:cNvSpPr/>
          <p:nvPr/>
        </p:nvSpPr>
        <p:spPr>
          <a:xfrm>
            <a:off x="2514600" y="3611880"/>
            <a:ext cx="502920" cy="0"/>
          </a:xfrm>
          <a:prstGeom prst="line">
            <a:avLst/>
          </a:prstGeom>
          <a:noFill/>
          <a:ln w="15875">
            <a:solidFill>
              <a:srgbClr val="5F6368"/>
            </a:solidFill>
            <a:prstDash val="dash"/>
            <a:tailEnd type="triangle"/>
          </a:ln>
        </p:spPr>
      </p:sp>
      <p:sp>
        <p:nvSpPr>
          <p:cNvPr id="27" name="Shape 21"/>
          <p:cNvSpPr/>
          <p:nvPr/>
        </p:nvSpPr>
        <p:spPr>
          <a:xfrm flipV="1">
            <a:off x="3017520" y="3264408"/>
            <a:ext cx="0" cy="347472"/>
          </a:xfrm>
          <a:prstGeom prst="line">
            <a:avLst/>
          </a:prstGeom>
          <a:noFill/>
          <a:ln w="15875">
            <a:solidFill>
              <a:srgbClr val="5F6368"/>
            </a:solidFill>
            <a:prstDash val="dash"/>
            <a:tailEnd type="triangle"/>
          </a:ln>
        </p:spPr>
      </p:sp>
      <p:sp>
        <p:nvSpPr>
          <p:cNvPr id="28" name="Shape 22"/>
          <p:cNvSpPr/>
          <p:nvPr/>
        </p:nvSpPr>
        <p:spPr>
          <a:xfrm>
            <a:off x="4251960" y="2706624"/>
            <a:ext cx="228600" cy="0"/>
          </a:xfrm>
          <a:prstGeom prst="line">
            <a:avLst/>
          </a:prstGeom>
          <a:noFill/>
          <a:ln w="15875">
            <a:solidFill>
              <a:srgbClr val="5F6368"/>
            </a:solidFill>
            <a:prstDash val="solid"/>
            <a:tailEnd type="triangle"/>
          </a:ln>
        </p:spPr>
      </p:sp>
      <p:sp>
        <p:nvSpPr>
          <p:cNvPr id="29" name="Shape 23"/>
          <p:cNvSpPr/>
          <p:nvPr/>
        </p:nvSpPr>
        <p:spPr>
          <a:xfrm>
            <a:off x="2788920" y="3977640"/>
            <a:ext cx="1463040" cy="512064"/>
          </a:xfrm>
          <a:prstGeom prst="roundRect">
            <a:avLst>
              <a:gd name="adj" fmla="val 10714"/>
            </a:avLst>
          </a:prstGeom>
          <a:solidFill>
            <a:srgbClr val="FFFFFF"/>
          </a:solidFill>
          <a:ln w="9525">
            <a:solidFill>
              <a:srgbClr val="DADCE0"/>
            </a:solidFill>
            <a:prstDash val="solid"/>
          </a:ln>
        </p:spPr>
      </p:sp>
      <p:sp>
        <p:nvSpPr>
          <p:cNvPr id="30" name="Text 24"/>
          <p:cNvSpPr txBox="1"/>
          <p:nvPr/>
        </p:nvSpPr>
        <p:spPr>
          <a:xfrm>
            <a:off x="2898648" y="4050792"/>
            <a:ext cx="128016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Object storage</a:t>
            </a:r>
            <a:endParaRPr lang="en-US" sz="900" dirty="0"/>
          </a:p>
        </p:txBody>
      </p:sp>
      <p:sp>
        <p:nvSpPr>
          <p:cNvPr id="31" name="Text 25"/>
          <p:cNvSpPr txBox="1"/>
          <p:nvPr/>
        </p:nvSpPr>
        <p:spPr>
          <a:xfrm>
            <a:off x="2898648" y="4306824"/>
            <a:ext cx="128016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versioned corpus</a:t>
            </a:r>
            <a:endParaRPr lang="en-US" sz="750" dirty="0"/>
          </a:p>
        </p:txBody>
      </p:sp>
      <p:sp>
        <p:nvSpPr>
          <p:cNvPr id="32" name="Shape 26"/>
          <p:cNvSpPr/>
          <p:nvPr/>
        </p:nvSpPr>
        <p:spPr>
          <a:xfrm>
            <a:off x="4480560" y="3657600"/>
            <a:ext cx="1325880" cy="1143000"/>
          </a:xfrm>
          <a:prstGeom prst="roundRect">
            <a:avLst>
              <a:gd name="adj" fmla="val 4800"/>
            </a:avLst>
          </a:prstGeom>
          <a:solidFill>
            <a:srgbClr val="E8F0FE"/>
          </a:solidFill>
          <a:ln w="9525">
            <a:solidFill>
              <a:srgbClr val="E8F0FE"/>
            </a:solidFill>
            <a:prstDash val="solid"/>
          </a:ln>
        </p:spPr>
      </p:sp>
      <p:sp>
        <p:nvSpPr>
          <p:cNvPr id="33" name="Text 27"/>
          <p:cNvSpPr txBox="1"/>
          <p:nvPr/>
        </p:nvSpPr>
        <p:spPr>
          <a:xfrm>
            <a:off x="4590288" y="3730752"/>
            <a:ext cx="114300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Managed retrieval</a:t>
            </a:r>
            <a:endParaRPr lang="en-US" sz="950" dirty="0"/>
          </a:p>
        </p:txBody>
      </p:sp>
      <p:sp>
        <p:nvSpPr>
          <p:cNvPr id="34" name="Text 28"/>
          <p:cNvSpPr txBox="1"/>
          <p:nvPr/>
        </p:nvSpPr>
        <p:spPr>
          <a:xfrm>
            <a:off x="4590288" y="3986784"/>
            <a:ext cx="1143000" cy="7772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embeddings · vector index · page-level citations</a:t>
            </a:r>
            <a:endParaRPr lang="en-US" sz="750" dirty="0"/>
          </a:p>
        </p:txBody>
      </p:sp>
      <p:sp>
        <p:nvSpPr>
          <p:cNvPr id="35" name="Shape 29"/>
          <p:cNvSpPr/>
          <p:nvPr/>
        </p:nvSpPr>
        <p:spPr>
          <a:xfrm>
            <a:off x="2514600" y="4215384"/>
            <a:ext cx="274320" cy="0"/>
          </a:xfrm>
          <a:prstGeom prst="line">
            <a:avLst/>
          </a:prstGeom>
          <a:noFill/>
          <a:ln w="15875">
            <a:solidFill>
              <a:srgbClr val="5F6368"/>
            </a:solidFill>
            <a:prstDash val="solid"/>
            <a:tailEnd type="triangle"/>
          </a:ln>
        </p:spPr>
      </p:sp>
      <p:sp>
        <p:nvSpPr>
          <p:cNvPr id="36" name="Shape 30"/>
          <p:cNvSpPr/>
          <p:nvPr/>
        </p:nvSpPr>
        <p:spPr>
          <a:xfrm>
            <a:off x="4251960" y="4215384"/>
            <a:ext cx="228600" cy="0"/>
          </a:xfrm>
          <a:prstGeom prst="line">
            <a:avLst/>
          </a:prstGeom>
          <a:noFill/>
          <a:ln w="15875">
            <a:solidFill>
              <a:srgbClr val="5F6368"/>
            </a:solidFill>
            <a:prstDash val="solid"/>
            <a:tailEnd type="triangle"/>
          </a:ln>
        </p:spPr>
      </p:sp>
      <p:sp>
        <p:nvSpPr>
          <p:cNvPr id="37" name="Shape 31"/>
          <p:cNvSpPr/>
          <p:nvPr/>
        </p:nvSpPr>
        <p:spPr>
          <a:xfrm>
            <a:off x="731520" y="4617720"/>
            <a:ext cx="5074920" cy="896112"/>
          </a:xfrm>
          <a:prstGeom prst="roundRect">
            <a:avLst>
              <a:gd name="adj" fmla="val 6122"/>
            </a:avLst>
          </a:prstGeom>
          <a:solidFill>
            <a:srgbClr val="FEF7E0"/>
          </a:solidFill>
          <a:ln w="9525">
            <a:solidFill>
              <a:srgbClr val="FEF7E0"/>
            </a:solidFill>
            <a:prstDash val="solid"/>
          </a:ln>
        </p:spPr>
      </p:sp>
      <p:sp>
        <p:nvSpPr>
          <p:cNvPr id="38" name="Text 32"/>
          <p:cNvSpPr txBox="1"/>
          <p:nvPr/>
        </p:nvSpPr>
        <p:spPr>
          <a:xfrm>
            <a:off x="841248" y="4690872"/>
            <a:ext cx="48920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Model platform</a:t>
            </a:r>
            <a:endParaRPr lang="en-US" sz="950" dirty="0"/>
          </a:p>
        </p:txBody>
      </p:sp>
      <p:sp>
        <p:nvSpPr>
          <p:cNvPr id="39" name="Text 33"/>
          <p:cNvSpPr txBox="1"/>
          <p:nvPr/>
        </p:nvSpPr>
        <p:spPr>
          <a:xfrm>
            <a:off x="841248" y="4946904"/>
            <a:ext cx="4892040" cy="53035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Pipelines train the risk model on warehouse data, register it with its card and version, and serve it on an online endpoint for point-of-care scoring, with batch prediction for the nightly cohort; drift monitoring in region.</a:t>
            </a:r>
            <a:endParaRPr lang="en-US" sz="750" dirty="0"/>
          </a:p>
        </p:txBody>
      </p:sp>
      <p:sp>
        <p:nvSpPr>
          <p:cNvPr id="40" name="Shape 34"/>
          <p:cNvSpPr/>
          <p:nvPr/>
        </p:nvSpPr>
        <p:spPr>
          <a:xfrm>
            <a:off x="6217920" y="1783080"/>
            <a:ext cx="5394960" cy="3977640"/>
          </a:xfrm>
          <a:prstGeom prst="roundRect">
            <a:avLst>
              <a:gd name="adj" fmla="val 2759"/>
            </a:avLst>
          </a:prstGeom>
          <a:solidFill>
            <a:srgbClr val="FFFFFF">
              <a:alpha val="0"/>
            </a:srgbClr>
          </a:solidFill>
          <a:ln w="12700">
            <a:solidFill>
              <a:srgbClr val="34A853"/>
            </a:solidFill>
            <a:prstDash val="dash"/>
          </a:ln>
        </p:spPr>
      </p:sp>
      <p:sp>
        <p:nvSpPr>
          <p:cNvPr id="41" name="Text 35"/>
          <p:cNvSpPr txBox="1"/>
          <p:nvPr/>
        </p:nvSpPr>
        <p:spPr>
          <a:xfrm>
            <a:off x="6400800" y="1874520"/>
            <a:ext cx="4572000" cy="201168"/>
          </a:xfrm>
          <a:prstGeom prst="rect">
            <a:avLst/>
          </a:prstGeom>
          <a:noFill/>
          <a:ln/>
        </p:spPr>
        <p:txBody>
          <a:bodyPr wrap="square" lIns="0" tIns="0" rIns="0" bIns="0" rtlCol="0" anchor="t"/>
          <a:lstStyle/>
          <a:p>
            <a:pPr indent="0" marL="0">
              <a:buNone/>
            </a:pPr>
            <a:r>
              <a:rPr lang="en-US" sz="850" b="1" spc="150" kern="0" dirty="0">
                <a:solidFill>
                  <a:srgbClr val="1E8E3E"/>
                </a:solidFill>
                <a:latin typeface="Arial" pitchFamily="34" charset="0"/>
                <a:ea typeface="Arial" pitchFamily="34" charset="-122"/>
                <a:cs typeface="Arial" pitchFamily="34" charset="-120"/>
              </a:rPr>
              <a:t>SERVING SUBSYSTEM</a:t>
            </a:r>
            <a:endParaRPr lang="en-US" sz="850" dirty="0"/>
          </a:p>
        </p:txBody>
      </p:sp>
      <p:sp>
        <p:nvSpPr>
          <p:cNvPr id="42" name="Shape 36"/>
          <p:cNvSpPr/>
          <p:nvPr/>
        </p:nvSpPr>
        <p:spPr>
          <a:xfrm>
            <a:off x="6400800" y="2148840"/>
            <a:ext cx="1508760" cy="914400"/>
          </a:xfrm>
          <a:prstGeom prst="roundRect">
            <a:avLst>
              <a:gd name="adj" fmla="val 6000"/>
            </a:avLst>
          </a:prstGeom>
          <a:solidFill>
            <a:srgbClr val="FFFFFF"/>
          </a:solidFill>
          <a:ln w="9525">
            <a:solidFill>
              <a:srgbClr val="DADCE0"/>
            </a:solidFill>
            <a:prstDash val="solid"/>
          </a:ln>
        </p:spPr>
      </p:sp>
      <p:pic>
        <p:nvPicPr>
          <p:cNvPr id="43" name="Image 4" descr="preencoded.png">    </p:cNvPr>
          <p:cNvPicPr>
            <a:picLocks noChangeAspect="1"/>
          </p:cNvPicPr>
          <p:nvPr/>
        </p:nvPicPr>
        <p:blipFill>
          <a:blip r:embed="rId5"/>
          <a:stretch>
            <a:fillRect/>
          </a:stretch>
        </p:blipFill>
        <p:spPr>
          <a:xfrm>
            <a:off x="6510528" y="2249424"/>
            <a:ext cx="237744" cy="237744"/>
          </a:xfrm>
          <a:prstGeom prst="rect">
            <a:avLst/>
          </a:prstGeom>
        </p:spPr>
      </p:pic>
      <p:sp>
        <p:nvSpPr>
          <p:cNvPr id="44" name="Text 37"/>
          <p:cNvSpPr txBox="1"/>
          <p:nvPr/>
        </p:nvSpPr>
        <p:spPr>
          <a:xfrm>
            <a:off x="6821424" y="2221992"/>
            <a:ext cx="101498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Users</a:t>
            </a:r>
            <a:endParaRPr lang="en-US" sz="950" dirty="0"/>
          </a:p>
        </p:txBody>
      </p:sp>
      <p:sp>
        <p:nvSpPr>
          <p:cNvPr id="45" name="Text 38"/>
          <p:cNvSpPr txBox="1"/>
          <p:nvPr/>
        </p:nvSpPr>
        <p:spPr>
          <a:xfrm>
            <a:off x="6510528" y="2478024"/>
            <a:ext cx="1325880" cy="5486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clinicians · health leaders · web, tablet, voice</a:t>
            </a:r>
            <a:endParaRPr lang="en-US" sz="750" dirty="0"/>
          </a:p>
        </p:txBody>
      </p:sp>
      <p:sp>
        <p:nvSpPr>
          <p:cNvPr id="46" name="Shape 39"/>
          <p:cNvSpPr/>
          <p:nvPr/>
        </p:nvSpPr>
        <p:spPr>
          <a:xfrm>
            <a:off x="8138160" y="2148840"/>
            <a:ext cx="1554480" cy="914400"/>
          </a:xfrm>
          <a:prstGeom prst="roundRect">
            <a:avLst>
              <a:gd name="adj" fmla="val 6000"/>
            </a:avLst>
          </a:prstGeom>
          <a:solidFill>
            <a:srgbClr val="FFFFFF"/>
          </a:solidFill>
          <a:ln w="9525">
            <a:solidFill>
              <a:srgbClr val="DADCE0"/>
            </a:solidFill>
            <a:prstDash val="solid"/>
          </a:ln>
        </p:spPr>
      </p:sp>
      <p:sp>
        <p:nvSpPr>
          <p:cNvPr id="47" name="Text 40"/>
          <p:cNvSpPr txBox="1"/>
          <p:nvPr/>
        </p:nvSpPr>
        <p:spPr>
          <a:xfrm>
            <a:off x="8247888" y="2221992"/>
            <a:ext cx="137160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Nabd app (serverless)</a:t>
            </a:r>
            <a:endParaRPr lang="en-US" sz="950" dirty="0"/>
          </a:p>
        </p:txBody>
      </p:sp>
      <p:sp>
        <p:nvSpPr>
          <p:cNvPr id="48" name="Text 41"/>
          <p:cNvSpPr txBox="1"/>
          <p:nvPr/>
        </p:nvSpPr>
        <p:spPr>
          <a:xfrm>
            <a:off x="8247888" y="2478024"/>
            <a:ext cx="1371600" cy="5486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web app and API · speech-to-text and text-to-speech, Arabic and English</a:t>
            </a:r>
            <a:endParaRPr lang="en-US" sz="750" dirty="0"/>
          </a:p>
        </p:txBody>
      </p:sp>
      <p:sp>
        <p:nvSpPr>
          <p:cNvPr id="49" name="Shape 42"/>
          <p:cNvSpPr/>
          <p:nvPr/>
        </p:nvSpPr>
        <p:spPr>
          <a:xfrm>
            <a:off x="9921240" y="2148840"/>
            <a:ext cx="1508760" cy="914400"/>
          </a:xfrm>
          <a:prstGeom prst="roundRect">
            <a:avLst>
              <a:gd name="adj" fmla="val 6000"/>
            </a:avLst>
          </a:prstGeom>
          <a:solidFill>
            <a:srgbClr val="1E8E3E"/>
          </a:solidFill>
          <a:ln w="9525">
            <a:solidFill>
              <a:srgbClr val="1E8E3E"/>
            </a:solidFill>
            <a:prstDash val="solid"/>
          </a:ln>
        </p:spPr>
      </p:sp>
      <p:sp>
        <p:nvSpPr>
          <p:cNvPr id="50" name="Text 43"/>
          <p:cNvSpPr txBox="1"/>
          <p:nvPr/>
        </p:nvSpPr>
        <p:spPr>
          <a:xfrm>
            <a:off x="10030968" y="2221992"/>
            <a:ext cx="1325880" cy="27432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Agent runtime</a:t>
            </a:r>
            <a:endParaRPr lang="en-US" sz="950" dirty="0"/>
          </a:p>
        </p:txBody>
      </p:sp>
      <p:sp>
        <p:nvSpPr>
          <p:cNvPr id="51" name="Text 44"/>
          <p:cNvSpPr txBox="1"/>
          <p:nvPr/>
        </p:nvSpPr>
        <p:spPr>
          <a:xfrm>
            <a:off x="10030968" y="2478024"/>
            <a:ext cx="1325880" cy="548640"/>
          </a:xfrm>
          <a:prstGeom prst="rect">
            <a:avLst/>
          </a:prstGeom>
          <a:noFill/>
          <a:ln/>
        </p:spPr>
        <p:txBody>
          <a:bodyPr wrap="square" lIns="0" tIns="0" rIns="0" bIns="0" rtlCol="0" anchor="t"/>
          <a:lstStyle/>
          <a:p>
            <a:pPr indent="0" marL="0">
              <a:lnSpc>
                <a:spcPct val="105000"/>
              </a:lnSpc>
              <a:buNone/>
            </a:pPr>
            <a:r>
              <a:rPr lang="en-US" sz="750" dirty="0">
                <a:solidFill>
                  <a:srgbClr val="FFFFFF"/>
                </a:solidFill>
                <a:latin typeface="Arial" pitchFamily="34" charset="0"/>
                <a:ea typeface="Arial" pitchFamily="34" charset="-122"/>
                <a:cs typeface="Arial" pitchFamily="34" charset="-120"/>
              </a:rPr>
              <a:t>supervisor and specialists · language model · sessions · traces</a:t>
            </a:r>
            <a:endParaRPr lang="en-US" sz="750" dirty="0"/>
          </a:p>
        </p:txBody>
      </p:sp>
      <p:sp>
        <p:nvSpPr>
          <p:cNvPr id="52" name="Shape 45"/>
          <p:cNvSpPr/>
          <p:nvPr/>
        </p:nvSpPr>
        <p:spPr>
          <a:xfrm>
            <a:off x="7909560" y="2606040"/>
            <a:ext cx="228600" cy="0"/>
          </a:xfrm>
          <a:prstGeom prst="line">
            <a:avLst/>
          </a:prstGeom>
          <a:noFill/>
          <a:ln w="15875">
            <a:solidFill>
              <a:srgbClr val="5F6368"/>
            </a:solidFill>
            <a:prstDash val="solid"/>
            <a:tailEnd type="triangle"/>
          </a:ln>
        </p:spPr>
      </p:sp>
      <p:sp>
        <p:nvSpPr>
          <p:cNvPr id="53" name="Shape 46"/>
          <p:cNvSpPr/>
          <p:nvPr/>
        </p:nvSpPr>
        <p:spPr>
          <a:xfrm>
            <a:off x="9692640" y="2606040"/>
            <a:ext cx="228600" cy="0"/>
          </a:xfrm>
          <a:prstGeom prst="line">
            <a:avLst/>
          </a:prstGeom>
          <a:noFill/>
          <a:ln w="15875">
            <a:solidFill>
              <a:srgbClr val="5F6368"/>
            </a:solidFill>
            <a:prstDash val="solid"/>
            <a:tailEnd type="triangle"/>
          </a:ln>
        </p:spPr>
      </p:sp>
      <p:sp>
        <p:nvSpPr>
          <p:cNvPr id="54" name="Text 47"/>
          <p:cNvSpPr txBox="1"/>
          <p:nvPr/>
        </p:nvSpPr>
        <p:spPr>
          <a:xfrm>
            <a:off x="6400800" y="3246120"/>
            <a:ext cx="3657600" cy="201168"/>
          </a:xfrm>
          <a:prstGeom prst="rect">
            <a:avLst/>
          </a:prstGeom>
          <a:noFill/>
          <a:ln/>
        </p:spPr>
        <p:txBody>
          <a:bodyPr wrap="square" lIns="0" tIns="0" rIns="0" bIns="0" rtlCol="0" anchor="t"/>
          <a:lstStyle/>
          <a:p>
            <a:pPr indent="0" marL="0">
              <a:buNone/>
            </a:pPr>
            <a:r>
              <a:rPr lang="en-US" sz="850" b="1" spc="150" kern="0" dirty="0">
                <a:solidFill>
                  <a:srgbClr val="5F6368"/>
                </a:solidFill>
                <a:latin typeface="Arial" pitchFamily="34" charset="0"/>
                <a:ea typeface="Arial" pitchFamily="34" charset="-122"/>
                <a:cs typeface="Arial" pitchFamily="34" charset="-120"/>
              </a:rPr>
              <a:t>TOOLS THE AGENT CALLS</a:t>
            </a:r>
            <a:endParaRPr lang="en-US" sz="850" dirty="0"/>
          </a:p>
        </p:txBody>
      </p:sp>
      <p:sp>
        <p:nvSpPr>
          <p:cNvPr id="55" name="Shape 48"/>
          <p:cNvSpPr/>
          <p:nvPr/>
        </p:nvSpPr>
        <p:spPr>
          <a:xfrm>
            <a:off x="6400800" y="3474720"/>
            <a:ext cx="2468880" cy="512064"/>
          </a:xfrm>
          <a:prstGeom prst="roundRect">
            <a:avLst>
              <a:gd name="adj" fmla="val 10714"/>
            </a:avLst>
          </a:prstGeom>
          <a:solidFill>
            <a:srgbClr val="E6F4EA"/>
          </a:solidFill>
          <a:ln w="9525">
            <a:solidFill>
              <a:srgbClr val="E6F4EA"/>
            </a:solidFill>
            <a:prstDash val="solid"/>
          </a:ln>
        </p:spPr>
      </p:sp>
      <p:sp>
        <p:nvSpPr>
          <p:cNvPr id="56" name="Text 49"/>
          <p:cNvSpPr txBox="1"/>
          <p:nvPr/>
        </p:nvSpPr>
        <p:spPr>
          <a:xfrm>
            <a:off x="6510528" y="3547872"/>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Data tools (MCP)</a:t>
            </a:r>
            <a:endParaRPr lang="en-US" sz="900" dirty="0"/>
          </a:p>
        </p:txBody>
      </p:sp>
      <p:sp>
        <p:nvSpPr>
          <p:cNvPr id="57" name="Text 50"/>
          <p:cNvSpPr txBox="1"/>
          <p:nvPr/>
        </p:nvSpPr>
        <p:spPr>
          <a:xfrm>
            <a:off x="6510528" y="3803904"/>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warehouse SQL · FHIR reads</a:t>
            </a:r>
            <a:endParaRPr lang="en-US" sz="750" dirty="0"/>
          </a:p>
        </p:txBody>
      </p:sp>
      <p:sp>
        <p:nvSpPr>
          <p:cNvPr id="58" name="Shape 51"/>
          <p:cNvSpPr/>
          <p:nvPr/>
        </p:nvSpPr>
        <p:spPr>
          <a:xfrm>
            <a:off x="9006840" y="3474720"/>
            <a:ext cx="2468880" cy="512064"/>
          </a:xfrm>
          <a:prstGeom prst="roundRect">
            <a:avLst>
              <a:gd name="adj" fmla="val 10714"/>
            </a:avLst>
          </a:prstGeom>
          <a:solidFill>
            <a:srgbClr val="E6F4EA"/>
          </a:solidFill>
          <a:ln w="9525">
            <a:solidFill>
              <a:srgbClr val="E6F4EA"/>
            </a:solidFill>
            <a:prstDash val="solid"/>
          </a:ln>
        </p:spPr>
      </p:sp>
      <p:sp>
        <p:nvSpPr>
          <p:cNvPr id="59" name="Text 52"/>
          <p:cNvSpPr txBox="1"/>
          <p:nvPr/>
        </p:nvSpPr>
        <p:spPr>
          <a:xfrm>
            <a:off x="9116568" y="3547872"/>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Nabd pop-health MCP</a:t>
            </a:r>
            <a:endParaRPr lang="en-US" sz="900" dirty="0"/>
          </a:p>
        </p:txBody>
      </p:sp>
      <p:sp>
        <p:nvSpPr>
          <p:cNvPr id="60" name="Text 53"/>
          <p:cNvSpPr txBox="1"/>
          <p:nvPr/>
        </p:nvSpPr>
        <p:spPr>
          <a:xfrm>
            <a:off x="9116568" y="3803904"/>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care gaps · measures · risk scenarios</a:t>
            </a:r>
            <a:endParaRPr lang="en-US" sz="750" dirty="0"/>
          </a:p>
        </p:txBody>
      </p:sp>
      <p:sp>
        <p:nvSpPr>
          <p:cNvPr id="61" name="Shape 54"/>
          <p:cNvSpPr/>
          <p:nvPr/>
        </p:nvSpPr>
        <p:spPr>
          <a:xfrm>
            <a:off x="6400800" y="4078224"/>
            <a:ext cx="2468880" cy="512064"/>
          </a:xfrm>
          <a:prstGeom prst="roundRect">
            <a:avLst>
              <a:gd name="adj" fmla="val 10714"/>
            </a:avLst>
          </a:prstGeom>
          <a:solidFill>
            <a:srgbClr val="E6F4EA"/>
          </a:solidFill>
          <a:ln w="9525">
            <a:solidFill>
              <a:srgbClr val="E6F4EA"/>
            </a:solidFill>
            <a:prstDash val="solid"/>
          </a:ln>
        </p:spPr>
      </p:sp>
      <p:sp>
        <p:nvSpPr>
          <p:cNvPr id="62" name="Text 55"/>
          <p:cNvSpPr txBox="1"/>
          <p:nvPr/>
        </p:nvSpPr>
        <p:spPr>
          <a:xfrm>
            <a:off x="6510528" y="4151376"/>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Model endpoint</a:t>
            </a:r>
            <a:endParaRPr lang="en-US" sz="900" dirty="0"/>
          </a:p>
        </p:txBody>
      </p:sp>
      <p:sp>
        <p:nvSpPr>
          <p:cNvPr id="63" name="Text 56"/>
          <p:cNvSpPr txBox="1"/>
          <p:nvPr/>
        </p:nvSpPr>
        <p:spPr>
          <a:xfrm>
            <a:off x="6510528" y="4407408"/>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risk score and drivers</a:t>
            </a:r>
            <a:endParaRPr lang="en-US" sz="750" dirty="0"/>
          </a:p>
        </p:txBody>
      </p:sp>
      <p:sp>
        <p:nvSpPr>
          <p:cNvPr id="64" name="Shape 57"/>
          <p:cNvSpPr/>
          <p:nvPr/>
        </p:nvSpPr>
        <p:spPr>
          <a:xfrm>
            <a:off x="9006840" y="4078224"/>
            <a:ext cx="2468880" cy="512064"/>
          </a:xfrm>
          <a:prstGeom prst="roundRect">
            <a:avLst>
              <a:gd name="adj" fmla="val 10714"/>
            </a:avLst>
          </a:prstGeom>
          <a:solidFill>
            <a:srgbClr val="E6F4EA"/>
          </a:solidFill>
          <a:ln w="9525">
            <a:solidFill>
              <a:srgbClr val="E6F4EA"/>
            </a:solidFill>
            <a:prstDash val="solid"/>
          </a:ln>
        </p:spPr>
      </p:sp>
      <p:sp>
        <p:nvSpPr>
          <p:cNvPr id="65" name="Text 58"/>
          <p:cNvSpPr txBox="1"/>
          <p:nvPr/>
        </p:nvSpPr>
        <p:spPr>
          <a:xfrm>
            <a:off x="9116568" y="4151376"/>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Guideline retrieval</a:t>
            </a:r>
            <a:endParaRPr lang="en-US" sz="900" dirty="0"/>
          </a:p>
        </p:txBody>
      </p:sp>
      <p:sp>
        <p:nvSpPr>
          <p:cNvPr id="66" name="Text 59"/>
          <p:cNvSpPr txBox="1"/>
          <p:nvPr/>
        </p:nvSpPr>
        <p:spPr>
          <a:xfrm>
            <a:off x="9116568" y="4407408"/>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cited passages</a:t>
            </a:r>
            <a:endParaRPr lang="en-US" sz="750" dirty="0"/>
          </a:p>
        </p:txBody>
      </p:sp>
      <p:sp>
        <p:nvSpPr>
          <p:cNvPr id="67" name="Shape 60"/>
          <p:cNvSpPr/>
          <p:nvPr/>
        </p:nvSpPr>
        <p:spPr>
          <a:xfrm>
            <a:off x="10671048" y="3063240"/>
            <a:ext cx="0" cy="393192"/>
          </a:xfrm>
          <a:prstGeom prst="line">
            <a:avLst/>
          </a:prstGeom>
          <a:noFill/>
          <a:ln w="15875">
            <a:solidFill>
              <a:srgbClr val="5F6368"/>
            </a:solidFill>
            <a:prstDash val="solid"/>
            <a:tailEnd type="triangle"/>
          </a:ln>
        </p:spPr>
      </p:sp>
      <p:sp>
        <p:nvSpPr>
          <p:cNvPr id="68" name="Shape 61"/>
          <p:cNvSpPr/>
          <p:nvPr/>
        </p:nvSpPr>
        <p:spPr>
          <a:xfrm>
            <a:off x="6400800" y="4754880"/>
            <a:ext cx="2468880" cy="758952"/>
          </a:xfrm>
          <a:prstGeom prst="roundRect">
            <a:avLst>
              <a:gd name="adj" fmla="val 7229"/>
            </a:avLst>
          </a:prstGeom>
          <a:solidFill>
            <a:srgbClr val="FFFFFF"/>
          </a:solidFill>
          <a:ln w="9525">
            <a:solidFill>
              <a:srgbClr val="DADCE0"/>
            </a:solidFill>
            <a:prstDash val="solid"/>
          </a:ln>
        </p:spPr>
      </p:sp>
      <p:pic>
        <p:nvPicPr>
          <p:cNvPr id="69" name="Image 5" descr="preencoded.png">    </p:cNvPr>
          <p:cNvPicPr>
            <a:picLocks noChangeAspect="1"/>
          </p:cNvPicPr>
          <p:nvPr/>
        </p:nvPicPr>
        <p:blipFill>
          <a:blip r:embed="rId6"/>
          <a:stretch>
            <a:fillRect/>
          </a:stretch>
        </p:blipFill>
        <p:spPr>
          <a:xfrm>
            <a:off x="6510528" y="4855464"/>
            <a:ext cx="237744" cy="237744"/>
          </a:xfrm>
          <a:prstGeom prst="rect">
            <a:avLst/>
          </a:prstGeom>
        </p:spPr>
      </p:pic>
      <p:sp>
        <p:nvSpPr>
          <p:cNvPr id="70" name="Text 62"/>
          <p:cNvSpPr txBox="1"/>
          <p:nvPr/>
        </p:nvSpPr>
        <p:spPr>
          <a:xfrm>
            <a:off x="6821424" y="4828032"/>
            <a:ext cx="1975104"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Human approval queue</a:t>
            </a:r>
            <a:endParaRPr lang="en-US" sz="900" dirty="0"/>
          </a:p>
        </p:txBody>
      </p:sp>
      <p:sp>
        <p:nvSpPr>
          <p:cNvPr id="71" name="Text 63"/>
          <p:cNvSpPr txBox="1"/>
          <p:nvPr/>
        </p:nvSpPr>
        <p:spPr>
          <a:xfrm>
            <a:off x="6510528" y="5084064"/>
            <a:ext cx="2286000" cy="3931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drafts signed by a named clinician</a:t>
            </a:r>
            <a:endParaRPr lang="en-US" sz="750" dirty="0"/>
          </a:p>
        </p:txBody>
      </p:sp>
      <p:sp>
        <p:nvSpPr>
          <p:cNvPr id="72" name="Shape 64"/>
          <p:cNvSpPr/>
          <p:nvPr/>
        </p:nvSpPr>
        <p:spPr>
          <a:xfrm>
            <a:off x="9006840" y="4754880"/>
            <a:ext cx="2468880" cy="758952"/>
          </a:xfrm>
          <a:prstGeom prst="roundRect">
            <a:avLst>
              <a:gd name="adj" fmla="val 7229"/>
            </a:avLst>
          </a:prstGeom>
          <a:solidFill>
            <a:srgbClr val="FFFFFF"/>
          </a:solidFill>
          <a:ln w="9525">
            <a:solidFill>
              <a:srgbClr val="DADCE0"/>
            </a:solidFill>
            <a:prstDash val="solid"/>
          </a:ln>
        </p:spPr>
      </p:sp>
      <p:pic>
        <p:nvPicPr>
          <p:cNvPr id="73" name="Image 6" descr="preencoded.png">    </p:cNvPr>
          <p:cNvPicPr>
            <a:picLocks noChangeAspect="1"/>
          </p:cNvPicPr>
          <p:nvPr/>
        </p:nvPicPr>
        <p:blipFill>
          <a:blip r:embed="rId7"/>
          <a:stretch>
            <a:fillRect/>
          </a:stretch>
        </p:blipFill>
        <p:spPr>
          <a:xfrm>
            <a:off x="9116568" y="4855464"/>
            <a:ext cx="237744" cy="237744"/>
          </a:xfrm>
          <a:prstGeom prst="rect">
            <a:avLst/>
          </a:prstGeom>
        </p:spPr>
      </p:pic>
      <p:sp>
        <p:nvSpPr>
          <p:cNvPr id="74" name="Text 65"/>
          <p:cNvSpPr txBox="1"/>
          <p:nvPr/>
        </p:nvSpPr>
        <p:spPr>
          <a:xfrm>
            <a:off x="9427464" y="4828032"/>
            <a:ext cx="1975104"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Write-back</a:t>
            </a:r>
            <a:endParaRPr lang="en-US" sz="900" dirty="0"/>
          </a:p>
        </p:txBody>
      </p:sp>
      <p:sp>
        <p:nvSpPr>
          <p:cNvPr id="75" name="Text 66"/>
          <p:cNvSpPr txBox="1"/>
          <p:nvPr/>
        </p:nvSpPr>
        <p:spPr>
          <a:xfrm>
            <a:off x="9116568" y="5084064"/>
            <a:ext cx="2286000" cy="3931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approved items posted to the EHR as FHIR Tasks through the FHIR store</a:t>
            </a:r>
            <a:endParaRPr lang="en-US" sz="750" dirty="0"/>
          </a:p>
        </p:txBody>
      </p:sp>
      <p:sp>
        <p:nvSpPr>
          <p:cNvPr id="76" name="Shape 67"/>
          <p:cNvSpPr/>
          <p:nvPr/>
        </p:nvSpPr>
        <p:spPr>
          <a:xfrm>
            <a:off x="8869680" y="5120640"/>
            <a:ext cx="137160" cy="0"/>
          </a:xfrm>
          <a:prstGeom prst="line">
            <a:avLst/>
          </a:prstGeom>
          <a:noFill/>
          <a:ln w="15875">
            <a:solidFill>
              <a:srgbClr val="5F6368"/>
            </a:solidFill>
            <a:prstDash val="solid"/>
            <a:tailEnd type="triangle"/>
          </a:ln>
        </p:spPr>
      </p:sp>
      <p:sp>
        <p:nvSpPr>
          <p:cNvPr id="77" name="Shape 68"/>
          <p:cNvSpPr/>
          <p:nvPr/>
        </p:nvSpPr>
        <p:spPr>
          <a:xfrm>
            <a:off x="5989320" y="3977640"/>
            <a:ext cx="228600" cy="0"/>
          </a:xfrm>
          <a:prstGeom prst="line">
            <a:avLst/>
          </a:prstGeom>
          <a:noFill/>
          <a:ln w="15875">
            <a:solidFill>
              <a:srgbClr val="1A73E8"/>
            </a:solidFill>
            <a:prstDash val="dash"/>
            <a:tailEnd type="triangle"/>
          </a:ln>
        </p:spPr>
      </p:sp>
      <p:sp>
        <p:nvSpPr>
          <p:cNvPr id="78" name="Shape 69"/>
          <p:cNvSpPr/>
          <p:nvPr/>
        </p:nvSpPr>
        <p:spPr>
          <a:xfrm>
            <a:off x="548640" y="5897880"/>
            <a:ext cx="11064240" cy="457200"/>
          </a:xfrm>
          <a:prstGeom prst="roundRect">
            <a:avLst>
              <a:gd name="adj" fmla="val 16000"/>
            </a:avLst>
          </a:prstGeom>
          <a:solidFill>
            <a:srgbClr val="F8F9FA"/>
          </a:solidFill>
          <a:ln w="12700">
            <a:solidFill>
              <a:srgbClr val="F8F9FA"/>
            </a:solidFill>
            <a:prstDash val="solid"/>
          </a:ln>
        </p:spPr>
      </p:sp>
      <p:pic>
        <p:nvPicPr>
          <p:cNvPr id="79" name="Image 7" descr="preencoded.png">    </p:cNvPr>
          <p:cNvPicPr>
            <a:picLocks noChangeAspect="1"/>
          </p:cNvPicPr>
          <p:nvPr/>
        </p:nvPicPr>
        <p:blipFill>
          <a:blip r:embed="rId8"/>
          <a:stretch>
            <a:fillRect/>
          </a:stretch>
        </p:blipFill>
        <p:spPr>
          <a:xfrm>
            <a:off x="713232" y="5998464"/>
            <a:ext cx="256032" cy="256032"/>
          </a:xfrm>
          <a:prstGeom prst="rect">
            <a:avLst/>
          </a:prstGeom>
        </p:spPr>
      </p:pic>
      <p:sp>
        <p:nvSpPr>
          <p:cNvPr id="80" name="Text 70"/>
          <p:cNvSpPr txBox="1"/>
          <p:nvPr/>
        </p:nvSpPr>
        <p:spPr>
          <a:xfrm>
            <a:off x="1051560" y="5897880"/>
            <a:ext cx="10515600" cy="457200"/>
          </a:xfrm>
          <a:prstGeom prst="rect">
            <a:avLst/>
          </a:prstGeom>
          <a:noFill/>
          <a:ln/>
        </p:spPr>
        <p:txBody>
          <a:bodyPr wrap="square" lIns="0" tIns="0" rIns="0" bIns="0" rtlCol="0" anchor="ctr"/>
          <a:lstStyle/>
          <a:p>
            <a:pPr indent="0" marL="0">
              <a:lnSpc>
                <a:spcPct val="105000"/>
              </a:lnSpc>
              <a:buNone/>
            </a:pPr>
            <a:r>
              <a:rPr lang="en-US" sz="900" b="1" dirty="0">
                <a:solidFill>
                  <a:srgbClr val="202124"/>
                </a:solidFill>
                <a:latin typeface="Arial" pitchFamily="34" charset="0"/>
                <a:ea typeface="Arial" pitchFamily="34" charset="-122"/>
                <a:cs typeface="Arial" pitchFamily="34" charset="-120"/>
              </a:rPr>
              <a:t>Sovereignty and operations: </a:t>
            </a:r>
            <a:pPr indent="0" marL="0">
              <a:lnSpc>
                <a:spcPct val="105000"/>
              </a:lnSpc>
              <a:buNone/>
            </a:pPr>
            <a:r>
              <a:rPr lang="en-US" sz="900" dirty="0">
                <a:solidFill>
                  <a:srgbClr val="5F6368"/>
                </a:solidFill>
                <a:latin typeface="Arial" pitchFamily="34" charset="0"/>
                <a:ea typeface="Arial" pitchFamily="34" charset="-122"/>
                <a:cs typeface="Arial" pitchFamily="34" charset="-120"/>
              </a:rPr>
              <a:t>PHI at rest in country under a compliance boundary · customer-managed encryption keys · a network perimeter around the data services · least-privilege service identities · audit logs on every access · model endpoint and prompt content agreed with the ministry's data-protection office.</a:t>
            </a:r>
            <a:endParaRPr lang="en-US" sz="900" dirty="0"/>
          </a:p>
        </p:txBody>
      </p:sp>
      <p:sp>
        <p:nvSpPr>
          <p:cNvPr id="81" name="Text 71"/>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Agentic population health for a national diabetes registry</a:t>
            </a:r>
            <a:endParaRPr lang="en-US" sz="850" dirty="0"/>
          </a:p>
        </p:txBody>
      </p:sp>
      <p:sp>
        <p:nvSpPr>
          <p:cNvPr id="82" name="Text 7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Technical view: the request path, the data path, and how it fails safely</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Synchronous per question; batch per population; regional managed services in country, with resilience validated against the customer's SLOs.</a:t>
            </a:r>
            <a:endParaRPr lang="en-US" sz="1300" dirty="0"/>
          </a:p>
        </p:txBody>
      </p:sp>
      <p:sp>
        <p:nvSpPr>
          <p:cNvPr id="4" name="Shape 2"/>
          <p:cNvSpPr/>
          <p:nvPr/>
        </p:nvSpPr>
        <p:spPr>
          <a:xfrm>
            <a:off x="548640" y="1737360"/>
            <a:ext cx="11064240" cy="1463040"/>
          </a:xfrm>
          <a:prstGeom prst="roundRect">
            <a:avLst>
              <a:gd name="adj" fmla="val 7500"/>
            </a:avLst>
          </a:prstGeom>
          <a:solidFill>
            <a:srgbClr val="FFFFFF">
              <a:alpha val="0"/>
            </a:srgbClr>
          </a:solidFill>
          <a:ln w="12700">
            <a:solidFill>
              <a:srgbClr val="4285F4"/>
            </a:solidFill>
            <a:prstDash val="dash"/>
          </a:ln>
        </p:spPr>
      </p:sp>
      <p:sp>
        <p:nvSpPr>
          <p:cNvPr id="5" name="Text 3"/>
          <p:cNvSpPr txBox="1"/>
          <p:nvPr/>
        </p:nvSpPr>
        <p:spPr>
          <a:xfrm>
            <a:off x="731520" y="1828800"/>
            <a:ext cx="73152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REQUEST PATH: ONE QUESTION, SYNCHRONOUS, P95 UNDER 15 SECONDS</a:t>
            </a:r>
            <a:endParaRPr lang="en-US" sz="850" dirty="0"/>
          </a:p>
        </p:txBody>
      </p:sp>
      <p:sp>
        <p:nvSpPr>
          <p:cNvPr id="6" name="Shape 4"/>
          <p:cNvSpPr/>
          <p:nvPr/>
        </p:nvSpPr>
        <p:spPr>
          <a:xfrm>
            <a:off x="731520" y="2121408"/>
            <a:ext cx="237744" cy="237744"/>
          </a:xfrm>
          <a:prstGeom prst="ellipse">
            <a:avLst/>
          </a:prstGeom>
          <a:solidFill>
            <a:srgbClr val="1A73E8"/>
          </a:solidFill>
          <a:ln w="12700">
            <a:solidFill>
              <a:srgbClr val="1A73E8"/>
            </a:solidFill>
            <a:prstDash val="solid"/>
          </a:ln>
        </p:spPr>
      </p:sp>
      <p:sp>
        <p:nvSpPr>
          <p:cNvPr id="7" name="Text 5"/>
          <p:cNvSpPr txBox="1"/>
          <p:nvPr/>
        </p:nvSpPr>
        <p:spPr>
          <a:xfrm>
            <a:off x="731520"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 name="Shape 6"/>
          <p:cNvSpPr/>
          <p:nvPr/>
        </p:nvSpPr>
        <p:spPr>
          <a:xfrm>
            <a:off x="1024128" y="2103120"/>
            <a:ext cx="1783080" cy="987552"/>
          </a:xfrm>
          <a:prstGeom prst="roundRect">
            <a:avLst>
              <a:gd name="adj" fmla="val 5556"/>
            </a:avLst>
          </a:prstGeom>
          <a:solidFill>
            <a:srgbClr val="FFFFFF"/>
          </a:solidFill>
          <a:ln w="9525">
            <a:solidFill>
              <a:srgbClr val="DADCE0"/>
            </a:solidFill>
            <a:prstDash val="solid"/>
          </a:ln>
        </p:spPr>
      </p:sp>
      <p:pic>
        <p:nvPicPr>
          <p:cNvPr id="9" name="Image 0" descr="preencoded.png">    </p:cNvPr>
          <p:cNvPicPr>
            <a:picLocks noChangeAspect="1"/>
          </p:cNvPicPr>
          <p:nvPr/>
        </p:nvPicPr>
        <p:blipFill>
          <a:blip r:embed="rId1"/>
          <a:stretch>
            <a:fillRect/>
          </a:stretch>
        </p:blipFill>
        <p:spPr>
          <a:xfrm>
            <a:off x="1133856" y="2203704"/>
            <a:ext cx="237744" cy="237744"/>
          </a:xfrm>
          <a:prstGeom prst="rect">
            <a:avLst/>
          </a:prstGeom>
        </p:spPr>
      </p:pic>
      <p:sp>
        <p:nvSpPr>
          <p:cNvPr id="10" name="Text 7"/>
          <p:cNvSpPr txBox="1"/>
          <p:nvPr/>
        </p:nvSpPr>
        <p:spPr>
          <a:xfrm>
            <a:off x="1444752"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User</a:t>
            </a:r>
            <a:endParaRPr lang="en-US" sz="950" dirty="0"/>
          </a:p>
        </p:txBody>
      </p:sp>
      <p:sp>
        <p:nvSpPr>
          <p:cNvPr id="11" name="Text 8"/>
          <p:cNvSpPr txBox="1"/>
          <p:nvPr/>
        </p:nvSpPr>
        <p:spPr>
          <a:xfrm>
            <a:off x="1133856"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web or voice · Arabic / English · identity-aware access in front</a:t>
            </a:r>
            <a:endParaRPr lang="en-US" sz="750" dirty="0"/>
          </a:p>
        </p:txBody>
      </p:sp>
      <p:sp>
        <p:nvSpPr>
          <p:cNvPr id="12" name="Shape 9"/>
          <p:cNvSpPr/>
          <p:nvPr/>
        </p:nvSpPr>
        <p:spPr>
          <a:xfrm>
            <a:off x="2807208" y="2596896"/>
            <a:ext cx="137160" cy="0"/>
          </a:xfrm>
          <a:prstGeom prst="line">
            <a:avLst/>
          </a:prstGeom>
          <a:noFill/>
          <a:ln w="15875">
            <a:solidFill>
              <a:srgbClr val="5F6368"/>
            </a:solidFill>
            <a:prstDash val="solid"/>
            <a:tailEnd type="triangle"/>
          </a:ln>
        </p:spPr>
      </p:sp>
      <p:sp>
        <p:nvSpPr>
          <p:cNvPr id="13" name="Shape 10"/>
          <p:cNvSpPr/>
          <p:nvPr/>
        </p:nvSpPr>
        <p:spPr>
          <a:xfrm>
            <a:off x="2944368" y="2121408"/>
            <a:ext cx="237744" cy="237744"/>
          </a:xfrm>
          <a:prstGeom prst="ellipse">
            <a:avLst/>
          </a:prstGeom>
          <a:solidFill>
            <a:srgbClr val="1A73E8"/>
          </a:solidFill>
          <a:ln w="12700">
            <a:solidFill>
              <a:srgbClr val="1A73E8"/>
            </a:solidFill>
            <a:prstDash val="solid"/>
          </a:ln>
        </p:spPr>
      </p:sp>
      <p:sp>
        <p:nvSpPr>
          <p:cNvPr id="14" name="Text 11"/>
          <p:cNvSpPr txBox="1"/>
          <p:nvPr/>
        </p:nvSpPr>
        <p:spPr>
          <a:xfrm>
            <a:off x="2944368"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Shape 12"/>
          <p:cNvSpPr/>
          <p:nvPr/>
        </p:nvSpPr>
        <p:spPr>
          <a:xfrm>
            <a:off x="3236976" y="2103120"/>
            <a:ext cx="1783080" cy="987552"/>
          </a:xfrm>
          <a:prstGeom prst="roundRect">
            <a:avLst>
              <a:gd name="adj" fmla="val 5556"/>
            </a:avLst>
          </a:prstGeom>
          <a:solidFill>
            <a:srgbClr val="FFFFFF"/>
          </a:solidFill>
          <a:ln w="9525">
            <a:solidFill>
              <a:srgbClr val="DADCE0"/>
            </a:solidFill>
            <a:prstDash val="solid"/>
          </a:ln>
        </p:spPr>
      </p:sp>
      <p:pic>
        <p:nvPicPr>
          <p:cNvPr id="16" name="Image 1" descr="preencoded.png">    </p:cNvPr>
          <p:cNvPicPr>
            <a:picLocks noChangeAspect="1"/>
          </p:cNvPicPr>
          <p:nvPr/>
        </p:nvPicPr>
        <p:blipFill>
          <a:blip r:embed="rId2"/>
          <a:stretch>
            <a:fillRect/>
          </a:stretch>
        </p:blipFill>
        <p:spPr>
          <a:xfrm>
            <a:off x="3346704" y="2203704"/>
            <a:ext cx="237744" cy="237744"/>
          </a:xfrm>
          <a:prstGeom prst="rect">
            <a:avLst/>
          </a:prstGeom>
        </p:spPr>
      </p:pic>
      <p:sp>
        <p:nvSpPr>
          <p:cNvPr id="17" name="Text 13"/>
          <p:cNvSpPr txBox="1"/>
          <p:nvPr/>
        </p:nvSpPr>
        <p:spPr>
          <a:xfrm>
            <a:off x="3657600"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App and API</a:t>
            </a:r>
            <a:endParaRPr lang="en-US" sz="950" dirty="0"/>
          </a:p>
        </p:txBody>
      </p:sp>
      <p:sp>
        <p:nvSpPr>
          <p:cNvPr id="18" name="Text 14"/>
          <p:cNvSpPr txBox="1"/>
          <p:nvPr/>
        </p:nvSpPr>
        <p:spPr>
          <a:xfrm>
            <a:off x="3346704"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serverless web front end and API · streams the agent trace to the browser</a:t>
            </a:r>
            <a:endParaRPr lang="en-US" sz="750" dirty="0"/>
          </a:p>
        </p:txBody>
      </p:sp>
      <p:sp>
        <p:nvSpPr>
          <p:cNvPr id="19" name="Shape 15"/>
          <p:cNvSpPr/>
          <p:nvPr/>
        </p:nvSpPr>
        <p:spPr>
          <a:xfrm>
            <a:off x="5020056" y="2596896"/>
            <a:ext cx="137160" cy="0"/>
          </a:xfrm>
          <a:prstGeom prst="line">
            <a:avLst/>
          </a:prstGeom>
          <a:noFill/>
          <a:ln w="15875">
            <a:solidFill>
              <a:srgbClr val="5F6368"/>
            </a:solidFill>
            <a:prstDash val="solid"/>
            <a:tailEnd type="triangle"/>
          </a:ln>
        </p:spPr>
      </p:sp>
      <p:sp>
        <p:nvSpPr>
          <p:cNvPr id="20" name="Shape 16"/>
          <p:cNvSpPr/>
          <p:nvPr/>
        </p:nvSpPr>
        <p:spPr>
          <a:xfrm>
            <a:off x="5157216" y="2121408"/>
            <a:ext cx="237744" cy="237744"/>
          </a:xfrm>
          <a:prstGeom prst="ellipse">
            <a:avLst/>
          </a:prstGeom>
          <a:solidFill>
            <a:srgbClr val="1A73E8"/>
          </a:solidFill>
          <a:ln w="12700">
            <a:solidFill>
              <a:srgbClr val="1A73E8"/>
            </a:solidFill>
            <a:prstDash val="solid"/>
          </a:ln>
        </p:spPr>
      </p:sp>
      <p:sp>
        <p:nvSpPr>
          <p:cNvPr id="21" name="Text 17"/>
          <p:cNvSpPr txBox="1"/>
          <p:nvPr/>
        </p:nvSpPr>
        <p:spPr>
          <a:xfrm>
            <a:off x="5157216"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2" name="Shape 18"/>
          <p:cNvSpPr/>
          <p:nvPr/>
        </p:nvSpPr>
        <p:spPr>
          <a:xfrm>
            <a:off x="5449824" y="2103120"/>
            <a:ext cx="1783080" cy="987552"/>
          </a:xfrm>
          <a:prstGeom prst="roundRect">
            <a:avLst>
              <a:gd name="adj" fmla="val 5556"/>
            </a:avLst>
          </a:prstGeom>
          <a:solidFill>
            <a:srgbClr val="FFFFFF"/>
          </a:solidFill>
          <a:ln w="9525">
            <a:solidFill>
              <a:srgbClr val="DADCE0"/>
            </a:solidFill>
            <a:prstDash val="solid"/>
          </a:ln>
        </p:spPr>
      </p:sp>
      <p:pic>
        <p:nvPicPr>
          <p:cNvPr id="23" name="Image 2" descr="preencoded.png">    </p:cNvPr>
          <p:cNvPicPr>
            <a:picLocks noChangeAspect="1"/>
          </p:cNvPicPr>
          <p:nvPr/>
        </p:nvPicPr>
        <p:blipFill>
          <a:blip r:embed="rId3"/>
          <a:stretch>
            <a:fillRect/>
          </a:stretch>
        </p:blipFill>
        <p:spPr>
          <a:xfrm>
            <a:off x="5559552" y="2203704"/>
            <a:ext cx="237744" cy="237744"/>
          </a:xfrm>
          <a:prstGeom prst="rect">
            <a:avLst/>
          </a:prstGeom>
        </p:spPr>
      </p:pic>
      <p:sp>
        <p:nvSpPr>
          <p:cNvPr id="24" name="Text 19"/>
          <p:cNvSpPr txBox="1"/>
          <p:nvPr/>
        </p:nvSpPr>
        <p:spPr>
          <a:xfrm>
            <a:off x="5870448"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Agent supervisor</a:t>
            </a:r>
            <a:endParaRPr lang="en-US" sz="950" dirty="0"/>
          </a:p>
        </p:txBody>
      </p:sp>
      <p:sp>
        <p:nvSpPr>
          <p:cNvPr id="25" name="Text 20"/>
          <p:cNvSpPr txBox="1"/>
          <p:nvPr/>
        </p:nvSpPr>
        <p:spPr>
          <a:xfrm>
            <a:off x="5559552"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language model with low thinking on routing turns · session in a managed database</a:t>
            </a:r>
            <a:endParaRPr lang="en-US" sz="750" dirty="0"/>
          </a:p>
        </p:txBody>
      </p:sp>
      <p:sp>
        <p:nvSpPr>
          <p:cNvPr id="26" name="Shape 21"/>
          <p:cNvSpPr/>
          <p:nvPr/>
        </p:nvSpPr>
        <p:spPr>
          <a:xfrm>
            <a:off x="7232904" y="2596896"/>
            <a:ext cx="137160" cy="0"/>
          </a:xfrm>
          <a:prstGeom prst="line">
            <a:avLst/>
          </a:prstGeom>
          <a:noFill/>
          <a:ln w="15875">
            <a:solidFill>
              <a:srgbClr val="5F6368"/>
            </a:solidFill>
            <a:prstDash val="solid"/>
            <a:tailEnd type="triangle"/>
          </a:ln>
        </p:spPr>
      </p:sp>
      <p:sp>
        <p:nvSpPr>
          <p:cNvPr id="27" name="Shape 22"/>
          <p:cNvSpPr/>
          <p:nvPr/>
        </p:nvSpPr>
        <p:spPr>
          <a:xfrm>
            <a:off x="7370064" y="2121408"/>
            <a:ext cx="237744" cy="237744"/>
          </a:xfrm>
          <a:prstGeom prst="ellipse">
            <a:avLst/>
          </a:prstGeom>
          <a:solidFill>
            <a:srgbClr val="1A73E8"/>
          </a:solidFill>
          <a:ln w="12700">
            <a:solidFill>
              <a:srgbClr val="1A73E8"/>
            </a:solidFill>
            <a:prstDash val="solid"/>
          </a:ln>
        </p:spPr>
      </p:sp>
      <p:sp>
        <p:nvSpPr>
          <p:cNvPr id="28" name="Text 23"/>
          <p:cNvSpPr txBox="1"/>
          <p:nvPr/>
        </p:nvSpPr>
        <p:spPr>
          <a:xfrm>
            <a:off x="7370064"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9" name="Shape 24"/>
          <p:cNvSpPr/>
          <p:nvPr/>
        </p:nvSpPr>
        <p:spPr>
          <a:xfrm>
            <a:off x="7662672" y="2103120"/>
            <a:ext cx="1783080" cy="987552"/>
          </a:xfrm>
          <a:prstGeom prst="roundRect">
            <a:avLst>
              <a:gd name="adj" fmla="val 5556"/>
            </a:avLst>
          </a:prstGeom>
          <a:solidFill>
            <a:srgbClr val="FFFFFF"/>
          </a:solidFill>
          <a:ln w="9525">
            <a:solidFill>
              <a:srgbClr val="DADCE0"/>
            </a:solidFill>
            <a:prstDash val="solid"/>
          </a:ln>
        </p:spPr>
      </p:sp>
      <p:pic>
        <p:nvPicPr>
          <p:cNvPr id="30" name="Image 3" descr="preencoded.png">    </p:cNvPr>
          <p:cNvPicPr>
            <a:picLocks noChangeAspect="1"/>
          </p:cNvPicPr>
          <p:nvPr/>
        </p:nvPicPr>
        <p:blipFill>
          <a:blip r:embed="rId4"/>
          <a:stretch>
            <a:fillRect/>
          </a:stretch>
        </p:blipFill>
        <p:spPr>
          <a:xfrm>
            <a:off x="7772400" y="2203704"/>
            <a:ext cx="237744" cy="237744"/>
          </a:xfrm>
          <a:prstGeom prst="rect">
            <a:avLst/>
          </a:prstGeom>
        </p:spPr>
      </p:pic>
      <p:sp>
        <p:nvSpPr>
          <p:cNvPr id="31" name="Text 25"/>
          <p:cNvSpPr txBox="1"/>
          <p:nvPr/>
        </p:nvSpPr>
        <p:spPr>
          <a:xfrm>
            <a:off x="8083296"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Specialist tools</a:t>
            </a:r>
            <a:endParaRPr lang="en-US" sz="950" dirty="0"/>
          </a:p>
        </p:txBody>
      </p:sp>
      <p:sp>
        <p:nvSpPr>
          <p:cNvPr id="32" name="Text 26"/>
          <p:cNvSpPr txBox="1"/>
          <p:nvPr/>
        </p:nvSpPr>
        <p:spPr>
          <a:xfrm>
            <a:off x="7772400"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warehouse SQL tools · Nabd MCP server · model endpoint · guideline retrieval</a:t>
            </a:r>
            <a:endParaRPr lang="en-US" sz="750" dirty="0"/>
          </a:p>
        </p:txBody>
      </p:sp>
      <p:sp>
        <p:nvSpPr>
          <p:cNvPr id="33" name="Shape 27"/>
          <p:cNvSpPr/>
          <p:nvPr/>
        </p:nvSpPr>
        <p:spPr>
          <a:xfrm>
            <a:off x="9445752" y="2596896"/>
            <a:ext cx="137160" cy="0"/>
          </a:xfrm>
          <a:prstGeom prst="line">
            <a:avLst/>
          </a:prstGeom>
          <a:noFill/>
          <a:ln w="15875">
            <a:solidFill>
              <a:srgbClr val="5F6368"/>
            </a:solidFill>
            <a:prstDash val="solid"/>
            <a:tailEnd type="triangle"/>
          </a:ln>
        </p:spPr>
      </p:sp>
      <p:sp>
        <p:nvSpPr>
          <p:cNvPr id="34" name="Shape 28"/>
          <p:cNvSpPr/>
          <p:nvPr/>
        </p:nvSpPr>
        <p:spPr>
          <a:xfrm>
            <a:off x="9582912" y="2121408"/>
            <a:ext cx="237744" cy="237744"/>
          </a:xfrm>
          <a:prstGeom prst="ellipse">
            <a:avLst/>
          </a:prstGeom>
          <a:solidFill>
            <a:srgbClr val="1A73E8"/>
          </a:solidFill>
          <a:ln w="12700">
            <a:solidFill>
              <a:srgbClr val="1A73E8"/>
            </a:solidFill>
            <a:prstDash val="solid"/>
          </a:ln>
        </p:spPr>
      </p:sp>
      <p:sp>
        <p:nvSpPr>
          <p:cNvPr id="35" name="Text 29"/>
          <p:cNvSpPr txBox="1"/>
          <p:nvPr/>
        </p:nvSpPr>
        <p:spPr>
          <a:xfrm>
            <a:off x="9582912"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36" name="Shape 30"/>
          <p:cNvSpPr/>
          <p:nvPr/>
        </p:nvSpPr>
        <p:spPr>
          <a:xfrm>
            <a:off x="9875520" y="2103120"/>
            <a:ext cx="1783080" cy="987552"/>
          </a:xfrm>
          <a:prstGeom prst="roundRect">
            <a:avLst>
              <a:gd name="adj" fmla="val 5556"/>
            </a:avLst>
          </a:prstGeom>
          <a:solidFill>
            <a:srgbClr val="FFFFFF"/>
          </a:solidFill>
          <a:ln w="9525">
            <a:solidFill>
              <a:srgbClr val="DADCE0"/>
            </a:solidFill>
            <a:prstDash val="solid"/>
          </a:ln>
        </p:spPr>
      </p:sp>
      <p:pic>
        <p:nvPicPr>
          <p:cNvPr id="37" name="Image 4" descr="preencoded.png">    </p:cNvPr>
          <p:cNvPicPr>
            <a:picLocks noChangeAspect="1"/>
          </p:cNvPicPr>
          <p:nvPr/>
        </p:nvPicPr>
        <p:blipFill>
          <a:blip r:embed="rId5"/>
          <a:stretch>
            <a:fillRect/>
          </a:stretch>
        </p:blipFill>
        <p:spPr>
          <a:xfrm>
            <a:off x="9985248" y="2203704"/>
            <a:ext cx="237744" cy="237744"/>
          </a:xfrm>
          <a:prstGeom prst="rect">
            <a:avLst/>
          </a:prstGeom>
        </p:spPr>
      </p:pic>
      <p:sp>
        <p:nvSpPr>
          <p:cNvPr id="38" name="Text 31"/>
          <p:cNvSpPr txBox="1"/>
          <p:nvPr/>
        </p:nvSpPr>
        <p:spPr>
          <a:xfrm>
            <a:off x="10296144"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Answer and action</a:t>
            </a:r>
            <a:endParaRPr lang="en-US" sz="950" dirty="0"/>
          </a:p>
        </p:txBody>
      </p:sp>
      <p:sp>
        <p:nvSpPr>
          <p:cNvPr id="39" name="Text 32"/>
          <p:cNvSpPr txBox="1"/>
          <p:nvPr/>
        </p:nvSpPr>
        <p:spPr>
          <a:xfrm>
            <a:off x="9985248"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trace + citations to the user · drafts to the queue · signed items as FHIR Task</a:t>
            </a:r>
            <a:endParaRPr lang="en-US" sz="750" dirty="0"/>
          </a:p>
        </p:txBody>
      </p:sp>
      <p:sp>
        <p:nvSpPr>
          <p:cNvPr id="40" name="Shape 33"/>
          <p:cNvSpPr/>
          <p:nvPr/>
        </p:nvSpPr>
        <p:spPr>
          <a:xfrm>
            <a:off x="548640" y="3337560"/>
            <a:ext cx="11064240" cy="1463040"/>
          </a:xfrm>
          <a:prstGeom prst="roundRect">
            <a:avLst>
              <a:gd name="adj" fmla="val 7500"/>
            </a:avLst>
          </a:prstGeom>
          <a:solidFill>
            <a:srgbClr val="FFFFFF">
              <a:alpha val="0"/>
            </a:srgbClr>
          </a:solidFill>
          <a:ln w="12700">
            <a:solidFill>
              <a:srgbClr val="FBBC04"/>
            </a:solidFill>
            <a:prstDash val="dash"/>
          </a:ln>
        </p:spPr>
      </p:sp>
      <p:sp>
        <p:nvSpPr>
          <p:cNvPr id="41" name="Text 34"/>
          <p:cNvSpPr txBox="1"/>
          <p:nvPr/>
        </p:nvSpPr>
        <p:spPr>
          <a:xfrm>
            <a:off x="731520" y="3429000"/>
            <a:ext cx="7315200" cy="201168"/>
          </a:xfrm>
          <a:prstGeom prst="rect">
            <a:avLst/>
          </a:prstGeom>
          <a:noFill/>
          <a:ln/>
        </p:spPr>
        <p:txBody>
          <a:bodyPr wrap="square" lIns="0" tIns="0" rIns="0" bIns="0" rtlCol="0" anchor="t"/>
          <a:lstStyle/>
          <a:p>
            <a:pPr indent="0" marL="0">
              <a:buNone/>
            </a:pPr>
            <a:r>
              <a:rPr lang="en-US" sz="850" b="1" spc="150" kern="0" dirty="0">
                <a:solidFill>
                  <a:srgbClr val="B06000"/>
                </a:solidFill>
                <a:latin typeface="Arial" pitchFamily="34" charset="0"/>
                <a:ea typeface="Arial" pitchFamily="34" charset="-122"/>
                <a:cs typeface="Arial" pitchFamily="34" charset="-120"/>
              </a:rPr>
              <a:t>DATA PATH: NIGHTLY BATCH FOR THE POPULATION, EVENTS FOR THE PATIENT</a:t>
            </a:r>
            <a:endParaRPr lang="en-US" sz="850" dirty="0"/>
          </a:p>
        </p:txBody>
      </p:sp>
      <p:sp>
        <p:nvSpPr>
          <p:cNvPr id="42" name="Shape 35"/>
          <p:cNvSpPr/>
          <p:nvPr/>
        </p:nvSpPr>
        <p:spPr>
          <a:xfrm>
            <a:off x="731520" y="3703320"/>
            <a:ext cx="2075688" cy="987552"/>
          </a:xfrm>
          <a:prstGeom prst="roundRect">
            <a:avLst>
              <a:gd name="adj" fmla="val 5556"/>
            </a:avLst>
          </a:prstGeom>
          <a:solidFill>
            <a:srgbClr val="FFFFFF"/>
          </a:solidFill>
          <a:ln w="9525">
            <a:solidFill>
              <a:srgbClr val="DADCE0"/>
            </a:solidFill>
            <a:prstDash val="solid"/>
          </a:ln>
        </p:spPr>
      </p:sp>
      <p:pic>
        <p:nvPicPr>
          <p:cNvPr id="43" name="Image 5" descr="preencoded.png">    </p:cNvPr>
          <p:cNvPicPr>
            <a:picLocks noChangeAspect="1"/>
          </p:cNvPicPr>
          <p:nvPr/>
        </p:nvPicPr>
        <p:blipFill>
          <a:blip r:embed="rId6"/>
          <a:stretch>
            <a:fillRect/>
          </a:stretch>
        </p:blipFill>
        <p:spPr>
          <a:xfrm>
            <a:off x="841248" y="3803904"/>
            <a:ext cx="237744" cy="237744"/>
          </a:xfrm>
          <a:prstGeom prst="rect">
            <a:avLst/>
          </a:prstGeom>
        </p:spPr>
      </p:pic>
      <p:sp>
        <p:nvSpPr>
          <p:cNvPr id="44" name="Text 36"/>
          <p:cNvSpPr txBox="1"/>
          <p:nvPr/>
        </p:nvSpPr>
        <p:spPr>
          <a:xfrm>
            <a:off x="1152144"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Managed FHIR store</a:t>
            </a:r>
            <a:endParaRPr lang="en-US" sz="950" dirty="0"/>
          </a:p>
        </p:txBody>
      </p:sp>
      <p:sp>
        <p:nvSpPr>
          <p:cNvPr id="45" name="Text 37"/>
          <p:cNvSpPr txBox="1"/>
          <p:nvPr/>
        </p:nvSpPr>
        <p:spPr>
          <a:xfrm>
            <a:off x="841248"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HL7v2 and FHIR ingestion · consent · de-identification · an event on every new resource</a:t>
            </a:r>
            <a:endParaRPr lang="en-US" sz="750" dirty="0"/>
          </a:p>
        </p:txBody>
      </p:sp>
      <p:sp>
        <p:nvSpPr>
          <p:cNvPr id="46" name="Shape 38"/>
          <p:cNvSpPr/>
          <p:nvPr/>
        </p:nvSpPr>
        <p:spPr>
          <a:xfrm>
            <a:off x="2807208" y="4197096"/>
            <a:ext cx="137160" cy="0"/>
          </a:xfrm>
          <a:prstGeom prst="line">
            <a:avLst/>
          </a:prstGeom>
          <a:noFill/>
          <a:ln w="15875">
            <a:solidFill>
              <a:srgbClr val="5F6368"/>
            </a:solidFill>
            <a:prstDash val="solid"/>
            <a:tailEnd type="triangle"/>
          </a:ln>
        </p:spPr>
      </p:sp>
      <p:sp>
        <p:nvSpPr>
          <p:cNvPr id="47" name="Shape 39"/>
          <p:cNvSpPr/>
          <p:nvPr/>
        </p:nvSpPr>
        <p:spPr>
          <a:xfrm>
            <a:off x="2944368" y="3703320"/>
            <a:ext cx="2075688" cy="987552"/>
          </a:xfrm>
          <a:prstGeom prst="roundRect">
            <a:avLst>
              <a:gd name="adj" fmla="val 5556"/>
            </a:avLst>
          </a:prstGeom>
          <a:solidFill>
            <a:srgbClr val="FFFFFF"/>
          </a:solidFill>
          <a:ln w="9525">
            <a:solidFill>
              <a:srgbClr val="DADCE0"/>
            </a:solidFill>
            <a:prstDash val="solid"/>
          </a:ln>
        </p:spPr>
      </p:sp>
      <p:pic>
        <p:nvPicPr>
          <p:cNvPr id="48" name="Image 6" descr="preencoded.png">    </p:cNvPr>
          <p:cNvPicPr>
            <a:picLocks noChangeAspect="1"/>
          </p:cNvPicPr>
          <p:nvPr/>
        </p:nvPicPr>
        <p:blipFill>
          <a:blip r:embed="rId7"/>
          <a:stretch>
            <a:fillRect/>
          </a:stretch>
        </p:blipFill>
        <p:spPr>
          <a:xfrm>
            <a:off x="3054096" y="3803904"/>
            <a:ext cx="237744" cy="237744"/>
          </a:xfrm>
          <a:prstGeom prst="rect">
            <a:avLst/>
          </a:prstGeom>
        </p:spPr>
      </p:pic>
      <p:sp>
        <p:nvSpPr>
          <p:cNvPr id="49" name="Text 40"/>
          <p:cNvSpPr txBox="1"/>
          <p:nvPr/>
        </p:nvSpPr>
        <p:spPr>
          <a:xfrm>
            <a:off x="3364992"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Warehouse export</a:t>
            </a:r>
            <a:endParaRPr lang="en-US" sz="950" dirty="0"/>
          </a:p>
        </p:txBody>
      </p:sp>
      <p:sp>
        <p:nvSpPr>
          <p:cNvPr id="50" name="Text 41"/>
          <p:cNvSpPr txBox="1"/>
          <p:nvPr/>
        </p:nvSpPr>
        <p:spPr>
          <a:xfrm>
            <a:off x="3054096"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FHIR resources land as tables within seconds · time travel and snapshots for recovery</a:t>
            </a:r>
            <a:endParaRPr lang="en-US" sz="750" dirty="0"/>
          </a:p>
        </p:txBody>
      </p:sp>
      <p:sp>
        <p:nvSpPr>
          <p:cNvPr id="51" name="Shape 42"/>
          <p:cNvSpPr/>
          <p:nvPr/>
        </p:nvSpPr>
        <p:spPr>
          <a:xfrm>
            <a:off x="5020056" y="4197096"/>
            <a:ext cx="137160" cy="0"/>
          </a:xfrm>
          <a:prstGeom prst="line">
            <a:avLst/>
          </a:prstGeom>
          <a:noFill/>
          <a:ln w="15875">
            <a:solidFill>
              <a:srgbClr val="5F6368"/>
            </a:solidFill>
            <a:prstDash val="solid"/>
            <a:tailEnd type="triangle"/>
          </a:ln>
        </p:spPr>
      </p:sp>
      <p:sp>
        <p:nvSpPr>
          <p:cNvPr id="52" name="Shape 43"/>
          <p:cNvSpPr/>
          <p:nvPr/>
        </p:nvSpPr>
        <p:spPr>
          <a:xfrm>
            <a:off x="5157216" y="3703320"/>
            <a:ext cx="2075688" cy="987552"/>
          </a:xfrm>
          <a:prstGeom prst="roundRect">
            <a:avLst>
              <a:gd name="adj" fmla="val 5556"/>
            </a:avLst>
          </a:prstGeom>
          <a:solidFill>
            <a:srgbClr val="FFFFFF"/>
          </a:solidFill>
          <a:ln w="9525">
            <a:solidFill>
              <a:srgbClr val="DADCE0"/>
            </a:solidFill>
            <a:prstDash val="solid"/>
          </a:ln>
        </p:spPr>
      </p:sp>
      <p:pic>
        <p:nvPicPr>
          <p:cNvPr id="53" name="Image 7" descr="preencoded.png">    </p:cNvPr>
          <p:cNvPicPr>
            <a:picLocks noChangeAspect="1"/>
          </p:cNvPicPr>
          <p:nvPr/>
        </p:nvPicPr>
        <p:blipFill>
          <a:blip r:embed="rId8"/>
          <a:stretch>
            <a:fillRect/>
          </a:stretch>
        </p:blipFill>
        <p:spPr>
          <a:xfrm>
            <a:off x="5266944" y="3803904"/>
            <a:ext cx="237744" cy="237744"/>
          </a:xfrm>
          <a:prstGeom prst="rect">
            <a:avLst/>
          </a:prstGeom>
        </p:spPr>
      </p:pic>
      <p:sp>
        <p:nvSpPr>
          <p:cNvPr id="54" name="Text 44"/>
          <p:cNvSpPr txBox="1"/>
          <p:nvPr/>
        </p:nvSpPr>
        <p:spPr>
          <a:xfrm>
            <a:off x="5577840"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Curated marts</a:t>
            </a:r>
            <a:endParaRPr lang="en-US" sz="950" dirty="0"/>
          </a:p>
        </p:txBody>
      </p:sp>
      <p:sp>
        <p:nvSpPr>
          <p:cNvPr id="55" name="Text 45"/>
          <p:cNvSpPr txBox="1"/>
          <p:nvPr/>
        </p:nvSpPr>
        <p:spPr>
          <a:xfrm>
            <a:off x="5266944"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patient summary · care gaps · quality measures · equity views, rebuilt at 02:00 as versioned SQL</a:t>
            </a:r>
            <a:endParaRPr lang="en-US" sz="750" dirty="0"/>
          </a:p>
        </p:txBody>
      </p:sp>
      <p:sp>
        <p:nvSpPr>
          <p:cNvPr id="56" name="Shape 46"/>
          <p:cNvSpPr/>
          <p:nvPr/>
        </p:nvSpPr>
        <p:spPr>
          <a:xfrm>
            <a:off x="7232904" y="4197096"/>
            <a:ext cx="137160" cy="0"/>
          </a:xfrm>
          <a:prstGeom prst="line">
            <a:avLst/>
          </a:prstGeom>
          <a:noFill/>
          <a:ln w="15875">
            <a:solidFill>
              <a:srgbClr val="5F6368"/>
            </a:solidFill>
            <a:prstDash val="solid"/>
            <a:tailEnd type="triangle"/>
          </a:ln>
        </p:spPr>
      </p:sp>
      <p:sp>
        <p:nvSpPr>
          <p:cNvPr id="57" name="Shape 47"/>
          <p:cNvSpPr/>
          <p:nvPr/>
        </p:nvSpPr>
        <p:spPr>
          <a:xfrm>
            <a:off x="7370064" y="3703320"/>
            <a:ext cx="2075688" cy="987552"/>
          </a:xfrm>
          <a:prstGeom prst="roundRect">
            <a:avLst>
              <a:gd name="adj" fmla="val 5556"/>
            </a:avLst>
          </a:prstGeom>
          <a:solidFill>
            <a:srgbClr val="FFFFFF"/>
          </a:solidFill>
          <a:ln w="9525">
            <a:solidFill>
              <a:srgbClr val="DADCE0"/>
            </a:solidFill>
            <a:prstDash val="solid"/>
          </a:ln>
        </p:spPr>
      </p:sp>
      <p:pic>
        <p:nvPicPr>
          <p:cNvPr id="58" name="Image 8" descr="preencoded.png">    </p:cNvPr>
          <p:cNvPicPr>
            <a:picLocks noChangeAspect="1"/>
          </p:cNvPicPr>
          <p:nvPr/>
        </p:nvPicPr>
        <p:blipFill>
          <a:blip r:embed="rId9"/>
          <a:stretch>
            <a:fillRect/>
          </a:stretch>
        </p:blipFill>
        <p:spPr>
          <a:xfrm>
            <a:off x="7479792" y="3803904"/>
            <a:ext cx="237744" cy="237744"/>
          </a:xfrm>
          <a:prstGeom prst="rect">
            <a:avLst/>
          </a:prstGeom>
        </p:spPr>
      </p:pic>
      <p:sp>
        <p:nvSpPr>
          <p:cNvPr id="59" name="Text 48"/>
          <p:cNvSpPr txBox="1"/>
          <p:nvPr/>
        </p:nvSpPr>
        <p:spPr>
          <a:xfrm>
            <a:off x="7790688"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Nightly batch scoring</a:t>
            </a:r>
            <a:endParaRPr lang="en-US" sz="950" dirty="0"/>
          </a:p>
        </p:txBody>
      </p:sp>
      <p:sp>
        <p:nvSpPr>
          <p:cNvPr id="60" name="Text 49"/>
          <p:cNvSpPr txBox="1"/>
          <p:nvPr/>
        </p:nvSpPr>
        <p:spPr>
          <a:xfrm>
            <a:off x="7479792"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every patient re-scored in the warehouse · scores and drivers written back for the tools</a:t>
            </a:r>
            <a:endParaRPr lang="en-US" sz="750" dirty="0"/>
          </a:p>
        </p:txBody>
      </p:sp>
      <p:sp>
        <p:nvSpPr>
          <p:cNvPr id="61" name="Shape 50"/>
          <p:cNvSpPr/>
          <p:nvPr/>
        </p:nvSpPr>
        <p:spPr>
          <a:xfrm>
            <a:off x="9582912" y="3703320"/>
            <a:ext cx="2075688" cy="987552"/>
          </a:xfrm>
          <a:prstGeom prst="roundRect">
            <a:avLst>
              <a:gd name="adj" fmla="val 5556"/>
            </a:avLst>
          </a:prstGeom>
          <a:solidFill>
            <a:srgbClr val="FFFFFF"/>
          </a:solidFill>
          <a:ln w="9525">
            <a:solidFill>
              <a:srgbClr val="DADCE0"/>
            </a:solidFill>
            <a:prstDash val="solid"/>
          </a:ln>
        </p:spPr>
      </p:sp>
      <p:pic>
        <p:nvPicPr>
          <p:cNvPr id="62" name="Image 9" descr="preencoded.png">    </p:cNvPr>
          <p:cNvPicPr>
            <a:picLocks noChangeAspect="1"/>
          </p:cNvPicPr>
          <p:nvPr/>
        </p:nvPicPr>
        <p:blipFill>
          <a:blip r:embed="rId10"/>
          <a:stretch>
            <a:fillRect/>
          </a:stretch>
        </p:blipFill>
        <p:spPr>
          <a:xfrm>
            <a:off x="9692640" y="3803904"/>
            <a:ext cx="237744" cy="237744"/>
          </a:xfrm>
          <a:prstGeom prst="rect">
            <a:avLst/>
          </a:prstGeom>
        </p:spPr>
      </p:pic>
      <p:sp>
        <p:nvSpPr>
          <p:cNvPr id="63" name="Text 51"/>
          <p:cNvSpPr txBox="1"/>
          <p:nvPr/>
        </p:nvSpPr>
        <p:spPr>
          <a:xfrm>
            <a:off x="10003536"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Event path</a:t>
            </a:r>
            <a:endParaRPr lang="en-US" sz="950" dirty="0"/>
          </a:p>
        </p:txBody>
      </p:sp>
      <p:sp>
        <p:nvSpPr>
          <p:cNvPr id="64" name="Text 52"/>
          <p:cNvSpPr txBox="1"/>
          <p:nvPr/>
        </p:nvSpPr>
        <p:spPr>
          <a:xfrm>
            <a:off x="9692640"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a new HbA1c fires an event · a small scorer calls the model endpoint · one patient in seconds</a:t>
            </a:r>
            <a:endParaRPr lang="en-US" sz="750" dirty="0"/>
          </a:p>
        </p:txBody>
      </p:sp>
      <p:sp>
        <p:nvSpPr>
          <p:cNvPr id="65" name="Shape 53"/>
          <p:cNvSpPr/>
          <p:nvPr/>
        </p:nvSpPr>
        <p:spPr>
          <a:xfrm>
            <a:off x="548640" y="4937760"/>
            <a:ext cx="11064240" cy="1417320"/>
          </a:xfrm>
          <a:prstGeom prst="roundRect">
            <a:avLst>
              <a:gd name="adj" fmla="val 7742"/>
            </a:avLst>
          </a:prstGeom>
          <a:solidFill>
            <a:srgbClr val="FFFFFF">
              <a:alpha val="0"/>
            </a:srgbClr>
          </a:solidFill>
          <a:ln w="12700">
            <a:solidFill>
              <a:srgbClr val="34A853"/>
            </a:solidFill>
            <a:prstDash val="dash"/>
          </a:ln>
        </p:spPr>
      </p:sp>
      <p:sp>
        <p:nvSpPr>
          <p:cNvPr id="66" name="Text 54"/>
          <p:cNvSpPr txBox="1"/>
          <p:nvPr/>
        </p:nvSpPr>
        <p:spPr>
          <a:xfrm>
            <a:off x="731520" y="5029200"/>
            <a:ext cx="5486400" cy="201168"/>
          </a:xfrm>
          <a:prstGeom prst="rect">
            <a:avLst/>
          </a:prstGeom>
          <a:noFill/>
          <a:ln/>
        </p:spPr>
        <p:txBody>
          <a:bodyPr wrap="square" lIns="0" tIns="0" rIns="0" bIns="0" rtlCol="0" anchor="t"/>
          <a:lstStyle/>
          <a:p>
            <a:pPr indent="0" marL="0">
              <a:buNone/>
            </a:pPr>
            <a:r>
              <a:rPr lang="en-US" sz="850" b="1" spc="150" kern="0" dirty="0">
                <a:solidFill>
                  <a:srgbClr val="1E8E3E"/>
                </a:solidFill>
                <a:latin typeface="Arial" pitchFamily="34" charset="0"/>
                <a:ea typeface="Arial" pitchFamily="34" charset="-122"/>
                <a:cs typeface="Arial" pitchFamily="34" charset="-120"/>
              </a:rPr>
              <a:t>RESILIENCE AND OPERATIONS</a:t>
            </a:r>
            <a:endParaRPr lang="en-US" sz="850" dirty="0"/>
          </a:p>
        </p:txBody>
      </p:sp>
      <p:sp>
        <p:nvSpPr>
          <p:cNvPr id="67" name="Shape 55"/>
          <p:cNvSpPr/>
          <p:nvPr/>
        </p:nvSpPr>
        <p:spPr>
          <a:xfrm>
            <a:off x="731520" y="5285232"/>
            <a:ext cx="2560320" cy="987552"/>
          </a:xfrm>
          <a:prstGeom prst="roundRect">
            <a:avLst>
              <a:gd name="adj" fmla="val 5556"/>
            </a:avLst>
          </a:prstGeom>
          <a:solidFill>
            <a:srgbClr val="E6F4EA"/>
          </a:solidFill>
          <a:ln w="9525">
            <a:solidFill>
              <a:srgbClr val="E6F4EA"/>
            </a:solidFill>
            <a:prstDash val="solid"/>
          </a:ln>
        </p:spPr>
      </p:sp>
      <p:sp>
        <p:nvSpPr>
          <p:cNvPr id="68" name="Text 56"/>
          <p:cNvSpPr txBox="1"/>
          <p:nvPr/>
        </p:nvSpPr>
        <p:spPr>
          <a:xfrm>
            <a:off x="841248"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Zonal resilience</a:t>
            </a:r>
            <a:endParaRPr lang="en-US" sz="950" dirty="0"/>
          </a:p>
        </p:txBody>
      </p:sp>
      <p:sp>
        <p:nvSpPr>
          <p:cNvPr id="69" name="Text 57"/>
          <p:cNvSpPr txBox="1"/>
          <p:nvPr/>
        </p:nvSpPr>
        <p:spPr>
          <a:xfrm>
            <a:off x="841248"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Regional managed services for the app, warehouse, FHIR store and database; service-specific HA characteristics validated against the customer's SLOs.</a:t>
            </a:r>
            <a:endParaRPr lang="en-US" sz="750" dirty="0"/>
          </a:p>
        </p:txBody>
      </p:sp>
      <p:sp>
        <p:nvSpPr>
          <p:cNvPr id="70" name="Shape 58"/>
          <p:cNvSpPr/>
          <p:nvPr/>
        </p:nvSpPr>
        <p:spPr>
          <a:xfrm>
            <a:off x="3456432" y="5285232"/>
            <a:ext cx="2560320" cy="987552"/>
          </a:xfrm>
          <a:prstGeom prst="roundRect">
            <a:avLst>
              <a:gd name="adj" fmla="val 5556"/>
            </a:avLst>
          </a:prstGeom>
          <a:solidFill>
            <a:srgbClr val="E6F4EA"/>
          </a:solidFill>
          <a:ln w="9525">
            <a:solidFill>
              <a:srgbClr val="E6F4EA"/>
            </a:solidFill>
            <a:prstDash val="solid"/>
          </a:ln>
        </p:spPr>
      </p:sp>
      <p:sp>
        <p:nvSpPr>
          <p:cNvPr id="71" name="Text 59"/>
          <p:cNvSpPr txBox="1"/>
          <p:nvPr/>
        </p:nvSpPr>
        <p:spPr>
          <a:xfrm>
            <a:off x="3566160"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Regional outage: an explicit trade-off</a:t>
            </a:r>
            <a:endParaRPr lang="en-US" sz="950" dirty="0"/>
          </a:p>
        </p:txBody>
      </p:sp>
      <p:sp>
        <p:nvSpPr>
          <p:cNvPr id="72" name="Text 60"/>
          <p:cNvSpPr txBox="1"/>
          <p:nvPr/>
        </p:nvSpPr>
        <p:spPr>
          <a:xfrm>
            <a:off x="3566160"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Strict in-country residency limits recovery options. RPO and RTO are agreed in discovery, with whether policy permits a compliant secondary recovery location.</a:t>
            </a:r>
            <a:endParaRPr lang="en-US" sz="750" dirty="0"/>
          </a:p>
        </p:txBody>
      </p:sp>
      <p:sp>
        <p:nvSpPr>
          <p:cNvPr id="73" name="Shape 61"/>
          <p:cNvSpPr/>
          <p:nvPr/>
        </p:nvSpPr>
        <p:spPr>
          <a:xfrm>
            <a:off x="6181344" y="5285232"/>
            <a:ext cx="2560320" cy="987552"/>
          </a:xfrm>
          <a:prstGeom prst="roundRect">
            <a:avLst>
              <a:gd name="adj" fmla="val 5556"/>
            </a:avLst>
          </a:prstGeom>
          <a:solidFill>
            <a:srgbClr val="E6F4EA"/>
          </a:solidFill>
          <a:ln w="9525">
            <a:solidFill>
              <a:srgbClr val="E6F4EA"/>
            </a:solidFill>
            <a:prstDash val="solid"/>
          </a:ln>
        </p:spPr>
      </p:sp>
      <p:sp>
        <p:nvSpPr>
          <p:cNvPr id="74" name="Text 62"/>
          <p:cNvSpPr txBox="1"/>
          <p:nvPr/>
        </p:nvSpPr>
        <p:spPr>
          <a:xfrm>
            <a:off x="6291072"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The language model is saturated</a:t>
            </a:r>
            <a:endParaRPr lang="en-US" sz="950" dirty="0"/>
          </a:p>
        </p:txBody>
      </p:sp>
      <p:sp>
        <p:nvSpPr>
          <p:cNvPr id="75" name="Text 63"/>
          <p:cNvSpPr txBox="1"/>
          <p:nvPr/>
        </p:nvSpPr>
        <p:spPr>
          <a:xfrm>
            <a:off x="6291072"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The supervisor moves down a tested model list; if no model answers, the same tools run directly without the language model.</a:t>
            </a:r>
            <a:endParaRPr lang="en-US" sz="750" dirty="0"/>
          </a:p>
        </p:txBody>
      </p:sp>
      <p:sp>
        <p:nvSpPr>
          <p:cNvPr id="76" name="Shape 64"/>
          <p:cNvSpPr/>
          <p:nvPr/>
        </p:nvSpPr>
        <p:spPr>
          <a:xfrm>
            <a:off x="8906256" y="5285232"/>
            <a:ext cx="2560320" cy="987552"/>
          </a:xfrm>
          <a:prstGeom prst="roundRect">
            <a:avLst>
              <a:gd name="adj" fmla="val 5556"/>
            </a:avLst>
          </a:prstGeom>
          <a:solidFill>
            <a:srgbClr val="E6F4EA"/>
          </a:solidFill>
          <a:ln w="9525">
            <a:solidFill>
              <a:srgbClr val="E6F4EA"/>
            </a:solidFill>
            <a:prstDash val="solid"/>
          </a:ln>
        </p:spPr>
      </p:sp>
      <p:sp>
        <p:nvSpPr>
          <p:cNvPr id="77" name="Text 65"/>
          <p:cNvSpPr txBox="1"/>
          <p:nvPr/>
        </p:nvSpPr>
        <p:spPr>
          <a:xfrm>
            <a:off x="9015984"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Delivery and observability</a:t>
            </a:r>
            <a:endParaRPr lang="en-US" sz="950" dirty="0"/>
          </a:p>
        </p:txBody>
      </p:sp>
      <p:sp>
        <p:nvSpPr>
          <p:cNvPr id="78" name="Text 66"/>
          <p:cNvSpPr txBox="1"/>
          <p:nvPr/>
        </p:nvSpPr>
        <p:spPr>
          <a:xfrm>
            <a:off x="9015984"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infrastructure as code · CI with the evalset as a release gate · container registry · logs, traces and SLOs on first token and answer time.</a:t>
            </a:r>
            <a:endParaRPr lang="en-US" sz="750" dirty="0"/>
          </a:p>
        </p:txBody>
      </p:sp>
      <p:sp>
        <p:nvSpPr>
          <p:cNvPr id="79" name="Text 67"/>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Agentic population health for a national diabetes registry</a:t>
            </a:r>
            <a:endParaRPr lang="en-US" sz="850" dirty="0"/>
          </a:p>
        </p:txBody>
      </p:sp>
      <p:sp>
        <p:nvSpPr>
          <p:cNvPr id="80" name="Text 68"/>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What you will see in the next twenty minutes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A working system on a 4,000-patient synthetic exchange. Every number is computed live by a tool call; nothing is pre-rendered.</a:t>
            </a:r>
            <a:endParaRPr lang="en-US" sz="1300" dirty="0"/>
          </a:p>
        </p:txBody>
      </p:sp>
      <p:sp>
        <p:nvSpPr>
          <p:cNvPr id="4" name="Shape 2"/>
          <p:cNvSpPr/>
          <p:nvPr/>
        </p:nvSpPr>
        <p:spPr>
          <a:xfrm>
            <a:off x="548640" y="1828800"/>
            <a:ext cx="457200" cy="457200"/>
          </a:xfrm>
          <a:prstGeom prst="ellipse">
            <a:avLst/>
          </a:prstGeom>
          <a:solidFill>
            <a:srgbClr val="4285F4"/>
          </a:solidFill>
          <a:ln w="12700">
            <a:solidFill>
              <a:srgbClr val="4285F4"/>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188720" y="1847088"/>
            <a:ext cx="5120640" cy="36576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The clinician's morning</a:t>
            </a:r>
            <a:endParaRPr lang="en-US" sz="1400" dirty="0"/>
          </a:p>
        </p:txBody>
      </p:sp>
      <p:sp>
        <p:nvSpPr>
          <p:cNvPr id="7" name="Text 5"/>
          <p:cNvSpPr txBox="1"/>
          <p:nvPr/>
        </p:nvSpPr>
        <p:spPr>
          <a:xfrm>
            <a:off x="1188720" y="2240280"/>
            <a:ext cx="5212080" cy="86868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A panel briefing, then one patient: the 360 view, an explained risk score, the guideline passage, and a clinician review task that waits for her signature. Then the risk sensitivity simulator on the same patient.</a:t>
            </a:r>
            <a:endParaRPr lang="en-US" sz="1050" dirty="0"/>
          </a:p>
        </p:txBody>
      </p:sp>
      <p:sp>
        <p:nvSpPr>
          <p:cNvPr id="8" name="Shape 6"/>
          <p:cNvSpPr/>
          <p:nvPr/>
        </p:nvSpPr>
        <p:spPr>
          <a:xfrm>
            <a:off x="548640" y="3154680"/>
            <a:ext cx="457200" cy="457200"/>
          </a:xfrm>
          <a:prstGeom prst="ellipse">
            <a:avLst/>
          </a:prstGeom>
          <a:solidFill>
            <a:srgbClr val="EA4335"/>
          </a:solidFill>
          <a:ln w="12700">
            <a:solidFill>
              <a:srgbClr val="EA4335"/>
            </a:solidFill>
            <a:prstDash val="solid"/>
          </a:ln>
        </p:spPr>
      </p:sp>
      <p:sp>
        <p:nvSpPr>
          <p:cNvPr id="9" name="Text 7"/>
          <p:cNvSpPr txBox="1"/>
          <p:nvPr/>
        </p:nvSpPr>
        <p:spPr>
          <a:xfrm>
            <a:off x="54864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188720" y="3172968"/>
            <a:ext cx="5120640" cy="36576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The population view</a:t>
            </a:r>
            <a:endParaRPr lang="en-US" sz="1400" dirty="0"/>
          </a:p>
        </p:txBody>
      </p:sp>
      <p:sp>
        <p:nvSpPr>
          <p:cNvPr id="11" name="Text 9"/>
          <p:cNvSpPr txBox="1"/>
          <p:nvPr/>
        </p:nvSpPr>
        <p:spPr>
          <a:xfrm>
            <a:off x="1188720" y="3566160"/>
            <a:ext cx="5212080" cy="86868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Control rates, care gaps by facility and population group, cost concentration, and predictive risk scenarios that show where the model's estimate is most sensitive.</a:t>
            </a:r>
            <a:endParaRPr lang="en-US" sz="1050" dirty="0"/>
          </a:p>
        </p:txBody>
      </p:sp>
      <p:sp>
        <p:nvSpPr>
          <p:cNvPr id="12" name="Shape 10"/>
          <p:cNvSpPr/>
          <p:nvPr/>
        </p:nvSpPr>
        <p:spPr>
          <a:xfrm>
            <a:off x="548640" y="4480560"/>
            <a:ext cx="457200" cy="457200"/>
          </a:xfrm>
          <a:prstGeom prst="ellipse">
            <a:avLst/>
          </a:prstGeom>
          <a:solidFill>
            <a:srgbClr val="34A853"/>
          </a:solidFill>
          <a:ln w="12700">
            <a:solidFill>
              <a:srgbClr val="34A853"/>
            </a:solidFill>
            <a:prstDash val="solid"/>
          </a:ln>
        </p:spPr>
      </p:sp>
      <p:sp>
        <p:nvSpPr>
          <p:cNvPr id="13" name="Text 11"/>
          <p:cNvSpPr txBox="1"/>
          <p:nvPr/>
        </p:nvSpPr>
        <p:spPr>
          <a:xfrm>
            <a:off x="548640" y="4480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188720" y="4498848"/>
            <a:ext cx="5120640" cy="36576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Under the hood</a:t>
            </a:r>
            <a:endParaRPr lang="en-US" sz="1400" dirty="0"/>
          </a:p>
        </p:txBody>
      </p:sp>
      <p:sp>
        <p:nvSpPr>
          <p:cNvPr id="15" name="Text 13"/>
          <p:cNvSpPr txBox="1"/>
          <p:nvPr/>
        </p:nvSpPr>
        <p:spPr>
          <a:xfrm>
            <a:off x="1188720" y="4892040"/>
            <a:ext cx="5212080" cy="86868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The population-health MCP server, the live agent trace, and the evaluation tab: held-out model accuracy, the agent evalset, model choice and cost per question.</a:t>
            </a:r>
            <a:endParaRPr lang="en-US" sz="1050" dirty="0"/>
          </a:p>
        </p:txBody>
      </p:sp>
      <p:sp>
        <p:nvSpPr>
          <p:cNvPr id="16" name="Shape 14"/>
          <p:cNvSpPr/>
          <p:nvPr/>
        </p:nvSpPr>
        <p:spPr>
          <a:xfrm>
            <a:off x="6949440" y="1783080"/>
            <a:ext cx="4663440" cy="4160520"/>
          </a:xfrm>
          <a:prstGeom prst="roundRect">
            <a:avLst>
              <a:gd name="adj" fmla="val 1758"/>
            </a:avLst>
          </a:prstGeom>
          <a:solidFill>
            <a:srgbClr val="F8F9FA"/>
          </a:solidFill>
          <a:ln w="12700">
            <a:solidFill>
              <a:srgbClr val="F8F9FA"/>
            </a:solidFill>
            <a:prstDash val="solid"/>
          </a:ln>
        </p:spPr>
      </p:sp>
      <p:sp>
        <p:nvSpPr>
          <p:cNvPr id="17" name="Text 15"/>
          <p:cNvSpPr txBox="1"/>
          <p:nvPr/>
        </p:nvSpPr>
        <p:spPr>
          <a:xfrm>
            <a:off x="7178040" y="1920240"/>
            <a:ext cx="4297680" cy="274320"/>
          </a:xfrm>
          <a:prstGeom prst="rect">
            <a:avLst/>
          </a:prstGeom>
          <a:noFill/>
          <a:ln/>
        </p:spPr>
        <p:txBody>
          <a:bodyPr wrap="square" lIns="0" tIns="0" rIns="0" bIns="0" rtlCol="0" anchor="t"/>
          <a:lstStyle/>
          <a:p>
            <a:pPr indent="0" marL="0">
              <a:buNone/>
            </a:pPr>
            <a:r>
              <a:rPr lang="en-US" sz="1200" b="1" dirty="0">
                <a:solidFill>
                  <a:srgbClr val="202124"/>
                </a:solidFill>
                <a:latin typeface="Arial" pitchFamily="34" charset="0"/>
                <a:ea typeface="Arial" pitchFamily="34" charset="-122"/>
                <a:cs typeface="Arial" pitchFamily="34" charset="-120"/>
              </a:rPr>
              <a:t>What each demo component becomes at national scale</a:t>
            </a:r>
            <a:endParaRPr lang="en-US" sz="1200" dirty="0"/>
          </a:p>
        </p:txBody>
      </p:sp>
      <p:sp>
        <p:nvSpPr>
          <p:cNvPr id="18" name="Text 16"/>
          <p:cNvSpPr txBox="1"/>
          <p:nvPr/>
        </p:nvSpPr>
        <p:spPr>
          <a:xfrm>
            <a:off x="7178040" y="2286000"/>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HIE tables</a:t>
            </a:r>
            <a:endParaRPr lang="en-US" sz="950" dirty="0"/>
          </a:p>
        </p:txBody>
      </p:sp>
      <p:sp>
        <p:nvSpPr>
          <p:cNvPr id="19" name="Text 17"/>
          <p:cNvSpPr txBox="1"/>
          <p:nvPr/>
        </p:nvSpPr>
        <p:spPr>
          <a:xfrm>
            <a:off x="8778240" y="2286000"/>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an analytical warehouse fed by a managed FHIR store</a:t>
            </a:r>
            <a:endParaRPr lang="en-US" sz="900" dirty="0"/>
          </a:p>
        </p:txBody>
      </p:sp>
      <p:sp>
        <p:nvSpPr>
          <p:cNvPr id="20" name="Shape 18"/>
          <p:cNvSpPr/>
          <p:nvPr/>
        </p:nvSpPr>
        <p:spPr>
          <a:xfrm>
            <a:off x="7178040" y="2697480"/>
            <a:ext cx="4297680" cy="0"/>
          </a:xfrm>
          <a:prstGeom prst="line">
            <a:avLst/>
          </a:prstGeom>
          <a:noFill/>
          <a:ln w="6350">
            <a:solidFill>
              <a:srgbClr val="DADCE0"/>
            </a:solidFill>
            <a:prstDash val="solid"/>
          </a:ln>
        </p:spPr>
      </p:sp>
      <p:sp>
        <p:nvSpPr>
          <p:cNvPr id="21" name="Text 19"/>
          <p:cNvSpPr txBox="1"/>
          <p:nvPr/>
        </p:nvSpPr>
        <p:spPr>
          <a:xfrm>
            <a:off x="7178040" y="2724912"/>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Guideline retrieval</a:t>
            </a:r>
            <a:endParaRPr lang="en-US" sz="950" dirty="0"/>
          </a:p>
        </p:txBody>
      </p:sp>
      <p:sp>
        <p:nvSpPr>
          <p:cNvPr id="22" name="Text 20"/>
          <p:cNvSpPr txBox="1"/>
          <p:nvPr/>
        </p:nvSpPr>
        <p:spPr>
          <a:xfrm>
            <a:off x="8778240" y="2724912"/>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a managed retrieval service over a versioned corpus</a:t>
            </a:r>
            <a:endParaRPr lang="en-US" sz="900" dirty="0"/>
          </a:p>
        </p:txBody>
      </p:sp>
      <p:sp>
        <p:nvSpPr>
          <p:cNvPr id="23" name="Shape 21"/>
          <p:cNvSpPr/>
          <p:nvPr/>
        </p:nvSpPr>
        <p:spPr>
          <a:xfrm>
            <a:off x="7178040" y="3136392"/>
            <a:ext cx="4297680" cy="0"/>
          </a:xfrm>
          <a:prstGeom prst="line">
            <a:avLst/>
          </a:prstGeom>
          <a:noFill/>
          <a:ln w="6350">
            <a:solidFill>
              <a:srgbClr val="DADCE0"/>
            </a:solidFill>
            <a:prstDash val="solid"/>
          </a:ln>
        </p:spPr>
      </p:sp>
      <p:sp>
        <p:nvSpPr>
          <p:cNvPr id="24" name="Text 22"/>
          <p:cNvSpPr txBox="1"/>
          <p:nvPr/>
        </p:nvSpPr>
        <p:spPr>
          <a:xfrm>
            <a:off x="7178040" y="3163824"/>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Risk model</a:t>
            </a:r>
            <a:endParaRPr lang="en-US" sz="950" dirty="0"/>
          </a:p>
        </p:txBody>
      </p:sp>
      <p:sp>
        <p:nvSpPr>
          <p:cNvPr id="25" name="Text 23"/>
          <p:cNvSpPr txBox="1"/>
          <p:nvPr/>
        </p:nvSpPr>
        <p:spPr>
          <a:xfrm>
            <a:off x="8778240" y="3163824"/>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in-warehouse training; an online endpoint for scoring</a:t>
            </a:r>
            <a:endParaRPr lang="en-US" sz="900" dirty="0"/>
          </a:p>
        </p:txBody>
      </p:sp>
      <p:sp>
        <p:nvSpPr>
          <p:cNvPr id="26" name="Shape 24"/>
          <p:cNvSpPr/>
          <p:nvPr/>
        </p:nvSpPr>
        <p:spPr>
          <a:xfrm>
            <a:off x="7178040" y="3575304"/>
            <a:ext cx="4297680" cy="0"/>
          </a:xfrm>
          <a:prstGeom prst="line">
            <a:avLst/>
          </a:prstGeom>
          <a:noFill/>
          <a:ln w="6350">
            <a:solidFill>
              <a:srgbClr val="DADCE0"/>
            </a:solidFill>
            <a:prstDash val="solid"/>
          </a:ln>
        </p:spPr>
      </p:sp>
      <p:sp>
        <p:nvSpPr>
          <p:cNvPr id="27" name="Text 25"/>
          <p:cNvSpPr txBox="1"/>
          <p:nvPr/>
        </p:nvSpPr>
        <p:spPr>
          <a:xfrm>
            <a:off x="7178040" y="3602736"/>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Agents</a:t>
            </a:r>
            <a:endParaRPr lang="en-US" sz="950" dirty="0"/>
          </a:p>
        </p:txBody>
      </p:sp>
      <p:sp>
        <p:nvSpPr>
          <p:cNvPr id="28" name="Text 26"/>
          <p:cNvSpPr txBox="1"/>
          <p:nvPr/>
        </p:nvSpPr>
        <p:spPr>
          <a:xfrm>
            <a:off x="8778240" y="3602736"/>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the same supervisor and specialists on a managed runtime, in country</a:t>
            </a:r>
            <a:endParaRPr lang="en-US" sz="900" dirty="0"/>
          </a:p>
        </p:txBody>
      </p:sp>
      <p:sp>
        <p:nvSpPr>
          <p:cNvPr id="29" name="Shape 27"/>
          <p:cNvSpPr/>
          <p:nvPr/>
        </p:nvSpPr>
        <p:spPr>
          <a:xfrm>
            <a:off x="7178040" y="4014216"/>
            <a:ext cx="4297680" cy="0"/>
          </a:xfrm>
          <a:prstGeom prst="line">
            <a:avLst/>
          </a:prstGeom>
          <a:noFill/>
          <a:ln w="6350">
            <a:solidFill>
              <a:srgbClr val="DADCE0"/>
            </a:solidFill>
            <a:prstDash val="solid"/>
          </a:ln>
        </p:spPr>
      </p:sp>
      <p:sp>
        <p:nvSpPr>
          <p:cNvPr id="30" name="Text 28"/>
          <p:cNvSpPr txBox="1"/>
          <p:nvPr/>
        </p:nvSpPr>
        <p:spPr>
          <a:xfrm>
            <a:off x="7178040" y="4041648"/>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Population-health MCP</a:t>
            </a:r>
            <a:endParaRPr lang="en-US" sz="950" dirty="0"/>
          </a:p>
        </p:txBody>
      </p:sp>
      <p:sp>
        <p:nvSpPr>
          <p:cNvPr id="31" name="Text 29"/>
          <p:cNvSpPr txBox="1"/>
          <p:nvPr/>
        </p:nvSpPr>
        <p:spPr>
          <a:xfrm>
            <a:off x="8778240" y="4041648"/>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a small service beside the platform's own MCP tools</a:t>
            </a:r>
            <a:endParaRPr lang="en-US" sz="900" dirty="0"/>
          </a:p>
        </p:txBody>
      </p:sp>
      <p:sp>
        <p:nvSpPr>
          <p:cNvPr id="32" name="Shape 30"/>
          <p:cNvSpPr/>
          <p:nvPr/>
        </p:nvSpPr>
        <p:spPr>
          <a:xfrm>
            <a:off x="7178040" y="4453128"/>
            <a:ext cx="4297680" cy="0"/>
          </a:xfrm>
          <a:prstGeom prst="line">
            <a:avLst/>
          </a:prstGeom>
          <a:noFill/>
          <a:ln w="6350">
            <a:solidFill>
              <a:srgbClr val="DADCE0"/>
            </a:solidFill>
            <a:prstDash val="solid"/>
          </a:ln>
        </p:spPr>
      </p:sp>
      <p:sp>
        <p:nvSpPr>
          <p:cNvPr id="33" name="Text 31"/>
          <p:cNvSpPr txBox="1"/>
          <p:nvPr/>
        </p:nvSpPr>
        <p:spPr>
          <a:xfrm>
            <a:off x="7178040" y="4480560"/>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Approval queue</a:t>
            </a:r>
            <a:endParaRPr lang="en-US" sz="950" dirty="0"/>
          </a:p>
        </p:txBody>
      </p:sp>
      <p:sp>
        <p:nvSpPr>
          <p:cNvPr id="34" name="Text 32"/>
          <p:cNvSpPr txBox="1"/>
          <p:nvPr/>
        </p:nvSpPr>
        <p:spPr>
          <a:xfrm>
            <a:off x="8778240" y="4480560"/>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a managed database; signed items written back as FHIR Tasks</a:t>
            </a:r>
            <a:endParaRPr lang="en-US" sz="900" dirty="0"/>
          </a:p>
        </p:txBody>
      </p:sp>
      <p:sp>
        <p:nvSpPr>
          <p:cNvPr id="35" name="Shape 33"/>
          <p:cNvSpPr/>
          <p:nvPr/>
        </p:nvSpPr>
        <p:spPr>
          <a:xfrm>
            <a:off x="7178040" y="4892040"/>
            <a:ext cx="4297680" cy="0"/>
          </a:xfrm>
          <a:prstGeom prst="line">
            <a:avLst/>
          </a:prstGeom>
          <a:noFill/>
          <a:ln w="6350">
            <a:solidFill>
              <a:srgbClr val="DADCE0"/>
            </a:solidFill>
            <a:prstDash val="solid"/>
          </a:ln>
        </p:spPr>
      </p:sp>
      <p:sp>
        <p:nvSpPr>
          <p:cNvPr id="36" name="Text 34"/>
          <p:cNvSpPr txBox="1"/>
          <p:nvPr/>
        </p:nvSpPr>
        <p:spPr>
          <a:xfrm>
            <a:off x="7178040" y="4919472"/>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Voice</a:t>
            </a:r>
            <a:endParaRPr lang="en-US" sz="950" dirty="0"/>
          </a:p>
        </p:txBody>
      </p:sp>
      <p:sp>
        <p:nvSpPr>
          <p:cNvPr id="37" name="Text 35"/>
          <p:cNvSpPr txBox="1"/>
          <p:nvPr/>
        </p:nvSpPr>
        <p:spPr>
          <a:xfrm>
            <a:off x="8778240" y="4919472"/>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managed speech-to-text and text-to-speech, Arabic and English</a:t>
            </a:r>
            <a:endParaRPr lang="en-US" sz="900" dirty="0"/>
          </a:p>
        </p:txBody>
      </p:sp>
      <p:sp>
        <p:nvSpPr>
          <p:cNvPr id="38" name="Shape 36"/>
          <p:cNvSpPr/>
          <p:nvPr/>
        </p:nvSpPr>
        <p:spPr>
          <a:xfrm>
            <a:off x="7178040" y="5330952"/>
            <a:ext cx="4297680" cy="0"/>
          </a:xfrm>
          <a:prstGeom prst="line">
            <a:avLst/>
          </a:prstGeom>
          <a:noFill/>
          <a:ln w="6350">
            <a:solidFill>
              <a:srgbClr val="DADCE0"/>
            </a:solidFill>
            <a:prstDash val="solid"/>
          </a:ln>
        </p:spPr>
      </p:sp>
      <p:sp>
        <p:nvSpPr>
          <p:cNvPr id="39" name="Text 37"/>
          <p:cNvSpPr txBox="1"/>
          <p:nvPr/>
        </p:nvSpPr>
        <p:spPr>
          <a:xfrm>
            <a:off x="7178040" y="5358384"/>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Evaluation</a:t>
            </a:r>
            <a:endParaRPr lang="en-US" sz="950" dirty="0"/>
          </a:p>
        </p:txBody>
      </p:sp>
      <p:sp>
        <p:nvSpPr>
          <p:cNvPr id="40" name="Text 38"/>
          <p:cNvSpPr txBox="1"/>
          <p:nvPr/>
        </p:nvSpPr>
        <p:spPr>
          <a:xfrm>
            <a:off x="8778240" y="5358384"/>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the evalset in the release pipeline with a stronger model as judge</a:t>
            </a:r>
            <a:endParaRPr lang="en-US" sz="900" dirty="0"/>
          </a:p>
        </p:txBody>
      </p:sp>
      <p:sp>
        <p:nvSpPr>
          <p:cNvPr id="41" name="Text 39"/>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Agentic population health for a national diabetes registry</a:t>
            </a:r>
            <a:endParaRPr lang="en-US" sz="850" dirty="0"/>
          </a:p>
        </p:txBody>
      </p:sp>
      <p:sp>
        <p:nvSpPr>
          <p:cNvPr id="42" name="Text 40"/>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Nabd: agentic population health for a national diabetes registry</dc:title>
  <dc:subject>PptxGenJS Presentation</dc:subject>
  <dc:creator>Raed Aldweik</dc:creator>
  <cp:lastModifiedBy>Raed Aldweik</cp:lastModifiedBy>
  <cp:revision>1</cp:revision>
  <dcterms:created xsi:type="dcterms:W3CDTF">2026-09-10T04:43:06Z</dcterms:created>
  <dcterms:modified xsi:type="dcterms:W3CDTF">2026-09-10T04:43:06Z</dcterms:modified>
</cp:coreProperties>
</file>