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customer, not the product. "MOPH already has a diabetes registry and a predictive program. What I want to show is the next step: letting any clinician or director ask the exchange a question and get an answer that is grounded, governed and actionable." Then set expectations: 8 slides, then 20 minutes in the live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on three numbers, then move quickly to the three pains — those are the customer's words, not ours. The key line: "the registry can describe the population; it cannot yet tell a nurse who to call this morning." That sentence is the gap the rest of the deck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 respect what you built" slide. Stage 1 and 2 are literally what the panel saw in the SAS program: patient summary, prediction, risk profiles, visit forecasts. Stage 3 is the proposal. Stress "nothing is thrown away": the models and the registry become tools the agent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tile to something the panel saw in the SAS program so it feels like continuity. Then the right column is the answer to "is this AI garbage?": four rules, all enforced in code, all visible in the demo (trace, citations, queue,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once: question → supervisor → specialists → tools → evidence. Pre-empt "why five agents": least privilege, independent evaluation, cheaper per question — measured in the evaluation tab. Mention that the MCP specialist is the reveal for later: Google ships MCP servers to read FHIR and query BigQuery, but none that reasons about a population; we built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the SAS build honestly: this is where the pattern was proven — an orchestrating agent, guideline grounding, an MCP server exposing SQL, models, decision flows and charts. Then the pivot sentence for the next slide: "the pattern is right; the question for MOPH is which platform runs it at national scale, in Doha, with managed services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like Google's own reference: ingestion on the left (Healthcare API → BigQuery; guidelines → RAG Engine; Vertex trains and serves the risk model), serving on the right (Cloud Run app, the ADK agent on Gemini, the four tool families, the human queue, FHIR write-back). Two Doha-specific decisions to name if asked: Gemini is served from the global endpoint, acceptable because the agent only ever sees pseudonymised aggregates; and the agent runtime is Cloud Run in Doha until Agent Engine reaches me-central1. Both are architecture decisions, not accidents.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deck by making the demo the proof: three acts, twenty minutes, and the sentence "every number is computed live by a tool; nothing is a slide." Then switch to the browser. If time is short, phase 3 can be one sentence: "national scale is the same contracts on more managed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82880" cy="182880"/>
          </a:xfrm>
          <a:prstGeom prst="ellipse">
            <a:avLst/>
          </a:prstGeom>
          <a:solidFill>
            <a:srgbClr val="4285F4"/>
          </a:solidFill>
          <a:ln w="12700">
            <a:solidFill>
              <a:srgbClr val="4285F4"/>
            </a:solidFill>
            <a:prstDash val="solid"/>
          </a:ln>
        </p:spPr>
      </p:sp>
      <p:sp>
        <p:nvSpPr>
          <p:cNvPr id="3" name="Shape 1"/>
          <p:cNvSpPr/>
          <p:nvPr/>
        </p:nvSpPr>
        <p:spPr>
          <a:xfrm>
            <a:off x="822960" y="566928"/>
            <a:ext cx="182880" cy="182880"/>
          </a:xfrm>
          <a:prstGeom prst="ellipse">
            <a:avLst/>
          </a:prstGeom>
          <a:solidFill>
            <a:srgbClr val="EA4335"/>
          </a:solidFill>
          <a:ln w="12700">
            <a:solidFill>
              <a:srgbClr val="EA4335"/>
            </a:solidFill>
            <a:prstDash val="solid"/>
          </a:ln>
        </p:spPr>
      </p:sp>
      <p:sp>
        <p:nvSpPr>
          <p:cNvPr id="4" name="Shape 2"/>
          <p:cNvSpPr/>
          <p:nvPr/>
        </p:nvSpPr>
        <p:spPr>
          <a:xfrm>
            <a:off x="1097280" y="566928"/>
            <a:ext cx="182880" cy="182880"/>
          </a:xfrm>
          <a:prstGeom prst="ellipse">
            <a:avLst/>
          </a:prstGeom>
          <a:solidFill>
            <a:srgbClr val="FBBC04"/>
          </a:solidFill>
          <a:ln w="12700">
            <a:solidFill>
              <a:srgbClr val="FBBC04"/>
            </a:solidFill>
            <a:prstDash val="solid"/>
          </a:ln>
        </p:spPr>
      </p:sp>
      <p:sp>
        <p:nvSpPr>
          <p:cNvPr id="5" name="Shape 3"/>
          <p:cNvSpPr/>
          <p:nvPr/>
        </p:nvSpPr>
        <p:spPr>
          <a:xfrm>
            <a:off x="1371600" y="566928"/>
            <a:ext cx="182880" cy="182880"/>
          </a:xfrm>
          <a:prstGeom prst="ellipse">
            <a:avLst/>
          </a:prstGeom>
          <a:solidFill>
            <a:srgbClr val="34A853"/>
          </a:solidFill>
          <a:ln w="12700">
            <a:solidFill>
              <a:srgbClr val="34A853"/>
            </a:solidFill>
            <a:prstDash val="solid"/>
          </a:ln>
        </p:spPr>
      </p:sp>
      <p:sp>
        <p:nvSpPr>
          <p:cNvPr id="6" name="Text 4"/>
          <p:cNvSpPr txBox="1"/>
          <p:nvPr/>
        </p:nvSpPr>
        <p:spPr>
          <a:xfrm>
            <a:off x="1691640" y="548640"/>
            <a:ext cx="7315200" cy="274320"/>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Google Cloud  ·  Customer Engineering</a:t>
            </a:r>
            <a:endParaRPr lang="en-US" sz="1100" dirty="0"/>
          </a:p>
        </p:txBody>
      </p:sp>
      <p:sp>
        <p:nvSpPr>
          <p:cNvPr id="7" name="Text 5"/>
          <p:cNvSpPr txBox="1"/>
          <p:nvPr/>
        </p:nvSpPr>
        <p:spPr>
          <a:xfrm>
            <a:off x="548640" y="1737360"/>
            <a:ext cx="5486400" cy="914400"/>
          </a:xfrm>
          <a:prstGeom prst="rect">
            <a:avLst/>
          </a:prstGeom>
          <a:noFill/>
          <a:ln/>
        </p:spPr>
        <p:txBody>
          <a:bodyPr wrap="square" lIns="0" tIns="0" rIns="0" bIns="0" rtlCol="0" anchor="t"/>
          <a:lstStyle/>
          <a:p>
            <a:pPr indent="0" marL="0">
              <a:buNone/>
            </a:pPr>
            <a:r>
              <a:rPr lang="en-US" sz="5400" b="1" dirty="0">
                <a:solidFill>
                  <a:srgbClr val="202124"/>
                </a:solidFill>
                <a:latin typeface="Arial" pitchFamily="34" charset="0"/>
                <a:ea typeface="Arial" pitchFamily="34" charset="-122"/>
                <a:cs typeface="Arial" pitchFamily="34" charset="-120"/>
              </a:rPr>
              <a:t>Nabd</a:t>
            </a:r>
            <a:endParaRPr lang="en-US" sz="5400" dirty="0"/>
          </a:p>
        </p:txBody>
      </p:sp>
      <p:sp>
        <p:nvSpPr>
          <p:cNvPr id="8" name="Text 6"/>
          <p:cNvSpPr txBox="1"/>
          <p:nvPr/>
        </p:nvSpPr>
        <p:spPr>
          <a:xfrm>
            <a:off x="2331720" y="1810512"/>
            <a:ext cx="2743200" cy="914400"/>
          </a:xfrm>
          <a:prstGeom prst="rect">
            <a:avLst/>
          </a:prstGeom>
          <a:noFill/>
          <a:ln/>
        </p:spPr>
        <p:txBody>
          <a:bodyPr wrap="square" lIns="0" tIns="0" rIns="0" bIns="0" rtlCol="0" anchor="t"/>
          <a:lstStyle/>
          <a:p>
            <a:pPr indent="0" marL="0">
              <a:buNone/>
            </a:pPr>
            <a:r>
              <a:rPr lang="en-US" sz="4400" dirty="0">
                <a:solidFill>
                  <a:srgbClr val="1A73E8"/>
                </a:solidFill>
                <a:latin typeface="Arial" pitchFamily="34" charset="0"/>
                <a:ea typeface="Arial" pitchFamily="34" charset="-122"/>
                <a:cs typeface="Arial" pitchFamily="34" charset="-120"/>
              </a:rPr>
              <a:t>نبض</a:t>
            </a:r>
            <a:endParaRPr lang="en-US" sz="4400" dirty="0"/>
          </a:p>
        </p:txBody>
      </p:sp>
      <p:sp>
        <p:nvSpPr>
          <p:cNvPr id="9" name="Text 7"/>
          <p:cNvSpPr txBox="1"/>
          <p:nvPr/>
        </p:nvSpPr>
        <p:spPr>
          <a:xfrm>
            <a:off x="548640" y="2743200"/>
            <a:ext cx="8229600" cy="1463040"/>
          </a:xfrm>
          <a:prstGeom prst="rect">
            <a:avLst/>
          </a:prstGeom>
          <a:noFill/>
          <a:ln/>
        </p:spPr>
        <p:txBody>
          <a:bodyPr wrap="square" lIns="0" tIns="0" rIns="0" bIns="0" rtlCol="0" anchor="t"/>
          <a:lstStyle/>
          <a:p>
            <a:pPr indent="0" marL="0">
              <a:lnSpc>
                <a:spcPct val="105000"/>
              </a:lnSpc>
              <a:buNone/>
            </a:pPr>
            <a:r>
              <a:rPr lang="en-US" sz="3400" b="1" dirty="0">
                <a:solidFill>
                  <a:srgbClr val="202124"/>
                </a:solidFill>
                <a:latin typeface="Arial" pitchFamily="34" charset="0"/>
                <a:ea typeface="Arial" pitchFamily="34" charset="-122"/>
                <a:cs typeface="Arial" pitchFamily="34" charset="-120"/>
              </a:rPr>
              <a:t>Diabetes population health,</a:t>
            </a:r>
            <a:endParaRPr lang="en-US" sz="3400" dirty="0"/>
          </a:p>
          <a:p>
            <a:pPr indent="0" marL="0">
              <a:lnSpc>
                <a:spcPct val="105000"/>
              </a:lnSpc>
              <a:buNone/>
            </a:pPr>
            <a:r>
              <a:rPr lang="en-US" sz="3400" b="1" dirty="0">
                <a:solidFill>
                  <a:srgbClr val="202124"/>
                </a:solidFill>
                <a:latin typeface="Arial" pitchFamily="34" charset="0"/>
                <a:ea typeface="Arial" pitchFamily="34" charset="-122"/>
                <a:cs typeface="Arial" pitchFamily="34" charset="-120"/>
              </a:rPr>
              <a:t>made intelligible.</a:t>
            </a:r>
            <a:endParaRPr lang="en-US" sz="3400" dirty="0"/>
          </a:p>
        </p:txBody>
      </p:sp>
      <p:sp>
        <p:nvSpPr>
          <p:cNvPr id="10" name="Text 8"/>
          <p:cNvSpPr txBox="1"/>
          <p:nvPr/>
        </p:nvSpPr>
        <p:spPr>
          <a:xfrm>
            <a:off x="548640" y="4343400"/>
            <a:ext cx="7863840" cy="640080"/>
          </a:xfrm>
          <a:prstGeom prst="rect">
            <a:avLst/>
          </a:prstGeom>
          <a:noFill/>
          <a:ln/>
        </p:spPr>
        <p:txBody>
          <a:bodyPr wrap="square" lIns="0" tIns="0" rIns="0" bIns="0" rtlCol="0" anchor="t"/>
          <a:lstStyle/>
          <a:p>
            <a:pPr indent="0" marL="0">
              <a:lnSpc>
                <a:spcPct val="115000"/>
              </a:lnSpc>
              <a:buNone/>
            </a:pPr>
            <a:r>
              <a:rPr lang="en-US" sz="1500" dirty="0">
                <a:solidFill>
                  <a:srgbClr val="5F6368"/>
                </a:solidFill>
                <a:latin typeface="Arial" pitchFamily="34" charset="0"/>
                <a:ea typeface="Arial" pitchFamily="34" charset="-122"/>
                <a:cs typeface="Arial" pitchFamily="34" charset="-120"/>
              </a:rPr>
              <a:t>From the diabetes registry to agentic AI on Google Cloud — a proposal for the Ministry of Public Health, Qatar</a:t>
            </a:r>
            <a:endParaRPr lang="en-US" sz="1500" dirty="0"/>
          </a:p>
        </p:txBody>
      </p:sp>
      <p:sp>
        <p:nvSpPr>
          <p:cNvPr id="11" name="Text 9"/>
          <p:cNvSpPr txBox="1"/>
          <p:nvPr/>
        </p:nvSpPr>
        <p:spPr>
          <a:xfrm>
            <a:off x="548640" y="5989320"/>
            <a:ext cx="7315200" cy="274320"/>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Raed Aldweik  ·  AI Customer Engineer  ·  September 2026</a:t>
            </a:r>
            <a:endParaRPr lang="en-US" sz="1100" dirty="0"/>
          </a:p>
        </p:txBody>
      </p:sp>
      <p:sp>
        <p:nvSpPr>
          <p:cNvPr id="12" name="Shape 10"/>
          <p:cNvSpPr/>
          <p:nvPr/>
        </p:nvSpPr>
        <p:spPr>
          <a:xfrm>
            <a:off x="9326880" y="2011680"/>
            <a:ext cx="1737360" cy="1737360"/>
          </a:xfrm>
          <a:prstGeom prst="ellipse">
            <a:avLst/>
          </a:prstGeom>
          <a:solidFill>
            <a:srgbClr val="4285F4">
              <a:alpha val="88000"/>
            </a:srgbClr>
          </a:solidFill>
          <a:ln w="12700">
            <a:solidFill>
              <a:srgbClr val="4285F4"/>
            </a:solidFill>
            <a:prstDash val="solid"/>
          </a:ln>
        </p:spPr>
      </p:sp>
      <p:sp>
        <p:nvSpPr>
          <p:cNvPr id="13" name="Shape 11"/>
          <p:cNvSpPr/>
          <p:nvPr/>
        </p:nvSpPr>
        <p:spPr>
          <a:xfrm>
            <a:off x="10561320" y="3246120"/>
            <a:ext cx="1143000" cy="1143000"/>
          </a:xfrm>
          <a:prstGeom prst="ellipse">
            <a:avLst/>
          </a:prstGeom>
          <a:solidFill>
            <a:srgbClr val="EA4335">
              <a:alpha val="88000"/>
            </a:srgbClr>
          </a:solidFill>
          <a:ln w="12700">
            <a:solidFill>
              <a:srgbClr val="EA4335"/>
            </a:solidFill>
            <a:prstDash val="solid"/>
          </a:ln>
        </p:spPr>
      </p:sp>
      <p:sp>
        <p:nvSpPr>
          <p:cNvPr id="14" name="Shape 12"/>
          <p:cNvSpPr/>
          <p:nvPr/>
        </p:nvSpPr>
        <p:spPr>
          <a:xfrm>
            <a:off x="8732520" y="3703320"/>
            <a:ext cx="914400" cy="914400"/>
          </a:xfrm>
          <a:prstGeom prst="ellipse">
            <a:avLst/>
          </a:prstGeom>
          <a:solidFill>
            <a:srgbClr val="FBBC04">
              <a:alpha val="88000"/>
            </a:srgbClr>
          </a:solidFill>
          <a:ln w="12700">
            <a:solidFill>
              <a:srgbClr val="FBBC04"/>
            </a:solidFill>
            <a:prstDash val="solid"/>
          </a:ln>
        </p:spPr>
      </p:sp>
      <p:sp>
        <p:nvSpPr>
          <p:cNvPr id="15" name="Shape 13"/>
          <p:cNvSpPr/>
          <p:nvPr/>
        </p:nvSpPr>
        <p:spPr>
          <a:xfrm>
            <a:off x="9829800" y="4297680"/>
            <a:ext cx="1417320" cy="1417320"/>
          </a:xfrm>
          <a:prstGeom prst="ellipse">
            <a:avLst/>
          </a:prstGeom>
          <a:solidFill>
            <a:srgbClr val="34A853">
              <a:alpha val="88000"/>
            </a:srgbClr>
          </a:solidFill>
          <a:ln w="12700">
            <a:solidFill>
              <a:srgbClr val="34A85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Qatar carries one of the world's heaviest diabetes burdens — and the system still sees it one patient at a time.</a:t>
            </a:r>
            <a:endParaRPr lang="en-US" sz="2600" dirty="0"/>
          </a:p>
        </p:txBody>
      </p:sp>
      <p:sp>
        <p:nvSpPr>
          <p:cNvPr id="3" name="Shape 1"/>
          <p:cNvSpPr/>
          <p:nvPr/>
        </p:nvSpPr>
        <p:spPr>
          <a:xfrm>
            <a:off x="548640" y="1600200"/>
            <a:ext cx="3566160" cy="1417320"/>
          </a:xfrm>
          <a:prstGeom prst="roundRect">
            <a:avLst>
              <a:gd name="adj" fmla="val 5161"/>
            </a:avLst>
          </a:prstGeom>
          <a:solidFill>
            <a:srgbClr val="F8F9FA"/>
          </a:solidFill>
          <a:ln w="12700">
            <a:solidFill>
              <a:srgbClr val="F8F9FA"/>
            </a:solidFill>
            <a:prstDash val="solid"/>
          </a:ln>
        </p:spPr>
      </p:sp>
      <p:sp>
        <p:nvSpPr>
          <p:cNvPr id="4" name="Text 2"/>
          <p:cNvSpPr txBox="1"/>
          <p:nvPr/>
        </p:nvSpPr>
        <p:spPr>
          <a:xfrm>
            <a:off x="777240" y="1737360"/>
            <a:ext cx="3200400" cy="594360"/>
          </a:xfrm>
          <a:prstGeom prst="rect">
            <a:avLst/>
          </a:prstGeom>
          <a:noFill/>
          <a:ln/>
        </p:spPr>
        <p:txBody>
          <a:bodyPr wrap="square" lIns="0" tIns="0" rIns="0" bIns="0" rtlCol="0" anchor="ctr"/>
          <a:lstStyle/>
          <a:p>
            <a:pPr indent="0" marL="0">
              <a:buNone/>
            </a:pPr>
            <a:r>
              <a:rPr lang="en-US" sz="3400" b="1" dirty="0">
                <a:solidFill>
                  <a:srgbClr val="4285F4"/>
                </a:solidFill>
                <a:latin typeface="Arial" pitchFamily="34" charset="0"/>
                <a:ea typeface="Arial" pitchFamily="34" charset="-122"/>
                <a:cs typeface="Arial" pitchFamily="34" charset="-120"/>
              </a:rPr>
              <a:t>Top 5</a:t>
            </a:r>
            <a:endParaRPr lang="en-US" sz="3400" dirty="0"/>
          </a:p>
        </p:txBody>
      </p:sp>
      <p:sp>
        <p:nvSpPr>
          <p:cNvPr id="5" name="Text 3"/>
          <p:cNvSpPr txBox="1"/>
          <p:nvPr/>
        </p:nvSpPr>
        <p:spPr>
          <a:xfrm>
            <a:off x="777240" y="2377440"/>
            <a:ext cx="3154680" cy="566928"/>
          </a:xfrm>
          <a:prstGeom prst="rect">
            <a:avLst/>
          </a:prstGeom>
          <a:noFill/>
          <a:ln/>
        </p:spPr>
        <p:txBody>
          <a:bodyPr wrap="square" lIns="0" tIns="0" rIns="0" bIns="0" rtlCol="0" anchor="t"/>
          <a:lstStyle/>
          <a:p>
            <a:pPr indent="0" marL="0">
              <a:lnSpc>
                <a:spcPct val="110000"/>
              </a:lnSpc>
              <a:buNone/>
            </a:pPr>
            <a:r>
              <a:rPr lang="en-US" sz="1050" dirty="0">
                <a:solidFill>
                  <a:srgbClr val="5F6368"/>
                </a:solidFill>
                <a:latin typeface="Arial" pitchFamily="34" charset="0"/>
                <a:ea typeface="Arial" pitchFamily="34" charset="-122"/>
                <a:cs typeface="Arial" pitchFamily="34" charset="-120"/>
              </a:rPr>
              <a:t>global diabetes prevalence among adults (IDF Diabetes Atlas)</a:t>
            </a:r>
            <a:endParaRPr lang="en-US" sz="1050" dirty="0"/>
          </a:p>
        </p:txBody>
      </p:sp>
      <p:sp>
        <p:nvSpPr>
          <p:cNvPr id="6" name="Shape 4"/>
          <p:cNvSpPr/>
          <p:nvPr/>
        </p:nvSpPr>
        <p:spPr>
          <a:xfrm>
            <a:off x="4297680" y="1600200"/>
            <a:ext cx="3566160" cy="1417320"/>
          </a:xfrm>
          <a:prstGeom prst="roundRect">
            <a:avLst>
              <a:gd name="adj" fmla="val 5161"/>
            </a:avLst>
          </a:prstGeom>
          <a:solidFill>
            <a:srgbClr val="F8F9FA"/>
          </a:solidFill>
          <a:ln w="12700">
            <a:solidFill>
              <a:srgbClr val="F8F9FA"/>
            </a:solidFill>
            <a:prstDash val="solid"/>
          </a:ln>
        </p:spPr>
      </p:sp>
      <p:sp>
        <p:nvSpPr>
          <p:cNvPr id="7" name="Text 5"/>
          <p:cNvSpPr txBox="1"/>
          <p:nvPr/>
        </p:nvSpPr>
        <p:spPr>
          <a:xfrm>
            <a:off x="4526280" y="1737360"/>
            <a:ext cx="3200400" cy="594360"/>
          </a:xfrm>
          <a:prstGeom prst="rect">
            <a:avLst/>
          </a:prstGeom>
          <a:noFill/>
          <a:ln/>
        </p:spPr>
        <p:txBody>
          <a:bodyPr wrap="square" lIns="0" tIns="0" rIns="0" bIns="0" rtlCol="0" anchor="ctr"/>
          <a:lstStyle/>
          <a:p>
            <a:pPr indent="0" marL="0">
              <a:buNone/>
            </a:pPr>
            <a:r>
              <a:rPr lang="en-US" sz="2600" b="1" dirty="0">
                <a:solidFill>
                  <a:srgbClr val="EA4335"/>
                </a:solidFill>
                <a:latin typeface="Arial" pitchFamily="34" charset="0"/>
                <a:ea typeface="Arial" pitchFamily="34" charset="-122"/>
                <a:cs typeface="Arial" pitchFamily="34" charset="-120"/>
              </a:rPr>
              <a:t>QR 1.8bn → 5bn</a:t>
            </a:r>
            <a:endParaRPr lang="en-US" sz="2600" dirty="0"/>
          </a:p>
        </p:txBody>
      </p:sp>
      <p:sp>
        <p:nvSpPr>
          <p:cNvPr id="8" name="Text 6"/>
          <p:cNvSpPr txBox="1"/>
          <p:nvPr/>
        </p:nvSpPr>
        <p:spPr>
          <a:xfrm>
            <a:off x="4526280" y="2377440"/>
            <a:ext cx="3154680" cy="566928"/>
          </a:xfrm>
          <a:prstGeom prst="rect">
            <a:avLst/>
          </a:prstGeom>
          <a:noFill/>
          <a:ln/>
        </p:spPr>
        <p:txBody>
          <a:bodyPr wrap="square" lIns="0" tIns="0" rIns="0" bIns="0" rtlCol="0" anchor="t"/>
          <a:lstStyle/>
          <a:p>
            <a:pPr indent="0" marL="0">
              <a:lnSpc>
                <a:spcPct val="110000"/>
              </a:lnSpc>
              <a:buNone/>
            </a:pPr>
            <a:r>
              <a:rPr lang="en-US" sz="1050" dirty="0">
                <a:solidFill>
                  <a:srgbClr val="5F6368"/>
                </a:solidFill>
                <a:latin typeface="Arial" pitchFamily="34" charset="0"/>
                <a:ea typeface="Arial" pitchFamily="34" charset="-122"/>
                <a:cs typeface="Arial" pitchFamily="34" charset="-120"/>
              </a:rPr>
              <a:t>annual cost of diabetes care, 2015 → 2035 projection (National Diabetes Strategy)</a:t>
            </a:r>
            <a:endParaRPr lang="en-US" sz="1050" dirty="0"/>
          </a:p>
        </p:txBody>
      </p:sp>
      <p:sp>
        <p:nvSpPr>
          <p:cNvPr id="9" name="Shape 7"/>
          <p:cNvSpPr/>
          <p:nvPr/>
        </p:nvSpPr>
        <p:spPr>
          <a:xfrm>
            <a:off x="8046720" y="1600200"/>
            <a:ext cx="3566160" cy="1417320"/>
          </a:xfrm>
          <a:prstGeom prst="roundRect">
            <a:avLst>
              <a:gd name="adj" fmla="val 5161"/>
            </a:avLst>
          </a:prstGeom>
          <a:solidFill>
            <a:srgbClr val="F8F9FA"/>
          </a:solidFill>
          <a:ln w="12700">
            <a:solidFill>
              <a:srgbClr val="F8F9FA"/>
            </a:solidFill>
            <a:prstDash val="solid"/>
          </a:ln>
        </p:spPr>
      </p:sp>
      <p:sp>
        <p:nvSpPr>
          <p:cNvPr id="10" name="Text 8"/>
          <p:cNvSpPr txBox="1"/>
          <p:nvPr/>
        </p:nvSpPr>
        <p:spPr>
          <a:xfrm>
            <a:off x="8275320" y="1737360"/>
            <a:ext cx="3200400" cy="594360"/>
          </a:xfrm>
          <a:prstGeom prst="rect">
            <a:avLst/>
          </a:prstGeom>
          <a:noFill/>
          <a:ln/>
        </p:spPr>
        <p:txBody>
          <a:bodyPr wrap="square" lIns="0" tIns="0" rIns="0" bIns="0" rtlCol="0" anchor="ctr"/>
          <a:lstStyle/>
          <a:p>
            <a:pPr indent="0" marL="0">
              <a:buNone/>
            </a:pPr>
            <a:r>
              <a:rPr lang="en-US" sz="3400" b="1" dirty="0">
                <a:solidFill>
                  <a:srgbClr val="FBBC04"/>
                </a:solidFill>
                <a:latin typeface="Arial" pitchFamily="34" charset="0"/>
                <a:ea typeface="Arial" pitchFamily="34" charset="-122"/>
                <a:cs typeface="Arial" pitchFamily="34" charset="-120"/>
              </a:rPr>
              <a:t>50%</a:t>
            </a:r>
            <a:endParaRPr lang="en-US" sz="3400" dirty="0"/>
          </a:p>
        </p:txBody>
      </p:sp>
      <p:sp>
        <p:nvSpPr>
          <p:cNvPr id="11" name="Text 9"/>
          <p:cNvSpPr txBox="1"/>
          <p:nvPr/>
        </p:nvSpPr>
        <p:spPr>
          <a:xfrm>
            <a:off x="8275320" y="2377440"/>
            <a:ext cx="3154680" cy="566928"/>
          </a:xfrm>
          <a:prstGeom prst="rect">
            <a:avLst/>
          </a:prstGeom>
          <a:noFill/>
          <a:ln/>
        </p:spPr>
        <p:txBody>
          <a:bodyPr wrap="square" lIns="0" tIns="0" rIns="0" bIns="0" rtlCol="0" anchor="t"/>
          <a:lstStyle/>
          <a:p>
            <a:pPr indent="0" marL="0">
              <a:lnSpc>
                <a:spcPct val="110000"/>
              </a:lnSpc>
              <a:buNone/>
            </a:pPr>
            <a:r>
              <a:rPr lang="en-US" sz="1050" dirty="0">
                <a:solidFill>
                  <a:srgbClr val="5F6368"/>
                </a:solidFill>
                <a:latin typeface="Arial" pitchFamily="34" charset="0"/>
                <a:ea typeface="Arial" pitchFamily="34" charset="-122"/>
                <a:cs typeface="Arial" pitchFamily="34" charset="-120"/>
              </a:rPr>
              <a:t>of all dialysis in Qatar is attributable to diabetes; ~70% of stroke patients have diabetes or pre-diabetes</a:t>
            </a:r>
            <a:endParaRPr lang="en-US" sz="1050" dirty="0"/>
          </a:p>
        </p:txBody>
      </p:sp>
      <p:sp>
        <p:nvSpPr>
          <p:cNvPr id="12" name="Text 10"/>
          <p:cNvSpPr txBox="1"/>
          <p:nvPr/>
        </p:nvSpPr>
        <p:spPr>
          <a:xfrm>
            <a:off x="548640" y="3337560"/>
            <a:ext cx="5486400" cy="201168"/>
          </a:xfrm>
          <a:prstGeom prst="rect">
            <a:avLst/>
          </a:prstGeom>
          <a:noFill/>
          <a:ln/>
        </p:spPr>
        <p:txBody>
          <a:bodyPr wrap="square" lIns="0" tIns="0" rIns="0" bIns="0" rtlCol="0" anchor="t"/>
          <a:lstStyle/>
          <a:p>
            <a:pPr indent="0" marL="0">
              <a:buNone/>
            </a:pPr>
            <a:r>
              <a:rPr lang="en-US" sz="850" b="1" spc="150" kern="0" dirty="0">
                <a:solidFill>
                  <a:srgbClr val="5F6368"/>
                </a:solidFill>
                <a:latin typeface="Arial" pitchFamily="34" charset="0"/>
                <a:ea typeface="Arial" pitchFamily="34" charset="-122"/>
                <a:cs typeface="Arial" pitchFamily="34" charset="-120"/>
              </a:rPr>
              <a:t>WHAT CLINICIANS AND THE MINISTRY TOLD US</a:t>
            </a:r>
            <a:endParaRPr lang="en-US" sz="850" dirty="0"/>
          </a:p>
        </p:txBody>
      </p:sp>
      <p:sp>
        <p:nvSpPr>
          <p:cNvPr id="13" name="Shape 11"/>
          <p:cNvSpPr/>
          <p:nvPr/>
        </p:nvSpPr>
        <p:spPr>
          <a:xfrm>
            <a:off x="548640" y="3657600"/>
            <a:ext cx="502920" cy="502920"/>
          </a:xfrm>
          <a:prstGeom prst="ellipse">
            <a:avLst/>
          </a:prstGeom>
          <a:solidFill>
            <a:srgbClr val="4285F4"/>
          </a:solidFill>
          <a:ln w="12700">
            <a:solidFill>
              <a:srgbClr val="4285F4"/>
            </a:solidFill>
            <a:prstDash val="solid"/>
          </a:ln>
        </p:spPr>
      </p:sp>
      <p:pic>
        <p:nvPicPr>
          <p:cNvPr id="14" name="Image 0" descr="preencoded.png">    </p:cNvPr>
          <p:cNvPicPr>
            <a:picLocks noChangeAspect="1"/>
          </p:cNvPicPr>
          <p:nvPr/>
        </p:nvPicPr>
        <p:blipFill>
          <a:blip r:embed="rId1"/>
          <a:stretch>
            <a:fillRect/>
          </a:stretch>
        </p:blipFill>
        <p:spPr>
          <a:xfrm>
            <a:off x="669341" y="3778301"/>
            <a:ext cx="261518" cy="261518"/>
          </a:xfrm>
          <a:prstGeom prst="rect">
            <a:avLst/>
          </a:prstGeom>
        </p:spPr>
      </p:pic>
      <p:sp>
        <p:nvSpPr>
          <p:cNvPr id="15" name="Text 12"/>
          <p:cNvSpPr txBox="1"/>
          <p:nvPr/>
        </p:nvSpPr>
        <p:spPr>
          <a:xfrm>
            <a:off x="1207008" y="3675888"/>
            <a:ext cx="2926080" cy="27432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The patient story is fragmented</a:t>
            </a:r>
            <a:endParaRPr lang="en-US" sz="1400" dirty="0"/>
          </a:p>
        </p:txBody>
      </p:sp>
      <p:sp>
        <p:nvSpPr>
          <p:cNvPr id="16" name="Text 13"/>
          <p:cNvSpPr txBox="1"/>
          <p:nvPr/>
        </p:nvSpPr>
        <p:spPr>
          <a:xfrm>
            <a:off x="548640" y="4315968"/>
            <a:ext cx="352044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18+ facilities, an HIE with eight relational tables, and guidelines in PDFs. A 360° view exists only after someone builds it.</a:t>
            </a:r>
            <a:endParaRPr lang="en-US" sz="1150" dirty="0"/>
          </a:p>
        </p:txBody>
      </p:sp>
      <p:sp>
        <p:nvSpPr>
          <p:cNvPr id="17" name="Shape 14"/>
          <p:cNvSpPr/>
          <p:nvPr/>
        </p:nvSpPr>
        <p:spPr>
          <a:xfrm>
            <a:off x="4297680" y="3657600"/>
            <a:ext cx="502920" cy="502920"/>
          </a:xfrm>
          <a:prstGeom prst="ellipse">
            <a:avLst/>
          </a:prstGeom>
          <a:solidFill>
            <a:srgbClr val="EA4335"/>
          </a:solidFill>
          <a:ln w="12700">
            <a:solidFill>
              <a:srgbClr val="EA4335"/>
            </a:solidFill>
            <a:prstDash val="solid"/>
          </a:ln>
        </p:spPr>
      </p:sp>
      <p:pic>
        <p:nvPicPr>
          <p:cNvPr id="18" name="Image 1" descr="preencoded.png">    </p:cNvPr>
          <p:cNvPicPr>
            <a:picLocks noChangeAspect="1"/>
          </p:cNvPicPr>
          <p:nvPr/>
        </p:nvPicPr>
        <p:blipFill>
          <a:blip r:embed="rId2"/>
          <a:stretch>
            <a:fillRect/>
          </a:stretch>
        </p:blipFill>
        <p:spPr>
          <a:xfrm>
            <a:off x="4418381" y="3778301"/>
            <a:ext cx="261518" cy="261518"/>
          </a:xfrm>
          <a:prstGeom prst="rect">
            <a:avLst/>
          </a:prstGeom>
        </p:spPr>
      </p:pic>
      <p:sp>
        <p:nvSpPr>
          <p:cNvPr id="19" name="Text 15"/>
          <p:cNvSpPr txBox="1"/>
          <p:nvPr/>
        </p:nvSpPr>
        <p:spPr>
          <a:xfrm>
            <a:off x="4956048" y="3675888"/>
            <a:ext cx="2926080" cy="27432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Care is reactive</a:t>
            </a:r>
            <a:endParaRPr lang="en-US" sz="1400" dirty="0"/>
          </a:p>
        </p:txBody>
      </p:sp>
      <p:sp>
        <p:nvSpPr>
          <p:cNvPr id="20" name="Text 16"/>
          <p:cNvSpPr txBox="1"/>
          <p:nvPr/>
        </p:nvSpPr>
        <p:spPr>
          <a:xfrm>
            <a:off x="4297680" y="4315968"/>
            <a:ext cx="352044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Risk is recognised at the admission, not before it. The registry can describe the population; it cannot yet tell a nurse who to call this morning.</a:t>
            </a:r>
            <a:endParaRPr lang="en-US" sz="1150" dirty="0"/>
          </a:p>
        </p:txBody>
      </p:sp>
      <p:sp>
        <p:nvSpPr>
          <p:cNvPr id="21" name="Shape 17"/>
          <p:cNvSpPr/>
          <p:nvPr/>
        </p:nvSpPr>
        <p:spPr>
          <a:xfrm>
            <a:off x="8046720" y="3657600"/>
            <a:ext cx="502920" cy="502920"/>
          </a:xfrm>
          <a:prstGeom prst="ellipse">
            <a:avLst/>
          </a:prstGeom>
          <a:solidFill>
            <a:srgbClr val="34A853"/>
          </a:solidFill>
          <a:ln w="12700">
            <a:solidFill>
              <a:srgbClr val="34A853"/>
            </a:solidFill>
            <a:prstDash val="solid"/>
          </a:ln>
        </p:spPr>
      </p:sp>
      <p:pic>
        <p:nvPicPr>
          <p:cNvPr id="22" name="Image 2" descr="preencoded.png">    </p:cNvPr>
          <p:cNvPicPr>
            <a:picLocks noChangeAspect="1"/>
          </p:cNvPicPr>
          <p:nvPr/>
        </p:nvPicPr>
        <p:blipFill>
          <a:blip r:embed="rId3"/>
          <a:stretch>
            <a:fillRect/>
          </a:stretch>
        </p:blipFill>
        <p:spPr>
          <a:xfrm>
            <a:off x="8167421" y="3778301"/>
            <a:ext cx="261518" cy="261518"/>
          </a:xfrm>
          <a:prstGeom prst="rect">
            <a:avLst/>
          </a:prstGeom>
        </p:spPr>
      </p:pic>
      <p:sp>
        <p:nvSpPr>
          <p:cNvPr id="23" name="Text 18"/>
          <p:cNvSpPr txBox="1"/>
          <p:nvPr/>
        </p:nvSpPr>
        <p:spPr>
          <a:xfrm>
            <a:off x="8705088" y="3675888"/>
            <a:ext cx="2926080" cy="27432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Insight is slow and rationed</a:t>
            </a:r>
            <a:endParaRPr lang="en-US" sz="1400" dirty="0"/>
          </a:p>
        </p:txBody>
      </p:sp>
      <p:sp>
        <p:nvSpPr>
          <p:cNvPr id="24" name="Text 19"/>
          <p:cNvSpPr txBox="1"/>
          <p:nvPr/>
        </p:nvSpPr>
        <p:spPr>
          <a:xfrm>
            <a:off x="8046720" y="4315968"/>
            <a:ext cx="352044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A director's question becomes an analyst's week. A clinician cannot ask at all. Dashboards answer the questions someone anticipated.</a:t>
            </a:r>
            <a:endParaRPr lang="en-US" sz="1150" dirty="0"/>
          </a:p>
        </p:txBody>
      </p:sp>
      <p:sp>
        <p:nvSpPr>
          <p:cNvPr id="25" name="Text 20"/>
          <p:cNvSpPr txBox="1"/>
          <p:nvPr/>
        </p:nvSpPr>
        <p:spPr>
          <a:xfrm>
            <a:off x="548640" y="6035040"/>
            <a:ext cx="10972800" cy="27432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Sources: IDF Diabetes Atlas country profile (Qatar); Qatar National Diabetes Strategy 2016–2022 and MOPH cost projections reported by Gulf Times.</a:t>
            </a:r>
            <a:endParaRPr lang="en-US" sz="850" dirty="0"/>
          </a:p>
        </p:txBody>
      </p:sp>
      <p:sp>
        <p:nvSpPr>
          <p:cNvPr id="26" name="Text 21"/>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Ministry of Public Health, Qatar · Google Cloud Customer Engineering</a:t>
            </a:r>
            <a:endParaRPr lang="en-US" sz="850" dirty="0"/>
          </a:p>
        </p:txBody>
      </p:sp>
      <p:sp>
        <p:nvSpPr>
          <p:cNvPr id="27" name="Text 22"/>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The journey MOPH is already on — and the step we propose</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Each stage keeps what the previous one built. Nothing is thrown away.</a:t>
            </a:r>
            <a:endParaRPr lang="en-US" sz="1300" dirty="0"/>
          </a:p>
        </p:txBody>
      </p:sp>
      <p:sp>
        <p:nvSpPr>
          <p:cNvPr id="4" name="Shape 2"/>
          <p:cNvSpPr/>
          <p:nvPr/>
        </p:nvSpPr>
        <p:spPr>
          <a:xfrm>
            <a:off x="548640" y="1783080"/>
            <a:ext cx="3566160" cy="3291840"/>
          </a:xfrm>
          <a:prstGeom prst="roundRect">
            <a:avLst>
              <a:gd name="adj" fmla="val 2222"/>
            </a:avLst>
          </a:prstGeom>
          <a:solidFill>
            <a:srgbClr val="F8F9FA"/>
          </a:solidFill>
          <a:ln w="12700">
            <a:solidFill>
              <a:srgbClr val="F8F9FA"/>
            </a:solidFill>
            <a:prstDash val="solid"/>
          </a:ln>
        </p:spPr>
      </p:sp>
      <p:sp>
        <p:nvSpPr>
          <p:cNvPr id="5" name="Shape 3"/>
          <p:cNvSpPr/>
          <p:nvPr/>
        </p:nvSpPr>
        <p:spPr>
          <a:xfrm>
            <a:off x="777240" y="2011680"/>
            <a:ext cx="548640" cy="548640"/>
          </a:xfrm>
          <a:prstGeom prst="ellipse">
            <a:avLst/>
          </a:prstGeom>
          <a:solidFill>
            <a:srgbClr val="4285F4"/>
          </a:solidFill>
          <a:ln w="12700">
            <a:solidFill>
              <a:srgbClr val="4285F4"/>
            </a:solidFill>
            <a:prstDash val="solid"/>
          </a:ln>
        </p:spPr>
      </p:sp>
      <p:pic>
        <p:nvPicPr>
          <p:cNvPr id="6" name="Image 0" descr="preencoded.png">    </p:cNvPr>
          <p:cNvPicPr>
            <a:picLocks noChangeAspect="1"/>
          </p:cNvPicPr>
          <p:nvPr/>
        </p:nvPicPr>
        <p:blipFill>
          <a:blip r:embed="rId1"/>
          <a:stretch>
            <a:fillRect/>
          </a:stretch>
        </p:blipFill>
        <p:spPr>
          <a:xfrm>
            <a:off x="908914" y="2143354"/>
            <a:ext cx="285293" cy="285293"/>
          </a:xfrm>
          <a:prstGeom prst="rect">
            <a:avLst/>
          </a:prstGeom>
        </p:spPr>
      </p:pic>
      <p:sp>
        <p:nvSpPr>
          <p:cNvPr id="7" name="Text 4"/>
          <p:cNvSpPr txBox="1"/>
          <p:nvPr/>
        </p:nvSpPr>
        <p:spPr>
          <a:xfrm>
            <a:off x="1463040" y="2011680"/>
            <a:ext cx="914400" cy="228600"/>
          </a:xfrm>
          <a:prstGeom prst="rect">
            <a:avLst/>
          </a:prstGeom>
          <a:noFill/>
          <a:ln/>
        </p:spPr>
        <p:txBody>
          <a:bodyPr wrap="square" lIns="0" tIns="0" rIns="0" bIns="0" rtlCol="0" anchor="t"/>
          <a:lstStyle/>
          <a:p>
            <a:pPr indent="0" marL="0">
              <a:buNone/>
            </a:pPr>
            <a:r>
              <a:rPr lang="en-US" sz="1000" b="1" spc="200" kern="0" dirty="0">
                <a:solidFill>
                  <a:srgbClr val="4285F4"/>
                </a:solidFill>
                <a:latin typeface="Arial" pitchFamily="34" charset="0"/>
                <a:ea typeface="Arial" pitchFamily="34" charset="-122"/>
                <a:cs typeface="Arial" pitchFamily="34" charset="-120"/>
              </a:rPr>
              <a:t>01</a:t>
            </a:r>
            <a:endParaRPr lang="en-US" sz="1000" dirty="0"/>
          </a:p>
        </p:txBody>
      </p:sp>
      <p:sp>
        <p:nvSpPr>
          <p:cNvPr id="8" name="Text 5"/>
          <p:cNvSpPr txBox="1"/>
          <p:nvPr/>
        </p:nvSpPr>
        <p:spPr>
          <a:xfrm>
            <a:off x="1463040" y="2212848"/>
            <a:ext cx="2468880" cy="365760"/>
          </a:xfrm>
          <a:prstGeom prst="rect">
            <a:avLst/>
          </a:prstGeom>
          <a:noFill/>
          <a:ln/>
        </p:spPr>
        <p:txBody>
          <a:bodyPr wrap="square" lIns="0" tIns="0" rIns="0" bIns="0" rtlCol="0" anchor="t"/>
          <a:lstStyle/>
          <a:p>
            <a:pPr indent="0" marL="0">
              <a:buNone/>
            </a:pPr>
            <a:r>
              <a:rPr lang="en-US" sz="1800" b="1" dirty="0">
                <a:solidFill>
                  <a:srgbClr val="202124"/>
                </a:solidFill>
                <a:latin typeface="Arial" pitchFamily="34" charset="0"/>
                <a:ea typeface="Arial" pitchFamily="34" charset="-122"/>
                <a:cs typeface="Arial" pitchFamily="34" charset="-120"/>
              </a:rPr>
              <a:t>Registry</a:t>
            </a:r>
            <a:endParaRPr lang="en-US" sz="1800" dirty="0"/>
          </a:p>
        </p:txBody>
      </p:sp>
      <p:sp>
        <p:nvSpPr>
          <p:cNvPr id="9" name="Text 6"/>
          <p:cNvSpPr txBox="1"/>
          <p:nvPr/>
        </p:nvSpPr>
        <p:spPr>
          <a:xfrm>
            <a:off x="777240" y="2743200"/>
            <a:ext cx="3108960" cy="274320"/>
          </a:xfrm>
          <a:prstGeom prst="rect">
            <a:avLst/>
          </a:prstGeom>
          <a:noFill/>
          <a:ln/>
        </p:spPr>
        <p:txBody>
          <a:bodyPr wrap="square" lIns="0" tIns="0" rIns="0" bIns="0" rtlCol="0" anchor="t"/>
          <a:lstStyle/>
          <a:p>
            <a:pPr indent="0" marL="0">
              <a:buNone/>
            </a:pPr>
            <a:r>
              <a:rPr lang="en-US" sz="1200" b="1" dirty="0">
                <a:solidFill>
                  <a:srgbClr val="4285F4"/>
                </a:solidFill>
                <a:latin typeface="Arial" pitchFamily="34" charset="0"/>
                <a:ea typeface="Arial" pitchFamily="34" charset="-122"/>
                <a:cs typeface="Arial" pitchFamily="34" charset="-120"/>
              </a:rPr>
              <a:t>Describe</a:t>
            </a:r>
            <a:endParaRPr lang="en-US" sz="1200" dirty="0"/>
          </a:p>
        </p:txBody>
      </p:sp>
      <p:sp>
        <p:nvSpPr>
          <p:cNvPr id="10" name="Text 7"/>
          <p:cNvSpPr txBox="1"/>
          <p:nvPr/>
        </p:nvSpPr>
        <p:spPr>
          <a:xfrm>
            <a:off x="777240" y="3063240"/>
            <a:ext cx="310896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Diabetic patient summary, geography of visits, cohorts by nationality and age — the North Carolina and Emirates Health Services pattern.</a:t>
            </a:r>
            <a:endParaRPr lang="en-US" sz="1150" dirty="0"/>
          </a:p>
        </p:txBody>
      </p:sp>
      <p:sp>
        <p:nvSpPr>
          <p:cNvPr id="11" name="Text 8"/>
          <p:cNvSpPr txBox="1"/>
          <p:nvPr/>
        </p:nvSpPr>
        <p:spPr>
          <a:xfrm>
            <a:off x="777240" y="4343400"/>
            <a:ext cx="3108960" cy="640080"/>
          </a:xfrm>
          <a:prstGeom prst="rect">
            <a:avLst/>
          </a:prstGeom>
          <a:noFill/>
          <a:ln/>
        </p:spPr>
        <p:txBody>
          <a:bodyPr wrap="square" lIns="0" tIns="0" rIns="0" bIns="0" rtlCol="0" anchor="t"/>
          <a:lstStyle/>
          <a:p>
            <a:pPr indent="0" marL="0">
              <a:lnSpc>
                <a:spcPct val="130000"/>
              </a:lnSpc>
              <a:buNone/>
            </a:pPr>
            <a:r>
              <a:rPr lang="en-US" sz="1050" dirty="0">
                <a:solidFill>
                  <a:srgbClr val="202124"/>
                </a:solidFill>
                <a:latin typeface="Arial" pitchFamily="34" charset="0"/>
                <a:ea typeface="Arial" pitchFamily="34" charset="-122"/>
                <a:cs typeface="Arial" pitchFamily="34" charset="-120"/>
              </a:rPr>
              <a:t>Who: analysts, planners</a:t>
            </a:r>
            <a:endParaRPr lang="en-US" sz="1050" dirty="0"/>
          </a:p>
          <a:p>
            <a:pPr indent="0" marL="0">
              <a:lnSpc>
                <a:spcPct val="130000"/>
              </a:lnSpc>
              <a:buNone/>
            </a:pPr>
            <a:r>
              <a:rPr lang="en-US" sz="1050" dirty="0">
                <a:solidFill>
                  <a:srgbClr val="202124"/>
                </a:solidFill>
                <a:latin typeface="Arial" pitchFamily="34" charset="0"/>
                <a:ea typeface="Arial" pitchFamily="34" charset="-122"/>
                <a:cs typeface="Arial" pitchFamily="34" charset="-120"/>
              </a:rPr>
              <a:t>Answers: how many, where, who</a:t>
            </a:r>
            <a:endParaRPr lang="en-US" sz="1050" dirty="0"/>
          </a:p>
        </p:txBody>
      </p:sp>
      <p:sp>
        <p:nvSpPr>
          <p:cNvPr id="12" name="Shape 9"/>
          <p:cNvSpPr/>
          <p:nvPr/>
        </p:nvSpPr>
        <p:spPr>
          <a:xfrm>
            <a:off x="4133088" y="3429000"/>
            <a:ext cx="146304" cy="0"/>
          </a:xfrm>
          <a:prstGeom prst="line">
            <a:avLst/>
          </a:prstGeom>
          <a:noFill/>
          <a:ln w="15875">
            <a:solidFill>
              <a:srgbClr val="5F6368"/>
            </a:solidFill>
            <a:prstDash val="solid"/>
            <a:tailEnd type="triangle"/>
          </a:ln>
        </p:spPr>
      </p:sp>
      <p:sp>
        <p:nvSpPr>
          <p:cNvPr id="13" name="Shape 10"/>
          <p:cNvSpPr/>
          <p:nvPr/>
        </p:nvSpPr>
        <p:spPr>
          <a:xfrm>
            <a:off x="4297680" y="1783080"/>
            <a:ext cx="3566160" cy="3291840"/>
          </a:xfrm>
          <a:prstGeom prst="roundRect">
            <a:avLst>
              <a:gd name="adj" fmla="val 2222"/>
            </a:avLst>
          </a:prstGeom>
          <a:solidFill>
            <a:srgbClr val="F8F9FA"/>
          </a:solidFill>
          <a:ln w="12700">
            <a:solidFill>
              <a:srgbClr val="F8F9FA"/>
            </a:solidFill>
            <a:prstDash val="solid"/>
          </a:ln>
        </p:spPr>
      </p:sp>
      <p:sp>
        <p:nvSpPr>
          <p:cNvPr id="14" name="Shape 11"/>
          <p:cNvSpPr/>
          <p:nvPr/>
        </p:nvSpPr>
        <p:spPr>
          <a:xfrm>
            <a:off x="4526280" y="2011680"/>
            <a:ext cx="548640" cy="548640"/>
          </a:xfrm>
          <a:prstGeom prst="ellipse">
            <a:avLst/>
          </a:prstGeom>
          <a:solidFill>
            <a:srgbClr val="FBBC04"/>
          </a:solidFill>
          <a:ln w="12700">
            <a:solidFill>
              <a:srgbClr val="FBBC04"/>
            </a:solidFill>
            <a:prstDash val="solid"/>
          </a:ln>
        </p:spPr>
      </p:sp>
      <p:pic>
        <p:nvPicPr>
          <p:cNvPr id="15" name="Image 1" descr="preencoded.png">    </p:cNvPr>
          <p:cNvPicPr>
            <a:picLocks noChangeAspect="1"/>
          </p:cNvPicPr>
          <p:nvPr/>
        </p:nvPicPr>
        <p:blipFill>
          <a:blip r:embed="rId2"/>
          <a:stretch>
            <a:fillRect/>
          </a:stretch>
        </p:blipFill>
        <p:spPr>
          <a:xfrm>
            <a:off x="4657954" y="2143354"/>
            <a:ext cx="285293" cy="285293"/>
          </a:xfrm>
          <a:prstGeom prst="rect">
            <a:avLst/>
          </a:prstGeom>
        </p:spPr>
      </p:pic>
      <p:sp>
        <p:nvSpPr>
          <p:cNvPr id="16" name="Text 12"/>
          <p:cNvSpPr txBox="1"/>
          <p:nvPr/>
        </p:nvSpPr>
        <p:spPr>
          <a:xfrm>
            <a:off x="5212080" y="2011680"/>
            <a:ext cx="914400" cy="228600"/>
          </a:xfrm>
          <a:prstGeom prst="rect">
            <a:avLst/>
          </a:prstGeom>
          <a:noFill/>
          <a:ln/>
        </p:spPr>
        <p:txBody>
          <a:bodyPr wrap="square" lIns="0" tIns="0" rIns="0" bIns="0" rtlCol="0" anchor="t"/>
          <a:lstStyle/>
          <a:p>
            <a:pPr indent="0" marL="0">
              <a:buNone/>
            </a:pPr>
            <a:r>
              <a:rPr lang="en-US" sz="1000" b="1" spc="200" kern="0" dirty="0">
                <a:solidFill>
                  <a:srgbClr val="FBBC04"/>
                </a:solidFill>
                <a:latin typeface="Arial" pitchFamily="34" charset="0"/>
                <a:ea typeface="Arial" pitchFamily="34" charset="-122"/>
                <a:cs typeface="Arial" pitchFamily="34" charset="-120"/>
              </a:rPr>
              <a:t>02</a:t>
            </a:r>
            <a:endParaRPr lang="en-US" sz="1000" dirty="0"/>
          </a:p>
        </p:txBody>
      </p:sp>
      <p:sp>
        <p:nvSpPr>
          <p:cNvPr id="17" name="Text 13"/>
          <p:cNvSpPr txBox="1"/>
          <p:nvPr/>
        </p:nvSpPr>
        <p:spPr>
          <a:xfrm>
            <a:off x="5212080" y="2212848"/>
            <a:ext cx="2468880" cy="365760"/>
          </a:xfrm>
          <a:prstGeom prst="rect">
            <a:avLst/>
          </a:prstGeom>
          <a:noFill/>
          <a:ln/>
        </p:spPr>
        <p:txBody>
          <a:bodyPr wrap="square" lIns="0" tIns="0" rIns="0" bIns="0" rtlCol="0" anchor="t"/>
          <a:lstStyle/>
          <a:p>
            <a:pPr indent="0" marL="0">
              <a:buNone/>
            </a:pPr>
            <a:r>
              <a:rPr lang="en-US" sz="1800" b="1" dirty="0">
                <a:solidFill>
                  <a:srgbClr val="202124"/>
                </a:solidFill>
                <a:latin typeface="Arial" pitchFamily="34" charset="0"/>
                <a:ea typeface="Arial" pitchFamily="34" charset="-122"/>
                <a:cs typeface="Arial" pitchFamily="34" charset="-120"/>
              </a:rPr>
              <a:t>Predictive program</a:t>
            </a:r>
            <a:endParaRPr lang="en-US" sz="1800" dirty="0"/>
          </a:p>
        </p:txBody>
      </p:sp>
      <p:sp>
        <p:nvSpPr>
          <p:cNvPr id="18" name="Text 14"/>
          <p:cNvSpPr txBox="1"/>
          <p:nvPr/>
        </p:nvSpPr>
        <p:spPr>
          <a:xfrm>
            <a:off x="4526280" y="2743200"/>
            <a:ext cx="3108960" cy="274320"/>
          </a:xfrm>
          <a:prstGeom prst="rect">
            <a:avLst/>
          </a:prstGeom>
          <a:noFill/>
          <a:ln/>
        </p:spPr>
        <p:txBody>
          <a:bodyPr wrap="square" lIns="0" tIns="0" rIns="0" bIns="0" rtlCol="0" anchor="t"/>
          <a:lstStyle/>
          <a:p>
            <a:pPr indent="0" marL="0">
              <a:buNone/>
            </a:pPr>
            <a:r>
              <a:rPr lang="en-US" sz="1200" b="1" dirty="0">
                <a:solidFill>
                  <a:srgbClr val="FBBC04"/>
                </a:solidFill>
                <a:latin typeface="Arial" pitchFamily="34" charset="0"/>
                <a:ea typeface="Arial" pitchFamily="34" charset="-122"/>
                <a:cs typeface="Arial" pitchFamily="34" charset="-120"/>
              </a:rPr>
              <a:t>Anticipate</a:t>
            </a:r>
            <a:endParaRPr lang="en-US" sz="1200" dirty="0"/>
          </a:p>
        </p:txBody>
      </p:sp>
      <p:sp>
        <p:nvSpPr>
          <p:cNvPr id="19" name="Text 15"/>
          <p:cNvSpPr txBox="1"/>
          <p:nvPr/>
        </p:nvSpPr>
        <p:spPr>
          <a:xfrm>
            <a:off x="4526280" y="3063240"/>
            <a:ext cx="310896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Deterioration prediction, high- vs low-risk profiles, visit forecasting with confidence bands, cost impact — the SAS Viya diabetes program.</a:t>
            </a:r>
            <a:endParaRPr lang="en-US" sz="1150" dirty="0"/>
          </a:p>
        </p:txBody>
      </p:sp>
      <p:sp>
        <p:nvSpPr>
          <p:cNvPr id="20" name="Text 16"/>
          <p:cNvSpPr txBox="1"/>
          <p:nvPr/>
        </p:nvSpPr>
        <p:spPr>
          <a:xfrm>
            <a:off x="4526280" y="4343400"/>
            <a:ext cx="3108960" cy="640080"/>
          </a:xfrm>
          <a:prstGeom prst="rect">
            <a:avLst/>
          </a:prstGeom>
          <a:noFill/>
          <a:ln/>
        </p:spPr>
        <p:txBody>
          <a:bodyPr wrap="square" lIns="0" tIns="0" rIns="0" bIns="0" rtlCol="0" anchor="t"/>
          <a:lstStyle/>
          <a:p>
            <a:pPr indent="0" marL="0">
              <a:lnSpc>
                <a:spcPct val="130000"/>
              </a:lnSpc>
              <a:buNone/>
            </a:pPr>
            <a:r>
              <a:rPr lang="en-US" sz="1050" dirty="0">
                <a:solidFill>
                  <a:srgbClr val="202124"/>
                </a:solidFill>
                <a:latin typeface="Arial" pitchFamily="34" charset="0"/>
                <a:ea typeface="Arial" pitchFamily="34" charset="-122"/>
                <a:cs typeface="Arial" pitchFamily="34" charset="-120"/>
              </a:rPr>
              <a:t>Who: care managers, finance</a:t>
            </a:r>
            <a:endParaRPr lang="en-US" sz="1050" dirty="0"/>
          </a:p>
          <a:p>
            <a:pPr indent="0" marL="0">
              <a:lnSpc>
                <a:spcPct val="130000"/>
              </a:lnSpc>
              <a:buNone/>
            </a:pPr>
            <a:r>
              <a:rPr lang="en-US" sz="1050" dirty="0">
                <a:solidFill>
                  <a:srgbClr val="202124"/>
                </a:solidFill>
                <a:latin typeface="Arial" pitchFamily="34" charset="0"/>
                <a:ea typeface="Arial" pitchFamily="34" charset="-122"/>
                <a:cs typeface="Arial" pitchFamily="34" charset="-120"/>
              </a:rPr>
              <a:t>Answers: who will deteriorate, what it will cost</a:t>
            </a:r>
            <a:endParaRPr lang="en-US" sz="1050" dirty="0"/>
          </a:p>
        </p:txBody>
      </p:sp>
      <p:sp>
        <p:nvSpPr>
          <p:cNvPr id="21" name="Shape 17"/>
          <p:cNvSpPr/>
          <p:nvPr/>
        </p:nvSpPr>
        <p:spPr>
          <a:xfrm>
            <a:off x="7882128" y="3429000"/>
            <a:ext cx="146304" cy="0"/>
          </a:xfrm>
          <a:prstGeom prst="line">
            <a:avLst/>
          </a:prstGeom>
          <a:noFill/>
          <a:ln w="15875">
            <a:solidFill>
              <a:srgbClr val="5F6368"/>
            </a:solidFill>
            <a:prstDash val="solid"/>
            <a:tailEnd type="triangle"/>
          </a:ln>
        </p:spPr>
      </p:sp>
      <p:sp>
        <p:nvSpPr>
          <p:cNvPr id="22" name="Shape 18"/>
          <p:cNvSpPr/>
          <p:nvPr/>
        </p:nvSpPr>
        <p:spPr>
          <a:xfrm>
            <a:off x="8046720" y="1783080"/>
            <a:ext cx="3566160" cy="3291840"/>
          </a:xfrm>
          <a:prstGeom prst="roundRect">
            <a:avLst>
              <a:gd name="adj" fmla="val 2222"/>
            </a:avLst>
          </a:prstGeom>
          <a:solidFill>
            <a:srgbClr val="E6F4EA"/>
          </a:solidFill>
          <a:ln w="12700">
            <a:solidFill>
              <a:srgbClr val="E6F4EA"/>
            </a:solidFill>
            <a:prstDash val="solid"/>
          </a:ln>
        </p:spPr>
      </p:sp>
      <p:sp>
        <p:nvSpPr>
          <p:cNvPr id="23" name="Shape 19"/>
          <p:cNvSpPr/>
          <p:nvPr/>
        </p:nvSpPr>
        <p:spPr>
          <a:xfrm>
            <a:off x="8275320" y="2011680"/>
            <a:ext cx="548640" cy="548640"/>
          </a:xfrm>
          <a:prstGeom prst="ellipse">
            <a:avLst/>
          </a:prstGeom>
          <a:solidFill>
            <a:srgbClr val="34A853"/>
          </a:solidFill>
          <a:ln w="12700">
            <a:solidFill>
              <a:srgbClr val="34A853"/>
            </a:solidFill>
            <a:prstDash val="solid"/>
          </a:ln>
        </p:spPr>
      </p:sp>
      <p:pic>
        <p:nvPicPr>
          <p:cNvPr id="24" name="Image 2" descr="preencoded.png">    </p:cNvPr>
          <p:cNvPicPr>
            <a:picLocks noChangeAspect="1"/>
          </p:cNvPicPr>
          <p:nvPr/>
        </p:nvPicPr>
        <p:blipFill>
          <a:blip r:embed="rId3"/>
          <a:stretch>
            <a:fillRect/>
          </a:stretch>
        </p:blipFill>
        <p:spPr>
          <a:xfrm>
            <a:off x="8406994" y="2143354"/>
            <a:ext cx="285293" cy="285293"/>
          </a:xfrm>
          <a:prstGeom prst="rect">
            <a:avLst/>
          </a:prstGeom>
        </p:spPr>
      </p:pic>
      <p:sp>
        <p:nvSpPr>
          <p:cNvPr id="25" name="Text 20"/>
          <p:cNvSpPr txBox="1"/>
          <p:nvPr/>
        </p:nvSpPr>
        <p:spPr>
          <a:xfrm>
            <a:off x="8961120" y="2011680"/>
            <a:ext cx="914400" cy="228600"/>
          </a:xfrm>
          <a:prstGeom prst="rect">
            <a:avLst/>
          </a:prstGeom>
          <a:noFill/>
          <a:ln/>
        </p:spPr>
        <p:txBody>
          <a:bodyPr wrap="square" lIns="0" tIns="0" rIns="0" bIns="0" rtlCol="0" anchor="t"/>
          <a:lstStyle/>
          <a:p>
            <a:pPr indent="0" marL="0">
              <a:buNone/>
            </a:pPr>
            <a:r>
              <a:rPr lang="en-US" sz="1000" b="1" spc="200" kern="0" dirty="0">
                <a:solidFill>
                  <a:srgbClr val="34A853"/>
                </a:solidFill>
                <a:latin typeface="Arial" pitchFamily="34" charset="0"/>
                <a:ea typeface="Arial" pitchFamily="34" charset="-122"/>
                <a:cs typeface="Arial" pitchFamily="34" charset="-120"/>
              </a:rPr>
              <a:t>03</a:t>
            </a:r>
            <a:endParaRPr lang="en-US" sz="1000" dirty="0"/>
          </a:p>
        </p:txBody>
      </p:sp>
      <p:sp>
        <p:nvSpPr>
          <p:cNvPr id="26" name="Text 21"/>
          <p:cNvSpPr txBox="1"/>
          <p:nvPr/>
        </p:nvSpPr>
        <p:spPr>
          <a:xfrm>
            <a:off x="8961120" y="2212848"/>
            <a:ext cx="2468880" cy="365760"/>
          </a:xfrm>
          <a:prstGeom prst="rect">
            <a:avLst/>
          </a:prstGeom>
          <a:noFill/>
          <a:ln/>
        </p:spPr>
        <p:txBody>
          <a:bodyPr wrap="square" lIns="0" tIns="0" rIns="0" bIns="0" rtlCol="0" anchor="t"/>
          <a:lstStyle/>
          <a:p>
            <a:pPr indent="0" marL="0">
              <a:buNone/>
            </a:pPr>
            <a:r>
              <a:rPr lang="en-US" sz="1800" b="1" dirty="0">
                <a:solidFill>
                  <a:srgbClr val="202124"/>
                </a:solidFill>
                <a:latin typeface="Arial" pitchFamily="34" charset="0"/>
                <a:ea typeface="Arial" pitchFamily="34" charset="-122"/>
                <a:cs typeface="Arial" pitchFamily="34" charset="-120"/>
              </a:rPr>
              <a:t>Agentic</a:t>
            </a:r>
            <a:endParaRPr lang="en-US" sz="1800" dirty="0"/>
          </a:p>
        </p:txBody>
      </p:sp>
      <p:sp>
        <p:nvSpPr>
          <p:cNvPr id="27" name="Text 22"/>
          <p:cNvSpPr txBox="1"/>
          <p:nvPr/>
        </p:nvSpPr>
        <p:spPr>
          <a:xfrm>
            <a:off x="8275320" y="2743200"/>
            <a:ext cx="3108960" cy="274320"/>
          </a:xfrm>
          <a:prstGeom prst="rect">
            <a:avLst/>
          </a:prstGeom>
          <a:noFill/>
          <a:ln/>
        </p:spPr>
        <p:txBody>
          <a:bodyPr wrap="square" lIns="0" tIns="0" rIns="0" bIns="0" rtlCol="0" anchor="t"/>
          <a:lstStyle/>
          <a:p>
            <a:pPr indent="0" marL="0">
              <a:buNone/>
            </a:pPr>
            <a:r>
              <a:rPr lang="en-US" sz="1200" b="1" dirty="0">
                <a:solidFill>
                  <a:srgbClr val="34A853"/>
                </a:solidFill>
                <a:latin typeface="Arial" pitchFamily="34" charset="0"/>
                <a:ea typeface="Arial" pitchFamily="34" charset="-122"/>
                <a:cs typeface="Arial" pitchFamily="34" charset="-120"/>
              </a:rPr>
              <a:t>Ask and act</a:t>
            </a:r>
            <a:endParaRPr lang="en-US" sz="1200" dirty="0"/>
          </a:p>
        </p:txBody>
      </p:sp>
      <p:sp>
        <p:nvSpPr>
          <p:cNvPr id="28" name="Text 23"/>
          <p:cNvSpPr txBox="1"/>
          <p:nvPr/>
        </p:nvSpPr>
        <p:spPr>
          <a:xfrm>
            <a:off x="8275320" y="3063240"/>
            <a:ext cx="310896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Any clinician or director asks in plain language. Agents query the exchange, cite the national guideline, run the models, and draft actions a human signs.</a:t>
            </a:r>
            <a:endParaRPr lang="en-US" sz="1150" dirty="0"/>
          </a:p>
        </p:txBody>
      </p:sp>
      <p:sp>
        <p:nvSpPr>
          <p:cNvPr id="29" name="Text 24"/>
          <p:cNvSpPr txBox="1"/>
          <p:nvPr/>
        </p:nvSpPr>
        <p:spPr>
          <a:xfrm>
            <a:off x="8275320" y="4343400"/>
            <a:ext cx="3108960" cy="640080"/>
          </a:xfrm>
          <a:prstGeom prst="rect">
            <a:avLst/>
          </a:prstGeom>
          <a:noFill/>
          <a:ln/>
        </p:spPr>
        <p:txBody>
          <a:bodyPr wrap="square" lIns="0" tIns="0" rIns="0" bIns="0" rtlCol="0" anchor="t"/>
          <a:lstStyle/>
          <a:p>
            <a:pPr indent="0" marL="0">
              <a:lnSpc>
                <a:spcPct val="130000"/>
              </a:lnSpc>
              <a:buNone/>
            </a:pPr>
            <a:r>
              <a:rPr lang="en-US" sz="1050" dirty="0">
                <a:solidFill>
                  <a:srgbClr val="202124"/>
                </a:solidFill>
                <a:latin typeface="Arial" pitchFamily="34" charset="0"/>
                <a:ea typeface="Arial" pitchFamily="34" charset="-122"/>
                <a:cs typeface="Arial" pitchFamily="34" charset="-120"/>
              </a:rPr>
              <a:t>Who: every clinician, every director</a:t>
            </a:r>
            <a:endParaRPr lang="en-US" sz="1050" dirty="0"/>
          </a:p>
          <a:p>
            <a:pPr indent="0" marL="0">
              <a:lnSpc>
                <a:spcPct val="130000"/>
              </a:lnSpc>
              <a:buNone/>
            </a:pPr>
            <a:r>
              <a:rPr lang="en-US" sz="1050" dirty="0">
                <a:solidFill>
                  <a:srgbClr val="202124"/>
                </a:solidFill>
                <a:latin typeface="Arial" pitchFamily="34" charset="0"/>
                <a:ea typeface="Arial" pitchFamily="34" charset="-122"/>
                <a:cs typeface="Arial" pitchFamily="34" charset="-120"/>
              </a:rPr>
              <a:t>Answers: the question nobody anticipated</a:t>
            </a:r>
            <a:endParaRPr lang="en-US" sz="1050" dirty="0"/>
          </a:p>
        </p:txBody>
      </p:sp>
      <p:sp>
        <p:nvSpPr>
          <p:cNvPr id="30" name="Text 25"/>
          <p:cNvSpPr txBox="1"/>
          <p:nvPr/>
        </p:nvSpPr>
        <p:spPr>
          <a:xfrm>
            <a:off x="548640" y="5394960"/>
            <a:ext cx="11064240" cy="457200"/>
          </a:xfrm>
          <a:prstGeom prst="rect">
            <a:avLst/>
          </a:prstGeom>
          <a:noFill/>
          <a:ln/>
        </p:spPr>
        <p:txBody>
          <a:bodyPr wrap="square" lIns="0" tIns="0" rIns="0" bIns="0" rtlCol="0" anchor="t"/>
          <a:lstStyle/>
          <a:p>
            <a:pPr indent="0" marL="0">
              <a:buNone/>
            </a:pPr>
            <a:r>
              <a:rPr lang="en-US" sz="1250" b="1" dirty="0">
                <a:solidFill>
                  <a:srgbClr val="202124"/>
                </a:solidFill>
                <a:latin typeface="Arial" pitchFamily="34" charset="0"/>
                <a:ea typeface="Arial" pitchFamily="34" charset="-122"/>
                <a:cs typeface="Arial" pitchFamily="34" charset="-120"/>
              </a:rPr>
              <a:t>What changes: </a:t>
            </a:r>
            <a:pPr indent="0" marL="0">
              <a:buNone/>
            </a:pPr>
            <a:r>
              <a:rPr lang="en-US" sz="1250" dirty="0">
                <a:solidFill>
                  <a:srgbClr val="5F6368"/>
                </a:solidFill>
                <a:latin typeface="Arial" pitchFamily="34" charset="0"/>
                <a:ea typeface="Arial" pitchFamily="34" charset="-122"/>
                <a:cs typeface="Arial" pitchFamily="34" charset="-120"/>
              </a:rPr>
              <a:t>from dashboards people must find, to answers people can ask for — with the same rigour, the same models, and a human signature on every action.</a:t>
            </a:r>
            <a:endParaRPr lang="en-US" sz="1250" dirty="0"/>
          </a:p>
        </p:txBody>
      </p:sp>
      <p:sp>
        <p:nvSpPr>
          <p:cNvPr id="31" name="Text 26"/>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Ministry of Public Health, Qatar · Google Cloud Customer Engineering</a:t>
            </a:r>
            <a:endParaRPr lang="en-US" sz="850" dirty="0"/>
          </a:p>
        </p:txBody>
      </p:sp>
      <p:sp>
        <p:nvSpPr>
          <p:cNvPr id="32" name="Text 27"/>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Nabd: one conversation over the HIE, the guidelines and the models</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The same four capabilities as the diabetes program — now available to anyone who can ask.</a:t>
            </a:r>
            <a:endParaRPr lang="en-US" sz="1300" dirty="0"/>
          </a:p>
        </p:txBody>
      </p:sp>
      <p:sp>
        <p:nvSpPr>
          <p:cNvPr id="4" name="Shape 2"/>
          <p:cNvSpPr/>
          <p:nvPr/>
        </p:nvSpPr>
        <p:spPr>
          <a:xfrm>
            <a:off x="548640" y="1783080"/>
            <a:ext cx="3063240" cy="1828800"/>
          </a:xfrm>
          <a:prstGeom prst="roundRect">
            <a:avLst>
              <a:gd name="adj" fmla="val 4000"/>
            </a:avLst>
          </a:prstGeom>
          <a:solidFill>
            <a:srgbClr val="F8F9FA"/>
          </a:solidFill>
          <a:ln w="12700">
            <a:solidFill>
              <a:srgbClr val="F8F9FA"/>
            </a:solidFill>
            <a:prstDash val="solid"/>
          </a:ln>
        </p:spPr>
      </p:sp>
      <p:sp>
        <p:nvSpPr>
          <p:cNvPr id="5" name="Shape 3"/>
          <p:cNvSpPr/>
          <p:nvPr/>
        </p:nvSpPr>
        <p:spPr>
          <a:xfrm>
            <a:off x="749808" y="1984248"/>
            <a:ext cx="457200" cy="457200"/>
          </a:xfrm>
          <a:prstGeom prst="ellipse">
            <a:avLst/>
          </a:prstGeom>
          <a:solidFill>
            <a:srgbClr val="4285F4"/>
          </a:solidFill>
          <a:ln w="12700">
            <a:solidFill>
              <a:srgbClr val="4285F4"/>
            </a:solidFill>
            <a:prstDash val="solid"/>
          </a:ln>
        </p:spPr>
      </p:sp>
      <p:pic>
        <p:nvPicPr>
          <p:cNvPr id="6" name="Image 0" descr="preencoded.png">    </p:cNvPr>
          <p:cNvPicPr>
            <a:picLocks noChangeAspect="1"/>
          </p:cNvPicPr>
          <p:nvPr/>
        </p:nvPicPr>
        <p:blipFill>
          <a:blip r:embed="rId1"/>
          <a:stretch>
            <a:fillRect/>
          </a:stretch>
        </p:blipFill>
        <p:spPr>
          <a:xfrm>
            <a:off x="859536" y="2093976"/>
            <a:ext cx="237744" cy="237744"/>
          </a:xfrm>
          <a:prstGeom prst="rect">
            <a:avLst/>
          </a:prstGeom>
        </p:spPr>
      </p:pic>
      <p:sp>
        <p:nvSpPr>
          <p:cNvPr id="7" name="Text 4"/>
          <p:cNvSpPr txBox="1"/>
          <p:nvPr/>
        </p:nvSpPr>
        <p:spPr>
          <a:xfrm>
            <a:off x="1325880" y="2002536"/>
            <a:ext cx="2194560" cy="457200"/>
          </a:xfrm>
          <a:prstGeom prst="rect">
            <a:avLst/>
          </a:prstGeom>
          <a:noFill/>
          <a:ln/>
        </p:spPr>
        <p:txBody>
          <a:bodyPr wrap="square" lIns="0" tIns="0" rIns="0" bIns="0" rtlCol="0" anchor="t"/>
          <a:lstStyle/>
          <a:p>
            <a:pPr indent="0" marL="0">
              <a:lnSpc>
                <a:spcPct val="100000"/>
              </a:lnSpc>
              <a:buNone/>
            </a:pPr>
            <a:r>
              <a:rPr lang="en-US" sz="1250" b="1" dirty="0">
                <a:solidFill>
                  <a:srgbClr val="202124"/>
                </a:solidFill>
                <a:latin typeface="Arial" pitchFamily="34" charset="0"/>
                <a:ea typeface="Arial" pitchFamily="34" charset="-122"/>
                <a:cs typeface="Arial" pitchFamily="34" charset="-120"/>
              </a:rPr>
              <a:t>Diabetic patient 360</a:t>
            </a:r>
            <a:endParaRPr lang="en-US" sz="1250" dirty="0"/>
          </a:p>
        </p:txBody>
      </p:sp>
      <p:sp>
        <p:nvSpPr>
          <p:cNvPr id="8" name="Text 5"/>
          <p:cNvSpPr txBox="1"/>
          <p:nvPr/>
        </p:nvSpPr>
        <p:spPr>
          <a:xfrm>
            <a:off x="749808" y="2560320"/>
            <a:ext cx="2697480" cy="100584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Summary, HbA1c trajectory, comorbidities, medications, open care gaps — assembled on request, with consent enforced.</a:t>
            </a:r>
            <a:endParaRPr lang="en-US" sz="1050" dirty="0"/>
          </a:p>
        </p:txBody>
      </p:sp>
      <p:sp>
        <p:nvSpPr>
          <p:cNvPr id="9" name="Shape 6"/>
          <p:cNvSpPr/>
          <p:nvPr/>
        </p:nvSpPr>
        <p:spPr>
          <a:xfrm>
            <a:off x="3794760" y="1783080"/>
            <a:ext cx="3063240" cy="1828800"/>
          </a:xfrm>
          <a:prstGeom prst="roundRect">
            <a:avLst>
              <a:gd name="adj" fmla="val 4000"/>
            </a:avLst>
          </a:prstGeom>
          <a:solidFill>
            <a:srgbClr val="F8F9FA"/>
          </a:solidFill>
          <a:ln w="12700">
            <a:solidFill>
              <a:srgbClr val="F8F9FA"/>
            </a:solidFill>
            <a:prstDash val="solid"/>
          </a:ln>
        </p:spPr>
      </p:sp>
      <p:sp>
        <p:nvSpPr>
          <p:cNvPr id="10" name="Shape 7"/>
          <p:cNvSpPr/>
          <p:nvPr/>
        </p:nvSpPr>
        <p:spPr>
          <a:xfrm>
            <a:off x="3995928" y="1984248"/>
            <a:ext cx="457200" cy="457200"/>
          </a:xfrm>
          <a:prstGeom prst="ellipse">
            <a:avLst/>
          </a:prstGeom>
          <a:solidFill>
            <a:srgbClr val="FBBC04"/>
          </a:solidFill>
          <a:ln w="12700">
            <a:solidFill>
              <a:srgbClr val="FBBC04"/>
            </a:solidFill>
            <a:prstDash val="solid"/>
          </a:ln>
        </p:spPr>
      </p:sp>
      <p:pic>
        <p:nvPicPr>
          <p:cNvPr id="11" name="Image 1" descr="preencoded.png">    </p:cNvPr>
          <p:cNvPicPr>
            <a:picLocks noChangeAspect="1"/>
          </p:cNvPicPr>
          <p:nvPr/>
        </p:nvPicPr>
        <p:blipFill>
          <a:blip r:embed="rId2"/>
          <a:stretch>
            <a:fillRect/>
          </a:stretch>
        </p:blipFill>
        <p:spPr>
          <a:xfrm>
            <a:off x="4105656" y="2093976"/>
            <a:ext cx="237744" cy="237744"/>
          </a:xfrm>
          <a:prstGeom prst="rect">
            <a:avLst/>
          </a:prstGeom>
        </p:spPr>
      </p:pic>
      <p:sp>
        <p:nvSpPr>
          <p:cNvPr id="12" name="Text 8"/>
          <p:cNvSpPr txBox="1"/>
          <p:nvPr/>
        </p:nvSpPr>
        <p:spPr>
          <a:xfrm>
            <a:off x="4572000" y="2002536"/>
            <a:ext cx="2194560" cy="457200"/>
          </a:xfrm>
          <a:prstGeom prst="rect">
            <a:avLst/>
          </a:prstGeom>
          <a:noFill/>
          <a:ln/>
        </p:spPr>
        <p:txBody>
          <a:bodyPr wrap="square" lIns="0" tIns="0" rIns="0" bIns="0" rtlCol="0" anchor="t"/>
          <a:lstStyle/>
          <a:p>
            <a:pPr indent="0" marL="0">
              <a:lnSpc>
                <a:spcPct val="100000"/>
              </a:lnSpc>
              <a:buNone/>
            </a:pPr>
            <a:r>
              <a:rPr lang="en-US" sz="1250" b="1" dirty="0">
                <a:solidFill>
                  <a:srgbClr val="202124"/>
                </a:solidFill>
                <a:latin typeface="Arial" pitchFamily="34" charset="0"/>
                <a:ea typeface="Arial" pitchFamily="34" charset="-122"/>
                <a:cs typeface="Arial" pitchFamily="34" charset="-120"/>
              </a:rPr>
              <a:t>Risk stratification &amp; visit prediction</a:t>
            </a:r>
            <a:endParaRPr lang="en-US" sz="1250" dirty="0"/>
          </a:p>
        </p:txBody>
      </p:sp>
      <p:sp>
        <p:nvSpPr>
          <p:cNvPr id="13" name="Text 9"/>
          <p:cNvSpPr txBox="1"/>
          <p:nvPr/>
        </p:nvSpPr>
        <p:spPr>
          <a:xfrm>
            <a:off x="3995928" y="2560320"/>
            <a:ext cx="2697480" cy="100584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Explainable risk of a 12-month complication, cohort bands, similar patients, and demand forecasts for planning.</a:t>
            </a:r>
            <a:endParaRPr lang="en-US" sz="1050" dirty="0"/>
          </a:p>
        </p:txBody>
      </p:sp>
      <p:sp>
        <p:nvSpPr>
          <p:cNvPr id="14" name="Shape 10"/>
          <p:cNvSpPr/>
          <p:nvPr/>
        </p:nvSpPr>
        <p:spPr>
          <a:xfrm>
            <a:off x="548640" y="3794760"/>
            <a:ext cx="3063240" cy="1828800"/>
          </a:xfrm>
          <a:prstGeom prst="roundRect">
            <a:avLst>
              <a:gd name="adj" fmla="val 4000"/>
            </a:avLst>
          </a:prstGeom>
          <a:solidFill>
            <a:srgbClr val="F8F9FA"/>
          </a:solidFill>
          <a:ln w="12700">
            <a:solidFill>
              <a:srgbClr val="F8F9FA"/>
            </a:solidFill>
            <a:prstDash val="solid"/>
          </a:ln>
        </p:spPr>
      </p:sp>
      <p:sp>
        <p:nvSpPr>
          <p:cNvPr id="15" name="Shape 11"/>
          <p:cNvSpPr/>
          <p:nvPr/>
        </p:nvSpPr>
        <p:spPr>
          <a:xfrm>
            <a:off x="749808" y="3995928"/>
            <a:ext cx="457200" cy="457200"/>
          </a:xfrm>
          <a:prstGeom prst="ellipse">
            <a:avLst/>
          </a:prstGeom>
          <a:solidFill>
            <a:srgbClr val="EA4335"/>
          </a:solidFill>
          <a:ln w="12700">
            <a:solidFill>
              <a:srgbClr val="EA4335"/>
            </a:solidFill>
            <a:prstDash val="solid"/>
          </a:ln>
        </p:spPr>
      </p:sp>
      <p:pic>
        <p:nvPicPr>
          <p:cNvPr id="16" name="Image 2" descr="preencoded.png">    </p:cNvPr>
          <p:cNvPicPr>
            <a:picLocks noChangeAspect="1"/>
          </p:cNvPicPr>
          <p:nvPr/>
        </p:nvPicPr>
        <p:blipFill>
          <a:blip r:embed="rId3"/>
          <a:stretch>
            <a:fillRect/>
          </a:stretch>
        </p:blipFill>
        <p:spPr>
          <a:xfrm>
            <a:off x="859536" y="4105656"/>
            <a:ext cx="237744" cy="237744"/>
          </a:xfrm>
          <a:prstGeom prst="rect">
            <a:avLst/>
          </a:prstGeom>
        </p:spPr>
      </p:pic>
      <p:sp>
        <p:nvSpPr>
          <p:cNvPr id="17" name="Text 12"/>
          <p:cNvSpPr txBox="1"/>
          <p:nvPr/>
        </p:nvSpPr>
        <p:spPr>
          <a:xfrm>
            <a:off x="1325880" y="4014216"/>
            <a:ext cx="2194560" cy="457200"/>
          </a:xfrm>
          <a:prstGeom prst="rect">
            <a:avLst/>
          </a:prstGeom>
          <a:noFill/>
          <a:ln/>
        </p:spPr>
        <p:txBody>
          <a:bodyPr wrap="square" lIns="0" tIns="0" rIns="0" bIns="0" rtlCol="0" anchor="t"/>
          <a:lstStyle/>
          <a:p>
            <a:pPr indent="0" marL="0">
              <a:lnSpc>
                <a:spcPct val="100000"/>
              </a:lnSpc>
              <a:buNone/>
            </a:pPr>
            <a:r>
              <a:rPr lang="en-US" sz="1250" b="1" dirty="0">
                <a:solidFill>
                  <a:srgbClr val="202124"/>
                </a:solidFill>
                <a:latin typeface="Arial" pitchFamily="34" charset="0"/>
                <a:ea typeface="Arial" pitchFamily="34" charset="-122"/>
                <a:cs typeface="Arial" pitchFamily="34" charset="-120"/>
              </a:rPr>
              <a:t>Guideline-grounded decision support</a:t>
            </a:r>
            <a:endParaRPr lang="en-US" sz="1250" dirty="0"/>
          </a:p>
        </p:txBody>
      </p:sp>
      <p:sp>
        <p:nvSpPr>
          <p:cNvPr id="18" name="Text 13"/>
          <p:cNvSpPr txBox="1"/>
          <p:nvPr/>
        </p:nvSpPr>
        <p:spPr>
          <a:xfrm>
            <a:off x="749808" y="4572000"/>
            <a:ext cx="2697480" cy="100584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Recommendations retrieved from MOPH national guidelines and cited to the page. No clinical claim without a source.</a:t>
            </a:r>
            <a:endParaRPr lang="en-US" sz="1050" dirty="0"/>
          </a:p>
        </p:txBody>
      </p:sp>
      <p:sp>
        <p:nvSpPr>
          <p:cNvPr id="19" name="Shape 14"/>
          <p:cNvSpPr/>
          <p:nvPr/>
        </p:nvSpPr>
        <p:spPr>
          <a:xfrm>
            <a:off x="3794760" y="3794760"/>
            <a:ext cx="3063240" cy="1828800"/>
          </a:xfrm>
          <a:prstGeom prst="roundRect">
            <a:avLst>
              <a:gd name="adj" fmla="val 4000"/>
            </a:avLst>
          </a:prstGeom>
          <a:solidFill>
            <a:srgbClr val="F8F9FA"/>
          </a:solidFill>
          <a:ln w="12700">
            <a:solidFill>
              <a:srgbClr val="F8F9FA"/>
            </a:solidFill>
            <a:prstDash val="solid"/>
          </a:ln>
        </p:spPr>
      </p:sp>
      <p:sp>
        <p:nvSpPr>
          <p:cNvPr id="20" name="Shape 15"/>
          <p:cNvSpPr/>
          <p:nvPr/>
        </p:nvSpPr>
        <p:spPr>
          <a:xfrm>
            <a:off x="3995928" y="3995928"/>
            <a:ext cx="457200" cy="457200"/>
          </a:xfrm>
          <a:prstGeom prst="ellipse">
            <a:avLst/>
          </a:prstGeom>
          <a:solidFill>
            <a:srgbClr val="34A853"/>
          </a:solidFill>
          <a:ln w="12700">
            <a:solidFill>
              <a:srgbClr val="34A853"/>
            </a:solidFill>
            <a:prstDash val="solid"/>
          </a:ln>
        </p:spPr>
      </p:sp>
      <p:pic>
        <p:nvPicPr>
          <p:cNvPr id="21" name="Image 3" descr="preencoded.png">    </p:cNvPr>
          <p:cNvPicPr>
            <a:picLocks noChangeAspect="1"/>
          </p:cNvPicPr>
          <p:nvPr/>
        </p:nvPicPr>
        <p:blipFill>
          <a:blip r:embed="rId4"/>
          <a:stretch>
            <a:fillRect/>
          </a:stretch>
        </p:blipFill>
        <p:spPr>
          <a:xfrm>
            <a:off x="4105656" y="4105656"/>
            <a:ext cx="237744" cy="237744"/>
          </a:xfrm>
          <a:prstGeom prst="rect">
            <a:avLst/>
          </a:prstGeom>
        </p:spPr>
      </p:pic>
      <p:sp>
        <p:nvSpPr>
          <p:cNvPr id="22" name="Text 16"/>
          <p:cNvSpPr txBox="1"/>
          <p:nvPr/>
        </p:nvSpPr>
        <p:spPr>
          <a:xfrm>
            <a:off x="4572000" y="4014216"/>
            <a:ext cx="2194560" cy="457200"/>
          </a:xfrm>
          <a:prstGeom prst="rect">
            <a:avLst/>
          </a:prstGeom>
          <a:noFill/>
          <a:ln/>
        </p:spPr>
        <p:txBody>
          <a:bodyPr wrap="square" lIns="0" tIns="0" rIns="0" bIns="0" rtlCol="0" anchor="t"/>
          <a:lstStyle/>
          <a:p>
            <a:pPr indent="0" marL="0">
              <a:lnSpc>
                <a:spcPct val="100000"/>
              </a:lnSpc>
              <a:buNone/>
            </a:pPr>
            <a:r>
              <a:rPr lang="en-US" sz="1250" b="1" dirty="0">
                <a:solidFill>
                  <a:srgbClr val="202124"/>
                </a:solidFill>
                <a:latin typeface="Arial" pitchFamily="34" charset="0"/>
                <a:ea typeface="Arial" pitchFamily="34" charset="-122"/>
                <a:cs typeface="Arial" pitchFamily="34" charset="-120"/>
              </a:rPr>
              <a:t>Population &amp; cost simulation</a:t>
            </a:r>
            <a:endParaRPr lang="en-US" sz="1250" dirty="0"/>
          </a:p>
        </p:txBody>
      </p:sp>
      <p:sp>
        <p:nvSpPr>
          <p:cNvPr id="23" name="Text 17"/>
          <p:cNvSpPr txBox="1"/>
          <p:nvPr/>
        </p:nvSpPr>
        <p:spPr>
          <a:xfrm>
            <a:off x="3995928" y="4572000"/>
            <a:ext cx="2697480" cy="100584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Control rates, care gaps and cost by facility and nationality; what-if simulation of interventions before money is spent.</a:t>
            </a:r>
            <a:endParaRPr lang="en-US" sz="1050" dirty="0"/>
          </a:p>
        </p:txBody>
      </p:sp>
      <p:sp>
        <p:nvSpPr>
          <p:cNvPr id="24" name="Shape 18"/>
          <p:cNvSpPr/>
          <p:nvPr/>
        </p:nvSpPr>
        <p:spPr>
          <a:xfrm>
            <a:off x="7315200" y="1783080"/>
            <a:ext cx="4297680" cy="3840480"/>
          </a:xfrm>
          <a:prstGeom prst="roundRect">
            <a:avLst>
              <a:gd name="adj" fmla="val 1905"/>
            </a:avLst>
          </a:prstGeom>
          <a:solidFill>
            <a:srgbClr val="E8F0FE"/>
          </a:solidFill>
          <a:ln w="12700">
            <a:solidFill>
              <a:srgbClr val="E8F0FE"/>
            </a:solidFill>
            <a:prstDash val="solid"/>
          </a:ln>
        </p:spPr>
      </p:sp>
      <p:sp>
        <p:nvSpPr>
          <p:cNvPr id="25" name="Text 19"/>
          <p:cNvSpPr txBox="1"/>
          <p:nvPr/>
        </p:nvSpPr>
        <p:spPr>
          <a:xfrm>
            <a:off x="7589520" y="1965960"/>
            <a:ext cx="3840480" cy="320040"/>
          </a:xfrm>
          <a:prstGeom prst="rect">
            <a:avLst/>
          </a:prstGeom>
          <a:noFill/>
          <a:ln/>
        </p:spPr>
        <p:txBody>
          <a:bodyPr wrap="square" lIns="0" tIns="0" rIns="0" bIns="0" rtlCol="0" anchor="t"/>
          <a:lstStyle/>
          <a:p>
            <a:pPr indent="0" marL="0">
              <a:buNone/>
            </a:pPr>
            <a:r>
              <a:rPr lang="en-US" sz="1400" b="1" dirty="0">
                <a:solidFill>
                  <a:srgbClr val="1A73E8"/>
                </a:solidFill>
                <a:latin typeface="Arial" pitchFamily="34" charset="0"/>
                <a:ea typeface="Arial" pitchFamily="34" charset="-122"/>
                <a:cs typeface="Arial" pitchFamily="34" charset="-120"/>
              </a:rPr>
              <a:t>Trustworthy by design</a:t>
            </a:r>
            <a:endParaRPr lang="en-US" sz="1400" dirty="0"/>
          </a:p>
        </p:txBody>
      </p:sp>
      <p:pic>
        <p:nvPicPr>
          <p:cNvPr id="26" name="Image 4" descr="preencoded.png">    </p:cNvPr>
          <p:cNvPicPr>
            <a:picLocks noChangeAspect="1"/>
          </p:cNvPicPr>
          <p:nvPr/>
        </p:nvPicPr>
        <p:blipFill>
          <a:blip r:embed="rId5"/>
          <a:stretch>
            <a:fillRect/>
          </a:stretch>
        </p:blipFill>
        <p:spPr>
          <a:xfrm>
            <a:off x="7589520" y="2450592"/>
            <a:ext cx="274320" cy="274320"/>
          </a:xfrm>
          <a:prstGeom prst="rect">
            <a:avLst/>
          </a:prstGeom>
        </p:spPr>
      </p:pic>
      <p:sp>
        <p:nvSpPr>
          <p:cNvPr id="27" name="Text 20"/>
          <p:cNvSpPr txBox="1"/>
          <p:nvPr/>
        </p:nvSpPr>
        <p:spPr>
          <a:xfrm>
            <a:off x="8001000" y="2423160"/>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Numbers only from tools</a:t>
            </a:r>
            <a:endParaRPr lang="en-US" sz="1150" dirty="0"/>
          </a:p>
        </p:txBody>
      </p:sp>
      <p:sp>
        <p:nvSpPr>
          <p:cNvPr id="28" name="Text 21"/>
          <p:cNvSpPr txBox="1"/>
          <p:nvPr/>
        </p:nvSpPr>
        <p:spPr>
          <a:xfrm>
            <a:off x="8001000" y="2679192"/>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the model narrates; it never invents a value</a:t>
            </a:r>
            <a:endParaRPr lang="en-US" sz="1000" dirty="0"/>
          </a:p>
        </p:txBody>
      </p:sp>
      <p:pic>
        <p:nvPicPr>
          <p:cNvPr id="29" name="Image 5" descr="preencoded.png">    </p:cNvPr>
          <p:cNvPicPr>
            <a:picLocks noChangeAspect="1"/>
          </p:cNvPicPr>
          <p:nvPr/>
        </p:nvPicPr>
        <p:blipFill>
          <a:blip r:embed="rId6"/>
          <a:stretch>
            <a:fillRect/>
          </a:stretch>
        </p:blipFill>
        <p:spPr>
          <a:xfrm>
            <a:off x="7589520" y="3072384"/>
            <a:ext cx="274320" cy="274320"/>
          </a:xfrm>
          <a:prstGeom prst="rect">
            <a:avLst/>
          </a:prstGeom>
        </p:spPr>
      </p:pic>
      <p:sp>
        <p:nvSpPr>
          <p:cNvPr id="30" name="Text 22"/>
          <p:cNvSpPr txBox="1"/>
          <p:nvPr/>
        </p:nvSpPr>
        <p:spPr>
          <a:xfrm>
            <a:off x="8001000" y="3044952"/>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Claims only with a citation</a:t>
            </a:r>
            <a:endParaRPr lang="en-US" sz="1150" dirty="0"/>
          </a:p>
        </p:txBody>
      </p:sp>
      <p:sp>
        <p:nvSpPr>
          <p:cNvPr id="31" name="Text 23"/>
          <p:cNvSpPr txBox="1"/>
          <p:nvPr/>
        </p:nvSpPr>
        <p:spPr>
          <a:xfrm>
            <a:off x="8001000" y="3300984"/>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document and page from the national guideline</a:t>
            </a:r>
            <a:endParaRPr lang="en-US" sz="1000" dirty="0"/>
          </a:p>
        </p:txBody>
      </p:sp>
      <p:pic>
        <p:nvPicPr>
          <p:cNvPr id="32" name="Image 6" descr="preencoded.png">    </p:cNvPr>
          <p:cNvPicPr>
            <a:picLocks noChangeAspect="1"/>
          </p:cNvPicPr>
          <p:nvPr/>
        </p:nvPicPr>
        <p:blipFill>
          <a:blip r:embed="rId7"/>
          <a:stretch>
            <a:fillRect/>
          </a:stretch>
        </p:blipFill>
        <p:spPr>
          <a:xfrm>
            <a:off x="7589520" y="3694176"/>
            <a:ext cx="274320" cy="274320"/>
          </a:xfrm>
          <a:prstGeom prst="rect">
            <a:avLst/>
          </a:prstGeom>
        </p:spPr>
      </p:pic>
      <p:sp>
        <p:nvSpPr>
          <p:cNvPr id="33" name="Text 24"/>
          <p:cNvSpPr txBox="1"/>
          <p:nvPr/>
        </p:nvSpPr>
        <p:spPr>
          <a:xfrm>
            <a:off x="8001000" y="3666744"/>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Actions only with a signature</a:t>
            </a:r>
            <a:endParaRPr lang="en-US" sz="1150" dirty="0"/>
          </a:p>
        </p:txBody>
      </p:sp>
      <p:sp>
        <p:nvSpPr>
          <p:cNvPr id="34" name="Text 25"/>
          <p:cNvSpPr txBox="1"/>
          <p:nvPr/>
        </p:nvSpPr>
        <p:spPr>
          <a:xfrm>
            <a:off x="8001000" y="3922776"/>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drafts wait in a queue for a named clinician</a:t>
            </a:r>
            <a:endParaRPr lang="en-US" sz="1000" dirty="0"/>
          </a:p>
        </p:txBody>
      </p:sp>
      <p:pic>
        <p:nvPicPr>
          <p:cNvPr id="35" name="Image 7" descr="preencoded.png">    </p:cNvPr>
          <p:cNvPicPr>
            <a:picLocks noChangeAspect="1"/>
          </p:cNvPicPr>
          <p:nvPr/>
        </p:nvPicPr>
        <p:blipFill>
          <a:blip r:embed="rId8"/>
          <a:stretch>
            <a:fillRect/>
          </a:stretch>
        </p:blipFill>
        <p:spPr>
          <a:xfrm>
            <a:off x="7589520" y="4315968"/>
            <a:ext cx="274320" cy="274320"/>
          </a:xfrm>
          <a:prstGeom prst="rect">
            <a:avLst/>
          </a:prstGeom>
        </p:spPr>
      </p:pic>
      <p:sp>
        <p:nvSpPr>
          <p:cNvPr id="36" name="Text 26"/>
          <p:cNvSpPr txBox="1"/>
          <p:nvPr/>
        </p:nvSpPr>
        <p:spPr>
          <a:xfrm>
            <a:off x="8001000" y="4288536"/>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Every step audited</a:t>
            </a:r>
            <a:endParaRPr lang="en-US" sz="1150" dirty="0"/>
          </a:p>
        </p:txBody>
      </p:sp>
      <p:sp>
        <p:nvSpPr>
          <p:cNvPr id="37" name="Text 27"/>
          <p:cNvSpPr txBox="1"/>
          <p:nvPr/>
        </p:nvSpPr>
        <p:spPr>
          <a:xfrm>
            <a:off x="8001000" y="4544568"/>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tool calls, scores, citations and decisions</a:t>
            </a:r>
            <a:endParaRPr lang="en-US" sz="1000" dirty="0"/>
          </a:p>
        </p:txBody>
      </p:sp>
      <p:pic>
        <p:nvPicPr>
          <p:cNvPr id="38" name="Image 8" descr="preencoded.png">    </p:cNvPr>
          <p:cNvPicPr>
            <a:picLocks noChangeAspect="1"/>
          </p:cNvPicPr>
          <p:nvPr/>
        </p:nvPicPr>
        <p:blipFill>
          <a:blip r:embed="rId9"/>
          <a:stretch>
            <a:fillRect/>
          </a:stretch>
        </p:blipFill>
        <p:spPr>
          <a:xfrm>
            <a:off x="7589520" y="4937760"/>
            <a:ext cx="274320" cy="274320"/>
          </a:xfrm>
          <a:prstGeom prst="rect">
            <a:avLst/>
          </a:prstGeom>
        </p:spPr>
      </p:pic>
      <p:sp>
        <p:nvSpPr>
          <p:cNvPr id="39" name="Text 28"/>
          <p:cNvSpPr txBox="1"/>
          <p:nvPr/>
        </p:nvSpPr>
        <p:spPr>
          <a:xfrm>
            <a:off x="8001000" y="4910328"/>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Arabic and English, by voice</a:t>
            </a:r>
            <a:endParaRPr lang="en-US" sz="1150" dirty="0"/>
          </a:p>
        </p:txBody>
      </p:sp>
      <p:sp>
        <p:nvSpPr>
          <p:cNvPr id="40" name="Text 29"/>
          <p:cNvSpPr txBox="1"/>
          <p:nvPr/>
        </p:nvSpPr>
        <p:spPr>
          <a:xfrm>
            <a:off x="8001000" y="5166360"/>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ask between patients, or from the car</a:t>
            </a:r>
            <a:endParaRPr lang="en-US" sz="1000" dirty="0"/>
          </a:p>
        </p:txBody>
      </p:sp>
      <p:sp>
        <p:nvSpPr>
          <p:cNvPr id="41" name="Text 30"/>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100" b="1" dirty="0">
                <a:solidFill>
                  <a:srgbClr val="202124"/>
                </a:solidFill>
                <a:latin typeface="Arial" pitchFamily="34" charset="0"/>
                <a:ea typeface="Arial" pitchFamily="34" charset="-122"/>
                <a:cs typeface="Arial" pitchFamily="34" charset="-120"/>
              </a:rPr>
              <a:t>Focus for this engagement: </a:t>
            </a:r>
            <a:pPr indent="0" marL="0">
              <a:buNone/>
            </a:pPr>
            <a:r>
              <a:rPr lang="en-US" sz="1100" dirty="0">
                <a:solidFill>
                  <a:srgbClr val="5F6368"/>
                </a:solidFill>
                <a:latin typeface="Arial" pitchFamily="34" charset="0"/>
                <a:ea typeface="Arial" pitchFamily="34" charset="-122"/>
                <a:cs typeface="Arial" pitchFamily="34" charset="-120"/>
              </a:rPr>
              <a:t>type 2 diabetes, 4,000-patient synthetic exchange shaped like QHIE (FHIR R4 export, LOINC / ICD-10 / ATC coded, 36 months). Zero PHI.</a:t>
            </a:r>
            <a:endParaRPr lang="en-US" sz="1100" dirty="0"/>
          </a:p>
        </p:txBody>
      </p:sp>
      <p:sp>
        <p:nvSpPr>
          <p:cNvPr id="42" name="Text 31"/>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Ministry of Public Health, Qatar · Google Cloud Customer Engineering</a:t>
            </a:r>
            <a:endParaRPr lang="en-US" sz="850" dirty="0"/>
          </a:p>
        </p:txBody>
      </p:sp>
      <p:sp>
        <p:nvSpPr>
          <p:cNvPr id="43" name="Text 32"/>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How it works: one supervisor, five specialists</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Each specialist carries only the tools it needs; the supervisor plans and composes but never invents a number.</a:t>
            </a:r>
            <a:endParaRPr lang="en-US" sz="1300" dirty="0"/>
          </a:p>
        </p:txBody>
      </p:sp>
      <p:sp>
        <p:nvSpPr>
          <p:cNvPr id="4" name="Shape 2"/>
          <p:cNvSpPr/>
          <p:nvPr/>
        </p:nvSpPr>
        <p:spPr>
          <a:xfrm>
            <a:off x="4480560" y="1737360"/>
            <a:ext cx="3246120" cy="457200"/>
          </a:xfrm>
          <a:prstGeom prst="roundRect">
            <a:avLst>
              <a:gd name="adj" fmla="val 16000"/>
            </a:avLst>
          </a:prstGeom>
          <a:solidFill>
            <a:srgbClr val="F1F3F4"/>
          </a:solidFill>
          <a:ln w="12700">
            <a:solidFill>
              <a:srgbClr val="F1F3F4"/>
            </a:solidFill>
            <a:prstDash val="solid"/>
          </a:ln>
        </p:spPr>
      </p:sp>
      <p:pic>
        <p:nvPicPr>
          <p:cNvPr id="5" name="Image 0" descr="preencoded.png">    </p:cNvPr>
          <p:cNvPicPr>
            <a:picLocks noChangeAspect="1"/>
          </p:cNvPicPr>
          <p:nvPr/>
        </p:nvPicPr>
        <p:blipFill>
          <a:blip r:embed="rId1"/>
          <a:stretch>
            <a:fillRect/>
          </a:stretch>
        </p:blipFill>
        <p:spPr>
          <a:xfrm>
            <a:off x="4617720" y="1837944"/>
            <a:ext cx="256032" cy="256032"/>
          </a:xfrm>
          <a:prstGeom prst="rect">
            <a:avLst/>
          </a:prstGeom>
        </p:spPr>
      </p:pic>
      <p:sp>
        <p:nvSpPr>
          <p:cNvPr id="6" name="Text 3"/>
          <p:cNvSpPr txBox="1"/>
          <p:nvPr/>
        </p:nvSpPr>
        <p:spPr>
          <a:xfrm>
            <a:off x="4956048" y="1737360"/>
            <a:ext cx="2743200" cy="457200"/>
          </a:xfrm>
          <a:prstGeom prst="rect">
            <a:avLst/>
          </a:prstGeom>
          <a:noFill/>
          <a:ln/>
        </p:spPr>
        <p:txBody>
          <a:bodyPr wrap="square" lIns="0" tIns="0" rIns="0" bIns="0" rtlCol="0" anchor="ctr"/>
          <a:lstStyle/>
          <a:p>
            <a:pPr indent="0" marL="0">
              <a:buNone/>
            </a:pPr>
            <a:r>
              <a:rPr lang="en-US" sz="1050" i="1" dirty="0">
                <a:solidFill>
                  <a:srgbClr val="202124"/>
                </a:solidFill>
                <a:latin typeface="Arial" pitchFamily="34" charset="0"/>
                <a:ea typeface="Arial" pitchFamily="34" charset="-122"/>
                <a:cs typeface="Arial" pitchFamily="34" charset="-120"/>
              </a:rPr>
              <a:t>"Who on my panel needs attention today?"</a:t>
            </a:r>
            <a:endParaRPr lang="en-US" sz="1050" dirty="0"/>
          </a:p>
        </p:txBody>
      </p:sp>
      <p:sp>
        <p:nvSpPr>
          <p:cNvPr id="7" name="Shape 4"/>
          <p:cNvSpPr/>
          <p:nvPr/>
        </p:nvSpPr>
        <p:spPr>
          <a:xfrm>
            <a:off x="6099048" y="2212848"/>
            <a:ext cx="0" cy="192024"/>
          </a:xfrm>
          <a:prstGeom prst="line">
            <a:avLst/>
          </a:prstGeom>
          <a:noFill/>
          <a:ln w="15875">
            <a:solidFill>
              <a:srgbClr val="5F6368"/>
            </a:solidFill>
            <a:prstDash val="solid"/>
            <a:tailEnd type="triangle"/>
          </a:ln>
        </p:spPr>
      </p:sp>
      <p:sp>
        <p:nvSpPr>
          <p:cNvPr id="8" name="Shape 5"/>
          <p:cNvSpPr/>
          <p:nvPr/>
        </p:nvSpPr>
        <p:spPr>
          <a:xfrm>
            <a:off x="3931920" y="2423160"/>
            <a:ext cx="4343400" cy="777240"/>
          </a:xfrm>
          <a:prstGeom prst="roundRect">
            <a:avLst>
              <a:gd name="adj" fmla="val 9412"/>
            </a:avLst>
          </a:prstGeom>
          <a:solidFill>
            <a:srgbClr val="4285F4"/>
          </a:solidFill>
          <a:ln w="12700">
            <a:solidFill>
              <a:srgbClr val="4285F4"/>
            </a:solidFill>
            <a:prstDash val="solid"/>
          </a:ln>
        </p:spPr>
      </p:sp>
      <p:sp>
        <p:nvSpPr>
          <p:cNvPr id="9" name="Text 6"/>
          <p:cNvSpPr txBox="1"/>
          <p:nvPr/>
        </p:nvSpPr>
        <p:spPr>
          <a:xfrm>
            <a:off x="4114800" y="2478024"/>
            <a:ext cx="402336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Nabd supervisor</a:t>
            </a:r>
            <a:endParaRPr lang="en-US" sz="1400" dirty="0"/>
          </a:p>
        </p:txBody>
      </p:sp>
      <p:sp>
        <p:nvSpPr>
          <p:cNvPr id="10" name="Text 7"/>
          <p:cNvSpPr txBox="1"/>
          <p:nvPr/>
        </p:nvSpPr>
        <p:spPr>
          <a:xfrm>
            <a:off x="4114800" y="2788920"/>
            <a:ext cx="4023360" cy="365760"/>
          </a:xfrm>
          <a:prstGeom prst="rect">
            <a:avLst/>
          </a:prstGeom>
          <a:noFill/>
          <a:ln/>
        </p:spPr>
        <p:txBody>
          <a:bodyPr wrap="square" lIns="0" tIns="0" rIns="0" bIns="0" rtlCol="0" anchor="t"/>
          <a:lstStyle/>
          <a:p>
            <a:pPr indent="0" marL="0">
              <a:buNone/>
            </a:pPr>
            <a:r>
              <a:rPr lang="en-US" sz="950" dirty="0">
                <a:solidFill>
                  <a:srgbClr val="FFFFFF"/>
                </a:solidFill>
                <a:latin typeface="Arial" pitchFamily="34" charset="0"/>
                <a:ea typeface="Arial" pitchFamily="34" charset="-122"/>
                <a:cs typeface="Arial" pitchFamily="34" charset="-120"/>
              </a:rPr>
              <a:t>Gemini 3.8 Flash on the Agent Development Kit — plans, routes, composes; never guesses a number</a:t>
            </a:r>
            <a:endParaRPr lang="en-US" sz="950" dirty="0"/>
          </a:p>
        </p:txBody>
      </p:sp>
      <p:sp>
        <p:nvSpPr>
          <p:cNvPr id="11" name="Shape 8"/>
          <p:cNvSpPr/>
          <p:nvPr/>
        </p:nvSpPr>
        <p:spPr>
          <a:xfrm flipH="1">
            <a:off x="1600200" y="3200400"/>
            <a:ext cx="4498848" cy="384048"/>
          </a:xfrm>
          <a:prstGeom prst="line">
            <a:avLst/>
          </a:prstGeom>
          <a:noFill/>
          <a:ln w="15875">
            <a:solidFill>
              <a:srgbClr val="DADCE0"/>
            </a:solidFill>
            <a:prstDash val="solid"/>
            <a:tailEnd type="triangle"/>
          </a:ln>
        </p:spPr>
      </p:sp>
      <p:sp>
        <p:nvSpPr>
          <p:cNvPr id="12" name="Shape 9"/>
          <p:cNvSpPr/>
          <p:nvPr/>
        </p:nvSpPr>
        <p:spPr>
          <a:xfrm>
            <a:off x="548640" y="3611880"/>
            <a:ext cx="2103120" cy="658368"/>
          </a:xfrm>
          <a:prstGeom prst="roundRect">
            <a:avLst>
              <a:gd name="adj" fmla="val 11111"/>
            </a:avLst>
          </a:prstGeom>
          <a:solidFill>
            <a:srgbClr val="FFFFFF"/>
          </a:solidFill>
          <a:ln w="9525">
            <a:solidFill>
              <a:srgbClr val="DADCE0"/>
            </a:solidFill>
            <a:prstDash val="solid"/>
          </a:ln>
        </p:spPr>
      </p:sp>
      <p:sp>
        <p:nvSpPr>
          <p:cNvPr id="13" name="Shape 10"/>
          <p:cNvSpPr/>
          <p:nvPr/>
        </p:nvSpPr>
        <p:spPr>
          <a:xfrm>
            <a:off x="658368" y="3712464"/>
            <a:ext cx="457200" cy="457200"/>
          </a:xfrm>
          <a:prstGeom prst="ellipse">
            <a:avLst/>
          </a:prstGeom>
          <a:solidFill>
            <a:srgbClr val="4285F4"/>
          </a:solidFill>
          <a:ln w="12700">
            <a:solidFill>
              <a:srgbClr val="4285F4"/>
            </a:solidFill>
            <a:prstDash val="solid"/>
          </a:ln>
        </p:spPr>
      </p:sp>
      <p:pic>
        <p:nvPicPr>
          <p:cNvPr id="14" name="Image 1" descr="preencoded.png">    </p:cNvPr>
          <p:cNvPicPr>
            <a:picLocks noChangeAspect="1"/>
          </p:cNvPicPr>
          <p:nvPr/>
        </p:nvPicPr>
        <p:blipFill>
          <a:blip r:embed="rId2"/>
          <a:stretch>
            <a:fillRect/>
          </a:stretch>
        </p:blipFill>
        <p:spPr>
          <a:xfrm>
            <a:off x="768096" y="3822192"/>
            <a:ext cx="237744" cy="237744"/>
          </a:xfrm>
          <a:prstGeom prst="rect">
            <a:avLst/>
          </a:prstGeom>
        </p:spPr>
      </p:pic>
      <p:sp>
        <p:nvSpPr>
          <p:cNvPr id="15" name="Text 11"/>
          <p:cNvSpPr txBox="1"/>
          <p:nvPr/>
        </p:nvSpPr>
        <p:spPr>
          <a:xfrm>
            <a:off x="118872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Data specialist</a:t>
            </a:r>
            <a:endParaRPr lang="en-US" sz="1100" dirty="0"/>
          </a:p>
        </p:txBody>
      </p:sp>
      <p:sp>
        <p:nvSpPr>
          <p:cNvPr id="16" name="Shape 12"/>
          <p:cNvSpPr/>
          <p:nvPr/>
        </p:nvSpPr>
        <p:spPr>
          <a:xfrm>
            <a:off x="1600200" y="4270248"/>
            <a:ext cx="0" cy="192024"/>
          </a:xfrm>
          <a:prstGeom prst="line">
            <a:avLst/>
          </a:prstGeom>
          <a:noFill/>
          <a:ln w="15875">
            <a:solidFill>
              <a:srgbClr val="DADCE0"/>
            </a:solidFill>
            <a:prstDash val="solid"/>
            <a:tailEnd type="triangle"/>
          </a:ln>
        </p:spPr>
      </p:sp>
      <p:sp>
        <p:nvSpPr>
          <p:cNvPr id="17" name="Shape 13"/>
          <p:cNvSpPr/>
          <p:nvPr/>
        </p:nvSpPr>
        <p:spPr>
          <a:xfrm>
            <a:off x="548640" y="4480560"/>
            <a:ext cx="2103120" cy="1143000"/>
          </a:xfrm>
          <a:prstGeom prst="roundRect">
            <a:avLst>
              <a:gd name="adj" fmla="val 6400"/>
            </a:avLst>
          </a:prstGeom>
          <a:solidFill>
            <a:srgbClr val="F8F9FA"/>
          </a:solidFill>
          <a:ln w="12700">
            <a:solidFill>
              <a:srgbClr val="F8F9FA"/>
            </a:solidFill>
            <a:prstDash val="solid"/>
          </a:ln>
        </p:spPr>
      </p:sp>
      <p:sp>
        <p:nvSpPr>
          <p:cNvPr id="18" name="Text 14"/>
          <p:cNvSpPr txBox="1"/>
          <p:nvPr/>
        </p:nvSpPr>
        <p:spPr>
          <a:xfrm>
            <a:off x="68580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Cohorts, timelines, group-bys over the exchange</a:t>
            </a:r>
            <a:endParaRPr lang="en-US" sz="1000" dirty="0"/>
          </a:p>
        </p:txBody>
      </p:sp>
      <p:sp>
        <p:nvSpPr>
          <p:cNvPr id="19" name="Text 15"/>
          <p:cNvSpPr txBox="1"/>
          <p:nvPr/>
        </p:nvSpPr>
        <p:spPr>
          <a:xfrm>
            <a:off x="68580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4285F4"/>
                </a:solidFill>
                <a:latin typeface="Arial" pitchFamily="34" charset="0"/>
                <a:ea typeface="Arial" pitchFamily="34" charset="-122"/>
                <a:cs typeface="Arial" pitchFamily="34" charset="-120"/>
              </a:rPr>
              <a:t>HIE tables today · BigQuery in phase 2</a:t>
            </a:r>
            <a:endParaRPr lang="en-US" sz="900" dirty="0"/>
          </a:p>
        </p:txBody>
      </p:sp>
      <p:sp>
        <p:nvSpPr>
          <p:cNvPr id="20" name="Shape 16"/>
          <p:cNvSpPr/>
          <p:nvPr/>
        </p:nvSpPr>
        <p:spPr>
          <a:xfrm flipH="1">
            <a:off x="3840480" y="3200400"/>
            <a:ext cx="2258568" cy="384048"/>
          </a:xfrm>
          <a:prstGeom prst="line">
            <a:avLst/>
          </a:prstGeom>
          <a:noFill/>
          <a:ln w="15875">
            <a:solidFill>
              <a:srgbClr val="DADCE0"/>
            </a:solidFill>
            <a:prstDash val="solid"/>
            <a:tailEnd type="triangle"/>
          </a:ln>
        </p:spPr>
      </p:sp>
      <p:sp>
        <p:nvSpPr>
          <p:cNvPr id="21" name="Shape 17"/>
          <p:cNvSpPr/>
          <p:nvPr/>
        </p:nvSpPr>
        <p:spPr>
          <a:xfrm>
            <a:off x="2788920" y="3611880"/>
            <a:ext cx="2103120" cy="658368"/>
          </a:xfrm>
          <a:prstGeom prst="roundRect">
            <a:avLst>
              <a:gd name="adj" fmla="val 11111"/>
            </a:avLst>
          </a:prstGeom>
          <a:solidFill>
            <a:srgbClr val="FFFFFF"/>
          </a:solidFill>
          <a:ln w="9525">
            <a:solidFill>
              <a:srgbClr val="DADCE0"/>
            </a:solidFill>
            <a:prstDash val="solid"/>
          </a:ln>
        </p:spPr>
      </p:sp>
      <p:sp>
        <p:nvSpPr>
          <p:cNvPr id="22" name="Shape 18"/>
          <p:cNvSpPr/>
          <p:nvPr/>
        </p:nvSpPr>
        <p:spPr>
          <a:xfrm>
            <a:off x="2898648" y="3712464"/>
            <a:ext cx="457200" cy="457200"/>
          </a:xfrm>
          <a:prstGeom prst="ellipse">
            <a:avLst/>
          </a:prstGeom>
          <a:solidFill>
            <a:srgbClr val="EA4335"/>
          </a:solidFill>
          <a:ln w="12700">
            <a:solidFill>
              <a:srgbClr val="EA4335"/>
            </a:solidFill>
            <a:prstDash val="solid"/>
          </a:ln>
        </p:spPr>
      </p:sp>
      <p:pic>
        <p:nvPicPr>
          <p:cNvPr id="23" name="Image 2" descr="preencoded.png">    </p:cNvPr>
          <p:cNvPicPr>
            <a:picLocks noChangeAspect="1"/>
          </p:cNvPicPr>
          <p:nvPr/>
        </p:nvPicPr>
        <p:blipFill>
          <a:blip r:embed="rId3"/>
          <a:stretch>
            <a:fillRect/>
          </a:stretch>
        </p:blipFill>
        <p:spPr>
          <a:xfrm>
            <a:off x="3008376" y="3822192"/>
            <a:ext cx="237744" cy="237744"/>
          </a:xfrm>
          <a:prstGeom prst="rect">
            <a:avLst/>
          </a:prstGeom>
        </p:spPr>
      </p:pic>
      <p:sp>
        <p:nvSpPr>
          <p:cNvPr id="24" name="Text 19"/>
          <p:cNvSpPr txBox="1"/>
          <p:nvPr/>
        </p:nvSpPr>
        <p:spPr>
          <a:xfrm>
            <a:off x="342900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Guideline specialist</a:t>
            </a:r>
            <a:endParaRPr lang="en-US" sz="1100" dirty="0"/>
          </a:p>
        </p:txBody>
      </p:sp>
      <p:sp>
        <p:nvSpPr>
          <p:cNvPr id="25" name="Shape 20"/>
          <p:cNvSpPr/>
          <p:nvPr/>
        </p:nvSpPr>
        <p:spPr>
          <a:xfrm>
            <a:off x="3840480" y="4270248"/>
            <a:ext cx="0" cy="192024"/>
          </a:xfrm>
          <a:prstGeom prst="line">
            <a:avLst/>
          </a:prstGeom>
          <a:noFill/>
          <a:ln w="15875">
            <a:solidFill>
              <a:srgbClr val="DADCE0"/>
            </a:solidFill>
            <a:prstDash val="solid"/>
            <a:tailEnd type="triangle"/>
          </a:ln>
        </p:spPr>
      </p:sp>
      <p:sp>
        <p:nvSpPr>
          <p:cNvPr id="26" name="Shape 21"/>
          <p:cNvSpPr/>
          <p:nvPr/>
        </p:nvSpPr>
        <p:spPr>
          <a:xfrm>
            <a:off x="2788920" y="4480560"/>
            <a:ext cx="2103120" cy="1143000"/>
          </a:xfrm>
          <a:prstGeom prst="roundRect">
            <a:avLst>
              <a:gd name="adj" fmla="val 6400"/>
            </a:avLst>
          </a:prstGeom>
          <a:solidFill>
            <a:srgbClr val="F8F9FA"/>
          </a:solidFill>
          <a:ln w="12700">
            <a:solidFill>
              <a:srgbClr val="F8F9FA"/>
            </a:solidFill>
            <a:prstDash val="solid"/>
          </a:ln>
        </p:spPr>
      </p:sp>
      <p:sp>
        <p:nvSpPr>
          <p:cNvPr id="27" name="Text 22"/>
          <p:cNvSpPr txBox="1"/>
          <p:nvPr/>
        </p:nvSpPr>
        <p:spPr>
          <a:xfrm>
            <a:off x="292608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Retrieval over MOPH guidelines with page citations</a:t>
            </a:r>
            <a:endParaRPr lang="en-US" sz="1000" dirty="0"/>
          </a:p>
        </p:txBody>
      </p:sp>
      <p:sp>
        <p:nvSpPr>
          <p:cNvPr id="28" name="Text 23"/>
          <p:cNvSpPr txBox="1"/>
          <p:nvPr/>
        </p:nvSpPr>
        <p:spPr>
          <a:xfrm>
            <a:off x="292608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EA4335"/>
                </a:solidFill>
                <a:latin typeface="Arial" pitchFamily="34" charset="0"/>
                <a:ea typeface="Arial" pitchFamily="34" charset="-122"/>
                <a:cs typeface="Arial" pitchFamily="34" charset="-120"/>
              </a:rPr>
              <a:t>Hybrid search · RAG Engine in phase 2</a:t>
            </a:r>
            <a:endParaRPr lang="en-US" sz="900" dirty="0"/>
          </a:p>
        </p:txBody>
      </p:sp>
      <p:sp>
        <p:nvSpPr>
          <p:cNvPr id="29" name="Shape 24"/>
          <p:cNvSpPr/>
          <p:nvPr/>
        </p:nvSpPr>
        <p:spPr>
          <a:xfrm flipH="1">
            <a:off x="6080760" y="3200400"/>
            <a:ext cx="18288" cy="384048"/>
          </a:xfrm>
          <a:prstGeom prst="line">
            <a:avLst/>
          </a:prstGeom>
          <a:noFill/>
          <a:ln w="15875">
            <a:solidFill>
              <a:srgbClr val="DADCE0"/>
            </a:solidFill>
            <a:prstDash val="solid"/>
            <a:tailEnd type="triangle"/>
          </a:ln>
        </p:spPr>
      </p:sp>
      <p:sp>
        <p:nvSpPr>
          <p:cNvPr id="30" name="Shape 25"/>
          <p:cNvSpPr/>
          <p:nvPr/>
        </p:nvSpPr>
        <p:spPr>
          <a:xfrm>
            <a:off x="5029200" y="3611880"/>
            <a:ext cx="2103120" cy="658368"/>
          </a:xfrm>
          <a:prstGeom prst="roundRect">
            <a:avLst>
              <a:gd name="adj" fmla="val 11111"/>
            </a:avLst>
          </a:prstGeom>
          <a:solidFill>
            <a:srgbClr val="FFFFFF"/>
          </a:solidFill>
          <a:ln w="9525">
            <a:solidFill>
              <a:srgbClr val="DADCE0"/>
            </a:solidFill>
            <a:prstDash val="solid"/>
          </a:ln>
        </p:spPr>
      </p:sp>
      <p:sp>
        <p:nvSpPr>
          <p:cNvPr id="31" name="Shape 26"/>
          <p:cNvSpPr/>
          <p:nvPr/>
        </p:nvSpPr>
        <p:spPr>
          <a:xfrm>
            <a:off x="5138928" y="3712464"/>
            <a:ext cx="457200" cy="457200"/>
          </a:xfrm>
          <a:prstGeom prst="ellipse">
            <a:avLst/>
          </a:prstGeom>
          <a:solidFill>
            <a:srgbClr val="FBBC04"/>
          </a:solidFill>
          <a:ln w="12700">
            <a:solidFill>
              <a:srgbClr val="FBBC04"/>
            </a:solidFill>
            <a:prstDash val="solid"/>
          </a:ln>
        </p:spPr>
      </p:sp>
      <p:pic>
        <p:nvPicPr>
          <p:cNvPr id="32" name="Image 3" descr="preencoded.png">    </p:cNvPr>
          <p:cNvPicPr>
            <a:picLocks noChangeAspect="1"/>
          </p:cNvPicPr>
          <p:nvPr/>
        </p:nvPicPr>
        <p:blipFill>
          <a:blip r:embed="rId4"/>
          <a:stretch>
            <a:fillRect/>
          </a:stretch>
        </p:blipFill>
        <p:spPr>
          <a:xfrm>
            <a:off x="5248656" y="3822192"/>
            <a:ext cx="237744" cy="237744"/>
          </a:xfrm>
          <a:prstGeom prst="rect">
            <a:avLst/>
          </a:prstGeom>
        </p:spPr>
      </p:pic>
      <p:sp>
        <p:nvSpPr>
          <p:cNvPr id="33" name="Text 27"/>
          <p:cNvSpPr txBox="1"/>
          <p:nvPr/>
        </p:nvSpPr>
        <p:spPr>
          <a:xfrm>
            <a:off x="566928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Risk specialist</a:t>
            </a:r>
            <a:endParaRPr lang="en-US" sz="1100" dirty="0"/>
          </a:p>
        </p:txBody>
      </p:sp>
      <p:sp>
        <p:nvSpPr>
          <p:cNvPr id="34" name="Shape 28"/>
          <p:cNvSpPr/>
          <p:nvPr/>
        </p:nvSpPr>
        <p:spPr>
          <a:xfrm>
            <a:off x="6080760" y="4270248"/>
            <a:ext cx="0" cy="192024"/>
          </a:xfrm>
          <a:prstGeom prst="line">
            <a:avLst/>
          </a:prstGeom>
          <a:noFill/>
          <a:ln w="15875">
            <a:solidFill>
              <a:srgbClr val="DADCE0"/>
            </a:solidFill>
            <a:prstDash val="solid"/>
            <a:tailEnd type="triangle"/>
          </a:ln>
        </p:spPr>
      </p:sp>
      <p:sp>
        <p:nvSpPr>
          <p:cNvPr id="35" name="Shape 29"/>
          <p:cNvSpPr/>
          <p:nvPr/>
        </p:nvSpPr>
        <p:spPr>
          <a:xfrm>
            <a:off x="5029200" y="4480560"/>
            <a:ext cx="2103120" cy="1143000"/>
          </a:xfrm>
          <a:prstGeom prst="roundRect">
            <a:avLst>
              <a:gd name="adj" fmla="val 6400"/>
            </a:avLst>
          </a:prstGeom>
          <a:solidFill>
            <a:srgbClr val="F8F9FA"/>
          </a:solidFill>
          <a:ln w="12700">
            <a:solidFill>
              <a:srgbClr val="F8F9FA"/>
            </a:solidFill>
            <a:prstDash val="solid"/>
          </a:ln>
        </p:spPr>
      </p:sp>
      <p:sp>
        <p:nvSpPr>
          <p:cNvPr id="36" name="Text 30"/>
          <p:cNvSpPr txBox="1"/>
          <p:nvPr/>
        </p:nvSpPr>
        <p:spPr>
          <a:xfrm>
            <a:off x="516636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Scores, explains, forecasts, simulates</a:t>
            </a:r>
            <a:endParaRPr lang="en-US" sz="1000" dirty="0"/>
          </a:p>
        </p:txBody>
      </p:sp>
      <p:sp>
        <p:nvSpPr>
          <p:cNvPr id="37" name="Text 31"/>
          <p:cNvSpPr txBox="1"/>
          <p:nvPr/>
        </p:nvSpPr>
        <p:spPr>
          <a:xfrm>
            <a:off x="516636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B06000"/>
                </a:solidFill>
                <a:latin typeface="Arial" pitchFamily="34" charset="0"/>
                <a:ea typeface="Arial" pitchFamily="34" charset="-122"/>
                <a:cs typeface="Arial" pitchFamily="34" charset="-120"/>
              </a:rPr>
              <a:t>XGBoost risk (AUC 0.85) · segments · forecast</a:t>
            </a:r>
            <a:endParaRPr lang="en-US" sz="900" dirty="0"/>
          </a:p>
        </p:txBody>
      </p:sp>
      <p:sp>
        <p:nvSpPr>
          <p:cNvPr id="38" name="Shape 32"/>
          <p:cNvSpPr/>
          <p:nvPr/>
        </p:nvSpPr>
        <p:spPr>
          <a:xfrm>
            <a:off x="6099048" y="3200400"/>
            <a:ext cx="2221992" cy="384048"/>
          </a:xfrm>
          <a:prstGeom prst="line">
            <a:avLst/>
          </a:prstGeom>
          <a:noFill/>
          <a:ln w="15875">
            <a:solidFill>
              <a:srgbClr val="DADCE0"/>
            </a:solidFill>
            <a:prstDash val="solid"/>
            <a:tailEnd type="triangle"/>
          </a:ln>
        </p:spPr>
      </p:sp>
      <p:sp>
        <p:nvSpPr>
          <p:cNvPr id="39" name="Shape 33"/>
          <p:cNvSpPr/>
          <p:nvPr/>
        </p:nvSpPr>
        <p:spPr>
          <a:xfrm>
            <a:off x="7269480" y="3611880"/>
            <a:ext cx="2103120" cy="658368"/>
          </a:xfrm>
          <a:prstGeom prst="roundRect">
            <a:avLst>
              <a:gd name="adj" fmla="val 11111"/>
            </a:avLst>
          </a:prstGeom>
          <a:solidFill>
            <a:srgbClr val="FFFFFF"/>
          </a:solidFill>
          <a:ln w="9525">
            <a:solidFill>
              <a:srgbClr val="DADCE0"/>
            </a:solidFill>
            <a:prstDash val="solid"/>
          </a:ln>
        </p:spPr>
      </p:sp>
      <p:sp>
        <p:nvSpPr>
          <p:cNvPr id="40" name="Shape 34"/>
          <p:cNvSpPr/>
          <p:nvPr/>
        </p:nvSpPr>
        <p:spPr>
          <a:xfrm>
            <a:off x="7379208" y="3712464"/>
            <a:ext cx="457200" cy="457200"/>
          </a:xfrm>
          <a:prstGeom prst="ellipse">
            <a:avLst/>
          </a:prstGeom>
          <a:solidFill>
            <a:srgbClr val="34A853"/>
          </a:solidFill>
          <a:ln w="12700">
            <a:solidFill>
              <a:srgbClr val="34A853"/>
            </a:solidFill>
            <a:prstDash val="solid"/>
          </a:ln>
        </p:spPr>
      </p:sp>
      <p:pic>
        <p:nvPicPr>
          <p:cNvPr id="41" name="Image 4" descr="preencoded.png">    </p:cNvPr>
          <p:cNvPicPr>
            <a:picLocks noChangeAspect="1"/>
          </p:cNvPicPr>
          <p:nvPr/>
        </p:nvPicPr>
        <p:blipFill>
          <a:blip r:embed="rId5"/>
          <a:stretch>
            <a:fillRect/>
          </a:stretch>
        </p:blipFill>
        <p:spPr>
          <a:xfrm>
            <a:off x="7488936" y="3822192"/>
            <a:ext cx="237744" cy="237744"/>
          </a:xfrm>
          <a:prstGeom prst="rect">
            <a:avLst/>
          </a:prstGeom>
        </p:spPr>
      </p:pic>
      <p:sp>
        <p:nvSpPr>
          <p:cNvPr id="42" name="Text 35"/>
          <p:cNvSpPr txBox="1"/>
          <p:nvPr/>
        </p:nvSpPr>
        <p:spPr>
          <a:xfrm>
            <a:off x="790956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Population-health MCP</a:t>
            </a:r>
            <a:endParaRPr lang="en-US" sz="1100" dirty="0"/>
          </a:p>
        </p:txBody>
      </p:sp>
      <p:sp>
        <p:nvSpPr>
          <p:cNvPr id="43" name="Shape 36"/>
          <p:cNvSpPr/>
          <p:nvPr/>
        </p:nvSpPr>
        <p:spPr>
          <a:xfrm>
            <a:off x="8321040" y="4270248"/>
            <a:ext cx="0" cy="192024"/>
          </a:xfrm>
          <a:prstGeom prst="line">
            <a:avLst/>
          </a:prstGeom>
          <a:noFill/>
          <a:ln w="15875">
            <a:solidFill>
              <a:srgbClr val="DADCE0"/>
            </a:solidFill>
            <a:prstDash val="solid"/>
            <a:tailEnd type="triangle"/>
          </a:ln>
        </p:spPr>
      </p:sp>
      <p:sp>
        <p:nvSpPr>
          <p:cNvPr id="44" name="Shape 37"/>
          <p:cNvSpPr/>
          <p:nvPr/>
        </p:nvSpPr>
        <p:spPr>
          <a:xfrm>
            <a:off x="7269480" y="4480560"/>
            <a:ext cx="2103120" cy="1143000"/>
          </a:xfrm>
          <a:prstGeom prst="roundRect">
            <a:avLst>
              <a:gd name="adj" fmla="val 6400"/>
            </a:avLst>
          </a:prstGeom>
          <a:solidFill>
            <a:srgbClr val="F8F9FA"/>
          </a:solidFill>
          <a:ln w="12700">
            <a:solidFill>
              <a:srgbClr val="F8F9FA"/>
            </a:solidFill>
            <a:prstDash val="solid"/>
          </a:ln>
        </p:spPr>
      </p:sp>
      <p:sp>
        <p:nvSpPr>
          <p:cNvPr id="45" name="Text 38"/>
          <p:cNvSpPr txBox="1"/>
          <p:nvPr/>
        </p:nvSpPr>
        <p:spPr>
          <a:xfrm>
            <a:off x="740664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Care gaps, quality measures, stratification</a:t>
            </a:r>
            <a:endParaRPr lang="en-US" sz="1000" dirty="0"/>
          </a:p>
        </p:txBody>
      </p:sp>
      <p:sp>
        <p:nvSpPr>
          <p:cNvPr id="46" name="Text 39"/>
          <p:cNvSpPr txBox="1"/>
          <p:nvPr/>
        </p:nvSpPr>
        <p:spPr>
          <a:xfrm>
            <a:off x="740664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34A853"/>
                </a:solidFill>
                <a:latin typeface="Arial" pitchFamily="34" charset="0"/>
                <a:ea typeface="Arial" pitchFamily="34" charset="-122"/>
                <a:cs typeface="Arial" pitchFamily="34" charset="-120"/>
              </a:rPr>
              <a:t>Nabd MCP server — the gap in Google's catalogue</a:t>
            </a:r>
            <a:endParaRPr lang="en-US" sz="900" dirty="0"/>
          </a:p>
        </p:txBody>
      </p:sp>
      <p:sp>
        <p:nvSpPr>
          <p:cNvPr id="47" name="Shape 40"/>
          <p:cNvSpPr/>
          <p:nvPr/>
        </p:nvSpPr>
        <p:spPr>
          <a:xfrm>
            <a:off x="6099048" y="3200400"/>
            <a:ext cx="4462272" cy="384048"/>
          </a:xfrm>
          <a:prstGeom prst="line">
            <a:avLst/>
          </a:prstGeom>
          <a:noFill/>
          <a:ln w="15875">
            <a:solidFill>
              <a:srgbClr val="DADCE0"/>
            </a:solidFill>
            <a:prstDash val="solid"/>
            <a:tailEnd type="triangle"/>
          </a:ln>
        </p:spPr>
      </p:sp>
      <p:sp>
        <p:nvSpPr>
          <p:cNvPr id="48" name="Shape 41"/>
          <p:cNvSpPr/>
          <p:nvPr/>
        </p:nvSpPr>
        <p:spPr>
          <a:xfrm>
            <a:off x="9509760" y="3611880"/>
            <a:ext cx="2103120" cy="658368"/>
          </a:xfrm>
          <a:prstGeom prst="roundRect">
            <a:avLst>
              <a:gd name="adj" fmla="val 11111"/>
            </a:avLst>
          </a:prstGeom>
          <a:solidFill>
            <a:srgbClr val="FFFFFF"/>
          </a:solidFill>
          <a:ln w="9525">
            <a:solidFill>
              <a:srgbClr val="DADCE0"/>
            </a:solidFill>
            <a:prstDash val="solid"/>
          </a:ln>
        </p:spPr>
      </p:sp>
      <p:sp>
        <p:nvSpPr>
          <p:cNvPr id="49" name="Shape 42"/>
          <p:cNvSpPr/>
          <p:nvPr/>
        </p:nvSpPr>
        <p:spPr>
          <a:xfrm>
            <a:off x="9619488" y="3712464"/>
            <a:ext cx="457200" cy="457200"/>
          </a:xfrm>
          <a:prstGeom prst="ellipse">
            <a:avLst/>
          </a:prstGeom>
          <a:solidFill>
            <a:srgbClr val="5F6368"/>
          </a:solidFill>
          <a:ln w="12700">
            <a:solidFill>
              <a:srgbClr val="5F6368"/>
            </a:solidFill>
            <a:prstDash val="solid"/>
          </a:ln>
        </p:spPr>
      </p:sp>
      <p:pic>
        <p:nvPicPr>
          <p:cNvPr id="50" name="Image 5" descr="preencoded.png">    </p:cNvPr>
          <p:cNvPicPr>
            <a:picLocks noChangeAspect="1"/>
          </p:cNvPicPr>
          <p:nvPr/>
        </p:nvPicPr>
        <p:blipFill>
          <a:blip r:embed="rId6"/>
          <a:stretch>
            <a:fillRect/>
          </a:stretch>
        </p:blipFill>
        <p:spPr>
          <a:xfrm>
            <a:off x="9729216" y="3822192"/>
            <a:ext cx="237744" cy="237744"/>
          </a:xfrm>
          <a:prstGeom prst="rect">
            <a:avLst/>
          </a:prstGeom>
        </p:spPr>
      </p:pic>
      <p:sp>
        <p:nvSpPr>
          <p:cNvPr id="51" name="Text 43"/>
          <p:cNvSpPr txBox="1"/>
          <p:nvPr/>
        </p:nvSpPr>
        <p:spPr>
          <a:xfrm>
            <a:off x="1014984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Action specialist</a:t>
            </a:r>
            <a:endParaRPr lang="en-US" sz="1100" dirty="0"/>
          </a:p>
        </p:txBody>
      </p:sp>
      <p:sp>
        <p:nvSpPr>
          <p:cNvPr id="52" name="Shape 44"/>
          <p:cNvSpPr/>
          <p:nvPr/>
        </p:nvSpPr>
        <p:spPr>
          <a:xfrm>
            <a:off x="10561320" y="4270248"/>
            <a:ext cx="0" cy="192024"/>
          </a:xfrm>
          <a:prstGeom prst="line">
            <a:avLst/>
          </a:prstGeom>
          <a:noFill/>
          <a:ln w="15875">
            <a:solidFill>
              <a:srgbClr val="DADCE0"/>
            </a:solidFill>
            <a:prstDash val="solid"/>
            <a:tailEnd type="triangle"/>
          </a:ln>
        </p:spPr>
      </p:sp>
      <p:sp>
        <p:nvSpPr>
          <p:cNvPr id="53" name="Shape 45"/>
          <p:cNvSpPr/>
          <p:nvPr/>
        </p:nvSpPr>
        <p:spPr>
          <a:xfrm>
            <a:off x="9509760" y="4480560"/>
            <a:ext cx="2103120" cy="1143000"/>
          </a:xfrm>
          <a:prstGeom prst="roundRect">
            <a:avLst>
              <a:gd name="adj" fmla="val 6400"/>
            </a:avLst>
          </a:prstGeom>
          <a:solidFill>
            <a:srgbClr val="F8F9FA"/>
          </a:solidFill>
          <a:ln w="12700">
            <a:solidFill>
              <a:srgbClr val="F8F9FA"/>
            </a:solidFill>
            <a:prstDash val="solid"/>
          </a:ln>
        </p:spPr>
      </p:sp>
      <p:sp>
        <p:nvSpPr>
          <p:cNvPr id="54" name="Text 46"/>
          <p:cNvSpPr txBox="1"/>
          <p:nvPr/>
        </p:nvSpPr>
        <p:spPr>
          <a:xfrm>
            <a:off x="964692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Drafts prescriptions, recalls, referrals</a:t>
            </a:r>
            <a:endParaRPr lang="en-US" sz="1000" dirty="0"/>
          </a:p>
        </p:txBody>
      </p:sp>
      <p:sp>
        <p:nvSpPr>
          <p:cNvPr id="55" name="Text 47"/>
          <p:cNvSpPr txBox="1"/>
          <p:nvPr/>
        </p:nvSpPr>
        <p:spPr>
          <a:xfrm>
            <a:off x="964692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5F6368"/>
                </a:solidFill>
                <a:latin typeface="Arial" pitchFamily="34" charset="0"/>
                <a:ea typeface="Arial" pitchFamily="34" charset="-122"/>
                <a:cs typeface="Arial" pitchFamily="34" charset="-120"/>
              </a:rPr>
              <a:t>Human-in-the-loop approval queue</a:t>
            </a:r>
            <a:endParaRPr lang="en-US" sz="900" dirty="0"/>
          </a:p>
        </p:txBody>
      </p:sp>
      <p:sp>
        <p:nvSpPr>
          <p:cNvPr id="56" name="Shape 48"/>
          <p:cNvSpPr/>
          <p:nvPr/>
        </p:nvSpPr>
        <p:spPr>
          <a:xfrm>
            <a:off x="548640" y="5760720"/>
            <a:ext cx="11064240" cy="566928"/>
          </a:xfrm>
          <a:prstGeom prst="roundRect">
            <a:avLst>
              <a:gd name="adj" fmla="val 12903"/>
            </a:avLst>
          </a:prstGeom>
          <a:solidFill>
            <a:srgbClr val="E6F4EA"/>
          </a:solidFill>
          <a:ln w="12700">
            <a:solidFill>
              <a:srgbClr val="E6F4EA"/>
            </a:solidFill>
            <a:prstDash val="solid"/>
          </a:ln>
        </p:spPr>
      </p:sp>
      <p:pic>
        <p:nvPicPr>
          <p:cNvPr id="57" name="Image 6" descr="preencoded.png">    </p:cNvPr>
          <p:cNvPicPr>
            <a:picLocks noChangeAspect="1"/>
          </p:cNvPicPr>
          <p:nvPr/>
        </p:nvPicPr>
        <p:blipFill>
          <a:blip r:embed="rId7"/>
          <a:stretch>
            <a:fillRect/>
          </a:stretch>
        </p:blipFill>
        <p:spPr>
          <a:xfrm>
            <a:off x="731520" y="5907024"/>
            <a:ext cx="274320" cy="274320"/>
          </a:xfrm>
          <a:prstGeom prst="rect">
            <a:avLst/>
          </a:prstGeom>
        </p:spPr>
      </p:pic>
      <p:sp>
        <p:nvSpPr>
          <p:cNvPr id="58" name="Text 49"/>
          <p:cNvSpPr txBox="1"/>
          <p:nvPr/>
        </p:nvSpPr>
        <p:spPr>
          <a:xfrm>
            <a:off x="1097280" y="5779008"/>
            <a:ext cx="10424160" cy="548640"/>
          </a:xfrm>
          <a:prstGeom prst="rect">
            <a:avLst/>
          </a:prstGeom>
          <a:noFill/>
          <a:ln/>
        </p:spPr>
        <p:txBody>
          <a:bodyPr wrap="square" lIns="0" tIns="0" rIns="0" bIns="0" rtlCol="0" anchor="ctr"/>
          <a:lstStyle/>
          <a:p>
            <a:pPr indent="0" marL="0">
              <a:lnSpc>
                <a:spcPct val="110000"/>
              </a:lnSpc>
              <a:buNone/>
            </a:pPr>
            <a:r>
              <a:rPr lang="en-US" sz="1000" b="1" dirty="0">
                <a:solidFill>
                  <a:srgbClr val="202124"/>
                </a:solidFill>
                <a:latin typeface="Arial" pitchFamily="34" charset="0"/>
                <a:ea typeface="Arial" pitchFamily="34" charset="-122"/>
                <a:cs typeface="Arial" pitchFamily="34" charset="-120"/>
              </a:rPr>
              <a:t>Every answer ships with its evidence: </a:t>
            </a:r>
            <a:pPr indent="0" marL="0">
              <a:lnSpc>
                <a:spcPct val="110000"/>
              </a:lnSpc>
              <a:buNone/>
            </a:pPr>
            <a:r>
              <a:rPr lang="en-US" sz="1000" dirty="0">
                <a:solidFill>
                  <a:srgbClr val="5F6368"/>
                </a:solidFill>
                <a:latin typeface="Arial" pitchFamily="34" charset="0"/>
                <a:ea typeface="Arial" pitchFamily="34" charset="-122"/>
                <a:cs typeface="Arial" pitchFamily="34" charset="-120"/>
              </a:rPr>
              <a:t>the tool trace, guideline citations, model drivers and any drafted action — streamed live so the user watches the agents work. Specialists also mean least privilege (the guideline agent cannot draft a prescription) and ~30% fewer tokens per question than one flat agent.</a:t>
            </a:r>
            <a:endParaRPr lang="en-US" sz="1000" dirty="0"/>
          </a:p>
        </p:txBody>
      </p:sp>
      <p:sp>
        <p:nvSpPr>
          <p:cNvPr id="59" name="Text 50"/>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Ministry of Public Health, Qatar · Google Cloud Customer Engineering</a:t>
            </a:r>
            <a:endParaRPr lang="en-US" sz="850" dirty="0"/>
          </a:p>
        </p:txBody>
      </p:sp>
      <p:sp>
        <p:nvSpPr>
          <p:cNvPr id="60" name="Text 51"/>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Reference architecture A — SAS Viya, the federal-entity MVP</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What was built and proven first: agentic retrieval over guidelines, structured data in CAS, tools behind an MCP server.</a:t>
            </a:r>
            <a:endParaRPr lang="en-US" sz="1300" dirty="0"/>
          </a:p>
        </p:txBody>
      </p:sp>
      <p:sp>
        <p:nvSpPr>
          <p:cNvPr id="4" name="Shape 2"/>
          <p:cNvSpPr/>
          <p:nvPr/>
        </p:nvSpPr>
        <p:spPr>
          <a:xfrm>
            <a:off x="548640" y="1783080"/>
            <a:ext cx="2834640" cy="2606040"/>
          </a:xfrm>
          <a:prstGeom prst="roundRect">
            <a:avLst>
              <a:gd name="adj" fmla="val 4211"/>
            </a:avLst>
          </a:prstGeom>
          <a:solidFill>
            <a:srgbClr val="FFFFFF">
              <a:alpha val="0"/>
            </a:srgbClr>
          </a:solidFill>
          <a:ln w="12700">
            <a:solidFill>
              <a:srgbClr val="4285F4"/>
            </a:solidFill>
            <a:prstDash val="dash"/>
          </a:ln>
        </p:spPr>
      </p:sp>
      <p:sp>
        <p:nvSpPr>
          <p:cNvPr id="5" name="Text 3"/>
          <p:cNvSpPr txBox="1"/>
          <p:nvPr/>
        </p:nvSpPr>
        <p:spPr>
          <a:xfrm>
            <a:off x="731520" y="1874520"/>
            <a:ext cx="256032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UNSTRUCTURED DATA</a:t>
            </a:r>
            <a:endParaRPr lang="en-US" sz="850" dirty="0"/>
          </a:p>
        </p:txBody>
      </p:sp>
      <p:sp>
        <p:nvSpPr>
          <p:cNvPr id="6" name="Shape 4"/>
          <p:cNvSpPr/>
          <p:nvPr/>
        </p:nvSpPr>
        <p:spPr>
          <a:xfrm>
            <a:off x="731520" y="2103120"/>
            <a:ext cx="2468880" cy="713232"/>
          </a:xfrm>
          <a:prstGeom prst="roundRect">
            <a:avLst>
              <a:gd name="adj" fmla="val 7692"/>
            </a:avLst>
          </a:prstGeom>
          <a:solidFill>
            <a:srgbClr val="FFFFFF"/>
          </a:solidFill>
          <a:ln w="9525">
            <a:solidFill>
              <a:srgbClr val="DADCE0"/>
            </a:solidFill>
            <a:prstDash val="solid"/>
          </a:ln>
        </p:spPr>
      </p:sp>
      <p:pic>
        <p:nvPicPr>
          <p:cNvPr id="7" name="Image 0" descr="preencoded.png">    </p:cNvPr>
          <p:cNvPicPr>
            <a:picLocks noChangeAspect="1"/>
          </p:cNvPicPr>
          <p:nvPr/>
        </p:nvPicPr>
        <p:blipFill>
          <a:blip r:embed="rId1"/>
          <a:stretch>
            <a:fillRect/>
          </a:stretch>
        </p:blipFill>
        <p:spPr>
          <a:xfrm>
            <a:off x="841248" y="2203704"/>
            <a:ext cx="237744" cy="237744"/>
          </a:xfrm>
          <a:prstGeom prst="rect">
            <a:avLst/>
          </a:prstGeom>
        </p:spPr>
      </p:pic>
      <p:sp>
        <p:nvSpPr>
          <p:cNvPr id="8" name="Text 5"/>
          <p:cNvSpPr txBox="1"/>
          <p:nvPr/>
        </p:nvSpPr>
        <p:spPr>
          <a:xfrm>
            <a:off x="1152144" y="2176272"/>
            <a:ext cx="1975104" cy="274320"/>
          </a:xfrm>
          <a:prstGeom prst="rect">
            <a:avLst/>
          </a:prstGeom>
          <a:noFill/>
          <a:ln/>
        </p:spPr>
        <p:txBody>
          <a:bodyPr wrap="square" lIns="0" tIns="0" rIns="0" bIns="0" rtlCol="0" anchor="t"/>
          <a:lstStyle/>
          <a:p>
            <a:pPr indent="0" marL="0">
              <a:buNone/>
            </a:pPr>
            <a:r>
              <a:rPr lang="en-US" sz="1050" b="1" dirty="0">
                <a:solidFill>
                  <a:srgbClr val="202124"/>
                </a:solidFill>
                <a:latin typeface="Arial" pitchFamily="34" charset="0"/>
                <a:ea typeface="Arial" pitchFamily="34" charset="-122"/>
                <a:cs typeface="Arial" pitchFamily="34" charset="-120"/>
              </a:rPr>
              <a:t>Clinical guidelines &amp; policy</a:t>
            </a:r>
            <a:endParaRPr lang="en-US" sz="1050" dirty="0"/>
          </a:p>
        </p:txBody>
      </p:sp>
      <p:sp>
        <p:nvSpPr>
          <p:cNvPr id="9" name="Text 6"/>
          <p:cNvSpPr txBox="1"/>
          <p:nvPr/>
        </p:nvSpPr>
        <p:spPr>
          <a:xfrm>
            <a:off x="841248" y="2432304"/>
            <a:ext cx="2286000" cy="347472"/>
          </a:xfrm>
          <a:prstGeom prst="rect">
            <a:avLst/>
          </a:prstGeom>
          <a:noFill/>
          <a:ln/>
        </p:spPr>
        <p:txBody>
          <a:bodyPr wrap="square" lIns="0" tIns="0" rIns="0" bIns="0" rtlCol="0" anchor="t"/>
          <a:lstStyle/>
          <a:p>
            <a:pPr indent="0" marL="0">
              <a:lnSpc>
                <a:spcPct val="105000"/>
              </a:lnSpc>
              <a:buNone/>
            </a:pPr>
            <a:r>
              <a:rPr lang="en-US" sz="850" dirty="0">
                <a:solidFill>
                  <a:srgbClr val="5F6368"/>
                </a:solidFill>
                <a:latin typeface="Arial" pitchFamily="34" charset="0"/>
                <a:ea typeface="Arial" pitchFamily="34" charset="-122"/>
                <a:cs typeface="Arial" pitchFamily="34" charset="-120"/>
              </a:rPr>
              <a:t>national guidelines · care protocols · policy frameworks</a:t>
            </a:r>
            <a:endParaRPr lang="en-US" sz="850" dirty="0"/>
          </a:p>
        </p:txBody>
      </p:sp>
      <p:sp>
        <p:nvSpPr>
          <p:cNvPr id="10" name="Shape 7"/>
          <p:cNvSpPr/>
          <p:nvPr/>
        </p:nvSpPr>
        <p:spPr>
          <a:xfrm>
            <a:off x="1965960" y="2816352"/>
            <a:ext cx="0" cy="182880"/>
          </a:xfrm>
          <a:prstGeom prst="line">
            <a:avLst/>
          </a:prstGeom>
          <a:noFill/>
          <a:ln w="15875">
            <a:solidFill>
              <a:srgbClr val="5F6368"/>
            </a:solidFill>
            <a:prstDash val="solid"/>
            <a:tailEnd type="triangle"/>
          </a:ln>
        </p:spPr>
      </p:sp>
      <p:sp>
        <p:nvSpPr>
          <p:cNvPr id="11" name="Shape 8"/>
          <p:cNvSpPr/>
          <p:nvPr/>
        </p:nvSpPr>
        <p:spPr>
          <a:xfrm>
            <a:off x="731520" y="3017520"/>
            <a:ext cx="2468880" cy="384048"/>
          </a:xfrm>
          <a:prstGeom prst="roundRect">
            <a:avLst>
              <a:gd name="adj" fmla="val 14286"/>
            </a:avLst>
          </a:prstGeom>
          <a:solidFill>
            <a:srgbClr val="E8F0FE"/>
          </a:solidFill>
          <a:ln w="9525">
            <a:solidFill>
              <a:srgbClr val="E8F0FE"/>
            </a:solidFill>
            <a:prstDash val="solid"/>
          </a:ln>
        </p:spPr>
      </p:sp>
      <p:sp>
        <p:nvSpPr>
          <p:cNvPr id="12" name="Text 9"/>
          <p:cNvSpPr txBox="1"/>
          <p:nvPr/>
        </p:nvSpPr>
        <p:spPr>
          <a:xfrm>
            <a:off x="841248" y="3090672"/>
            <a:ext cx="2286000" cy="237744"/>
          </a:xfrm>
          <a:prstGeom prst="rect">
            <a:avLst/>
          </a:prstGeom>
          <a:noFill/>
          <a:ln/>
        </p:spPr>
        <p:txBody>
          <a:bodyPr wrap="square" lIns="0" tIns="0" rIns="0" bIns="0" rtlCol="0" anchor="ctr"/>
          <a:lstStyle/>
          <a:p>
            <a:pPr indent="0" marL="0">
              <a:buNone/>
            </a:pPr>
            <a:r>
              <a:rPr lang="en-US" sz="1050" b="1" dirty="0">
                <a:solidFill>
                  <a:srgbClr val="202124"/>
                </a:solidFill>
                <a:latin typeface="Arial" pitchFamily="34" charset="0"/>
                <a:ea typeface="Arial" pitchFamily="34" charset="-122"/>
                <a:cs typeface="Arial" pitchFamily="34" charset="-120"/>
              </a:rPr>
              <a:t>Embedding model</a:t>
            </a:r>
            <a:endParaRPr lang="en-US" sz="1050" dirty="0"/>
          </a:p>
        </p:txBody>
      </p:sp>
      <p:sp>
        <p:nvSpPr>
          <p:cNvPr id="13" name="Shape 10"/>
          <p:cNvSpPr/>
          <p:nvPr/>
        </p:nvSpPr>
        <p:spPr>
          <a:xfrm>
            <a:off x="1965960" y="3401568"/>
            <a:ext cx="0" cy="182880"/>
          </a:xfrm>
          <a:prstGeom prst="line">
            <a:avLst/>
          </a:prstGeom>
          <a:noFill/>
          <a:ln w="15875">
            <a:solidFill>
              <a:srgbClr val="5F6368"/>
            </a:solidFill>
            <a:prstDash val="solid"/>
            <a:tailEnd type="triangle"/>
          </a:ln>
        </p:spPr>
      </p:sp>
      <p:sp>
        <p:nvSpPr>
          <p:cNvPr id="14" name="Shape 11"/>
          <p:cNvSpPr/>
          <p:nvPr/>
        </p:nvSpPr>
        <p:spPr>
          <a:xfrm>
            <a:off x="731520" y="3602736"/>
            <a:ext cx="2468880" cy="603504"/>
          </a:xfrm>
          <a:prstGeom prst="roundRect">
            <a:avLst>
              <a:gd name="adj" fmla="val 9091"/>
            </a:avLst>
          </a:prstGeom>
          <a:solidFill>
            <a:srgbClr val="1A73E8"/>
          </a:solidFill>
          <a:ln w="9525">
            <a:solidFill>
              <a:srgbClr val="1A73E8"/>
            </a:solidFill>
            <a:prstDash val="solid"/>
          </a:ln>
        </p:spPr>
      </p:sp>
      <p:sp>
        <p:nvSpPr>
          <p:cNvPr id="15" name="Text 12"/>
          <p:cNvSpPr txBox="1"/>
          <p:nvPr/>
        </p:nvSpPr>
        <p:spPr>
          <a:xfrm>
            <a:off x="841248" y="3675888"/>
            <a:ext cx="2286000" cy="274320"/>
          </a:xfrm>
          <a:prstGeom prst="rect">
            <a:avLst/>
          </a:prstGeom>
          <a:noFill/>
          <a:ln/>
        </p:spPr>
        <p:txBody>
          <a:bodyPr wrap="square" lIns="0" tIns="0" rIns="0" bIns="0" rtlCol="0" anchor="t"/>
          <a:lstStyle/>
          <a:p>
            <a:pPr indent="0" marL="0">
              <a:buNone/>
            </a:pPr>
            <a:r>
              <a:rPr lang="en-US" sz="1050" b="1" dirty="0">
                <a:solidFill>
                  <a:srgbClr val="FFFFFF"/>
                </a:solidFill>
                <a:latin typeface="Arial" pitchFamily="34" charset="0"/>
                <a:ea typeface="Arial" pitchFamily="34" charset="-122"/>
                <a:cs typeface="Arial" pitchFamily="34" charset="-120"/>
              </a:rPr>
              <a:t>Vector store (RAG)</a:t>
            </a:r>
            <a:endParaRPr lang="en-US" sz="1050" dirty="0"/>
          </a:p>
        </p:txBody>
      </p:sp>
      <p:sp>
        <p:nvSpPr>
          <p:cNvPr id="16" name="Text 13"/>
          <p:cNvSpPr txBox="1"/>
          <p:nvPr/>
        </p:nvSpPr>
        <p:spPr>
          <a:xfrm>
            <a:off x="841248" y="3931920"/>
            <a:ext cx="2286000" cy="237744"/>
          </a:xfrm>
          <a:prstGeom prst="rect">
            <a:avLst/>
          </a:prstGeom>
          <a:noFill/>
          <a:ln/>
        </p:spPr>
        <p:txBody>
          <a:bodyPr wrap="square" lIns="0" tIns="0" rIns="0" bIns="0" rtlCol="0" anchor="t"/>
          <a:lstStyle/>
          <a:p>
            <a:pPr indent="0" marL="0">
              <a:lnSpc>
                <a:spcPct val="105000"/>
              </a:lnSpc>
              <a:buNone/>
            </a:pPr>
            <a:r>
              <a:rPr lang="en-US" sz="850" dirty="0">
                <a:solidFill>
                  <a:srgbClr val="FFFFFF"/>
                </a:solidFill>
                <a:latin typeface="Arial" pitchFamily="34" charset="0"/>
                <a:ea typeface="Arial" pitchFamily="34" charset="-122"/>
                <a:cs typeface="Arial" pitchFamily="34" charset="-120"/>
              </a:rPr>
              <a:t>agentic retrieval at question time</a:t>
            </a:r>
            <a:endParaRPr lang="en-US" sz="850" dirty="0"/>
          </a:p>
        </p:txBody>
      </p:sp>
      <p:sp>
        <p:nvSpPr>
          <p:cNvPr id="17" name="Shape 14"/>
          <p:cNvSpPr/>
          <p:nvPr/>
        </p:nvSpPr>
        <p:spPr>
          <a:xfrm>
            <a:off x="548640" y="4572000"/>
            <a:ext cx="2834640" cy="1325880"/>
          </a:xfrm>
          <a:prstGeom prst="roundRect">
            <a:avLst>
              <a:gd name="adj" fmla="val 8276"/>
            </a:avLst>
          </a:prstGeom>
          <a:solidFill>
            <a:srgbClr val="FFFFFF">
              <a:alpha val="0"/>
            </a:srgbClr>
          </a:solidFill>
          <a:ln w="12700">
            <a:solidFill>
              <a:srgbClr val="4285F4"/>
            </a:solidFill>
            <a:prstDash val="dash"/>
          </a:ln>
        </p:spPr>
      </p:sp>
      <p:sp>
        <p:nvSpPr>
          <p:cNvPr id="18" name="Text 15"/>
          <p:cNvSpPr txBox="1"/>
          <p:nvPr/>
        </p:nvSpPr>
        <p:spPr>
          <a:xfrm>
            <a:off x="731520" y="4663440"/>
            <a:ext cx="256032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STRUCTURED DATA</a:t>
            </a:r>
            <a:endParaRPr lang="en-US" sz="850" dirty="0"/>
          </a:p>
        </p:txBody>
      </p:sp>
      <p:sp>
        <p:nvSpPr>
          <p:cNvPr id="19" name="Shape 16"/>
          <p:cNvSpPr/>
          <p:nvPr/>
        </p:nvSpPr>
        <p:spPr>
          <a:xfrm>
            <a:off x="731520" y="4892040"/>
            <a:ext cx="2468880" cy="868680"/>
          </a:xfrm>
          <a:prstGeom prst="roundRect">
            <a:avLst>
              <a:gd name="adj" fmla="val 6316"/>
            </a:avLst>
          </a:prstGeom>
          <a:solidFill>
            <a:srgbClr val="FFFFFF"/>
          </a:solidFill>
          <a:ln w="9525">
            <a:solidFill>
              <a:srgbClr val="DADCE0"/>
            </a:solidFill>
            <a:prstDash val="solid"/>
          </a:ln>
        </p:spPr>
      </p:sp>
      <p:pic>
        <p:nvPicPr>
          <p:cNvPr id="20" name="Image 1" descr="preencoded.png">    </p:cNvPr>
          <p:cNvPicPr>
            <a:picLocks noChangeAspect="1"/>
          </p:cNvPicPr>
          <p:nvPr/>
        </p:nvPicPr>
        <p:blipFill>
          <a:blip r:embed="rId2"/>
          <a:stretch>
            <a:fillRect/>
          </a:stretch>
        </p:blipFill>
        <p:spPr>
          <a:xfrm>
            <a:off x="841248" y="4992624"/>
            <a:ext cx="237744" cy="237744"/>
          </a:xfrm>
          <a:prstGeom prst="rect">
            <a:avLst/>
          </a:prstGeom>
        </p:spPr>
      </p:pic>
      <p:sp>
        <p:nvSpPr>
          <p:cNvPr id="21" name="Text 17"/>
          <p:cNvSpPr txBox="1"/>
          <p:nvPr/>
        </p:nvSpPr>
        <p:spPr>
          <a:xfrm>
            <a:off x="1152144" y="4965192"/>
            <a:ext cx="1975104" cy="274320"/>
          </a:xfrm>
          <a:prstGeom prst="rect">
            <a:avLst/>
          </a:prstGeom>
          <a:noFill/>
          <a:ln/>
        </p:spPr>
        <p:txBody>
          <a:bodyPr wrap="square" lIns="0" tIns="0" rIns="0" bIns="0" rtlCol="0" anchor="t"/>
          <a:lstStyle/>
          <a:p>
            <a:pPr indent="0" marL="0">
              <a:buNone/>
            </a:pPr>
            <a:r>
              <a:rPr lang="en-US" sz="1050" b="1" dirty="0">
                <a:solidFill>
                  <a:srgbClr val="202124"/>
                </a:solidFill>
                <a:latin typeface="Arial" pitchFamily="34" charset="0"/>
                <a:ea typeface="Arial" pitchFamily="34" charset="-122"/>
                <a:cs typeface="Arial" pitchFamily="34" charset="-120"/>
              </a:rPr>
              <a:t>National HIE</a:t>
            </a:r>
            <a:endParaRPr lang="en-US" sz="1050" dirty="0"/>
          </a:p>
        </p:txBody>
      </p:sp>
      <p:sp>
        <p:nvSpPr>
          <p:cNvPr id="22" name="Text 18"/>
          <p:cNvSpPr txBox="1"/>
          <p:nvPr/>
        </p:nvSpPr>
        <p:spPr>
          <a:xfrm>
            <a:off x="841248" y="5221224"/>
            <a:ext cx="2286000" cy="502920"/>
          </a:xfrm>
          <a:prstGeom prst="rect">
            <a:avLst/>
          </a:prstGeom>
          <a:noFill/>
          <a:ln/>
        </p:spPr>
        <p:txBody>
          <a:bodyPr wrap="square" lIns="0" tIns="0" rIns="0" bIns="0" rtlCol="0" anchor="t"/>
          <a:lstStyle/>
          <a:p>
            <a:pPr indent="0" marL="0">
              <a:lnSpc>
                <a:spcPct val="105000"/>
              </a:lnSpc>
              <a:buNone/>
            </a:pPr>
            <a:r>
              <a:rPr lang="en-US" sz="850" dirty="0">
                <a:solidFill>
                  <a:srgbClr val="5F6368"/>
                </a:solidFill>
                <a:latin typeface="Arial" pitchFamily="34" charset="0"/>
                <a:ea typeface="Arial" pitchFamily="34" charset="-122"/>
                <a:cs typeface="Arial" pitchFamily="34" charset="-120"/>
              </a:rPr>
              <a:t>patients · encounters · diagnoses · facilities (tabular)</a:t>
            </a:r>
            <a:endParaRPr lang="en-US" sz="850" dirty="0"/>
          </a:p>
        </p:txBody>
      </p:sp>
      <p:sp>
        <p:nvSpPr>
          <p:cNvPr id="23" name="Shape 19"/>
          <p:cNvSpPr/>
          <p:nvPr/>
        </p:nvSpPr>
        <p:spPr>
          <a:xfrm>
            <a:off x="3931920" y="4892040"/>
            <a:ext cx="2468880" cy="868680"/>
          </a:xfrm>
          <a:prstGeom prst="roundRect">
            <a:avLst>
              <a:gd name="adj" fmla="val 6316"/>
            </a:avLst>
          </a:prstGeom>
          <a:solidFill>
            <a:srgbClr val="F8F9FA"/>
          </a:solidFill>
          <a:ln w="9525">
            <a:solidFill>
              <a:srgbClr val="F8F9FA"/>
            </a:solidFill>
            <a:prstDash val="solid"/>
          </a:ln>
        </p:spPr>
      </p:sp>
      <p:pic>
        <p:nvPicPr>
          <p:cNvPr id="24" name="Image 2" descr="preencoded.png">    </p:cNvPr>
          <p:cNvPicPr>
            <a:picLocks noChangeAspect="1"/>
          </p:cNvPicPr>
          <p:nvPr/>
        </p:nvPicPr>
        <p:blipFill>
          <a:blip r:embed="rId3"/>
          <a:stretch>
            <a:fillRect/>
          </a:stretch>
        </p:blipFill>
        <p:spPr>
          <a:xfrm>
            <a:off x="4041648" y="4992624"/>
            <a:ext cx="237744" cy="237744"/>
          </a:xfrm>
          <a:prstGeom prst="rect">
            <a:avLst/>
          </a:prstGeom>
        </p:spPr>
      </p:pic>
      <p:sp>
        <p:nvSpPr>
          <p:cNvPr id="25" name="Text 20"/>
          <p:cNvSpPr txBox="1"/>
          <p:nvPr/>
        </p:nvSpPr>
        <p:spPr>
          <a:xfrm>
            <a:off x="4352544" y="4965192"/>
            <a:ext cx="1975104" cy="274320"/>
          </a:xfrm>
          <a:prstGeom prst="rect">
            <a:avLst/>
          </a:prstGeom>
          <a:noFill/>
          <a:ln/>
        </p:spPr>
        <p:txBody>
          <a:bodyPr wrap="square" lIns="0" tIns="0" rIns="0" bIns="0" rtlCol="0" anchor="t"/>
          <a:lstStyle/>
          <a:p>
            <a:pPr indent="0" marL="0">
              <a:buNone/>
            </a:pPr>
            <a:r>
              <a:rPr lang="en-US" sz="1050" b="1" dirty="0">
                <a:solidFill>
                  <a:srgbClr val="202124"/>
                </a:solidFill>
                <a:latin typeface="Arial" pitchFamily="34" charset="0"/>
                <a:ea typeface="Arial" pitchFamily="34" charset="-122"/>
                <a:cs typeface="Arial" pitchFamily="34" charset="-120"/>
              </a:rPr>
              <a:t>CAS table (SAS Viya)</a:t>
            </a:r>
            <a:endParaRPr lang="en-US" sz="1050" dirty="0"/>
          </a:p>
        </p:txBody>
      </p:sp>
      <p:sp>
        <p:nvSpPr>
          <p:cNvPr id="26" name="Text 21"/>
          <p:cNvSpPr txBox="1"/>
          <p:nvPr/>
        </p:nvSpPr>
        <p:spPr>
          <a:xfrm>
            <a:off x="4041648" y="5221224"/>
            <a:ext cx="2286000" cy="502920"/>
          </a:xfrm>
          <a:prstGeom prst="rect">
            <a:avLst/>
          </a:prstGeom>
          <a:noFill/>
          <a:ln/>
        </p:spPr>
        <p:txBody>
          <a:bodyPr wrap="square" lIns="0" tIns="0" rIns="0" bIns="0" rtlCol="0" anchor="t"/>
          <a:lstStyle/>
          <a:p>
            <a:pPr indent="0" marL="0">
              <a:lnSpc>
                <a:spcPct val="105000"/>
              </a:lnSpc>
              <a:buNone/>
            </a:pPr>
            <a:r>
              <a:rPr lang="en-US" sz="850" dirty="0">
                <a:solidFill>
                  <a:srgbClr val="5F6368"/>
                </a:solidFill>
                <a:latin typeface="Arial" pitchFamily="34" charset="0"/>
                <a:ea typeface="Arial" pitchFamily="34" charset="-122"/>
                <a:cs typeface="Arial" pitchFamily="34" charset="-120"/>
              </a:rPr>
              <a:t>in-memory analytics tables · read by the SQL tool</a:t>
            </a:r>
            <a:endParaRPr lang="en-US" sz="850" dirty="0"/>
          </a:p>
        </p:txBody>
      </p:sp>
      <p:sp>
        <p:nvSpPr>
          <p:cNvPr id="27" name="Shape 22"/>
          <p:cNvSpPr/>
          <p:nvPr/>
        </p:nvSpPr>
        <p:spPr>
          <a:xfrm>
            <a:off x="3200400" y="5321808"/>
            <a:ext cx="731520" cy="0"/>
          </a:xfrm>
          <a:prstGeom prst="line">
            <a:avLst/>
          </a:prstGeom>
          <a:noFill/>
          <a:ln w="15875">
            <a:solidFill>
              <a:srgbClr val="5F6368"/>
            </a:solidFill>
            <a:prstDash val="dash"/>
            <a:tailEnd type="triangle"/>
          </a:ln>
        </p:spPr>
      </p:sp>
      <p:sp>
        <p:nvSpPr>
          <p:cNvPr id="28" name="Shape 23"/>
          <p:cNvSpPr/>
          <p:nvPr/>
        </p:nvSpPr>
        <p:spPr>
          <a:xfrm>
            <a:off x="3931920" y="1783080"/>
            <a:ext cx="2743200" cy="2560320"/>
          </a:xfrm>
          <a:prstGeom prst="roundRect">
            <a:avLst>
              <a:gd name="adj" fmla="val 2857"/>
            </a:avLst>
          </a:prstGeom>
          <a:solidFill>
            <a:srgbClr val="4285F4"/>
          </a:solidFill>
          <a:ln w="12700">
            <a:solidFill>
              <a:srgbClr val="4285F4"/>
            </a:solidFill>
            <a:prstDash val="solid"/>
          </a:ln>
        </p:spPr>
      </p:sp>
      <p:sp>
        <p:nvSpPr>
          <p:cNvPr id="29" name="Text 24"/>
          <p:cNvSpPr txBox="1"/>
          <p:nvPr/>
        </p:nvSpPr>
        <p:spPr>
          <a:xfrm>
            <a:off x="4114800" y="1920240"/>
            <a:ext cx="2468880" cy="3200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Health Analytics Agent</a:t>
            </a:r>
            <a:endParaRPr lang="en-US" sz="1300" dirty="0"/>
          </a:p>
        </p:txBody>
      </p:sp>
      <p:sp>
        <p:nvSpPr>
          <p:cNvPr id="30" name="Text 25"/>
          <p:cNvSpPr txBox="1"/>
          <p:nvPr/>
        </p:nvSpPr>
        <p:spPr>
          <a:xfrm>
            <a:off x="4114800" y="2286000"/>
            <a:ext cx="2468880" cy="822960"/>
          </a:xfrm>
          <a:prstGeom prst="rect">
            <a:avLst/>
          </a:prstGeom>
          <a:noFill/>
          <a:ln/>
        </p:spPr>
        <p:txBody>
          <a:bodyPr wrap="square" lIns="0" tIns="0" rIns="0" bIns="0" rtlCol="0" anchor="t"/>
          <a:lstStyle/>
          <a:p>
            <a:pPr indent="0" marL="0">
              <a:lnSpc>
                <a:spcPct val="115000"/>
              </a:lnSpc>
              <a:buNone/>
            </a:pPr>
            <a:r>
              <a:rPr lang="en-US" sz="950" dirty="0">
                <a:solidFill>
                  <a:srgbClr val="FFFFFF"/>
                </a:solidFill>
                <a:latin typeface="Arial" pitchFamily="34" charset="0"/>
                <a:ea typeface="Arial" pitchFamily="34" charset="-122"/>
                <a:cs typeface="Arial" pitchFamily="34" charset="-120"/>
              </a:rPr>
              <a:t>Patient-level queries, population insights, cost forecasting, policy simulation — with traceable, cited reasoning</a:t>
            </a:r>
            <a:endParaRPr lang="en-US" sz="950" dirty="0"/>
          </a:p>
        </p:txBody>
      </p:sp>
      <p:sp>
        <p:nvSpPr>
          <p:cNvPr id="31" name="Shape 26"/>
          <p:cNvSpPr/>
          <p:nvPr/>
        </p:nvSpPr>
        <p:spPr>
          <a:xfrm>
            <a:off x="4114800" y="3200400"/>
            <a:ext cx="2377440" cy="960120"/>
          </a:xfrm>
          <a:prstGeom prst="roundRect">
            <a:avLst>
              <a:gd name="adj" fmla="val 7619"/>
            </a:avLst>
          </a:prstGeom>
          <a:solidFill>
            <a:srgbClr val="FFFFFF"/>
          </a:solidFill>
          <a:ln w="12700">
            <a:solidFill>
              <a:srgbClr val="FFFFFF"/>
            </a:solidFill>
            <a:prstDash val="solid"/>
          </a:ln>
        </p:spPr>
      </p:sp>
      <p:sp>
        <p:nvSpPr>
          <p:cNvPr id="32" name="Text 27"/>
          <p:cNvSpPr txBox="1"/>
          <p:nvPr/>
        </p:nvSpPr>
        <p:spPr>
          <a:xfrm>
            <a:off x="4206240" y="3273552"/>
            <a:ext cx="2194560" cy="8229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02124"/>
                </a:solidFill>
                <a:latin typeface="Arial" pitchFamily="34" charset="0"/>
                <a:ea typeface="Arial" pitchFamily="34" charset="-122"/>
                <a:cs typeface="Arial" pitchFamily="34" charset="-120"/>
              </a:rPr>
              <a:t>Orchestrator</a:t>
            </a:r>
            <a:endParaRPr lang="en-US" sz="1000" dirty="0"/>
          </a:p>
          <a:p>
            <a:pPr marL="342900" indent="-342900">
              <a:spcAft>
                <a:spcPts val="200"/>
              </a:spcAft>
              <a:buSzPct val="100000"/>
              <a:buChar char="•"/>
            </a:pPr>
            <a:r>
              <a:rPr lang="en-US" sz="1000" dirty="0">
                <a:solidFill>
                  <a:srgbClr val="202124"/>
                </a:solidFill>
                <a:latin typeface="Arial" pitchFamily="34" charset="0"/>
                <a:ea typeface="Arial" pitchFamily="34" charset="-122"/>
                <a:cs typeface="Arial" pitchFamily="34" charset="-120"/>
              </a:rPr>
              <a:t>Guideline grounding</a:t>
            </a:r>
            <a:endParaRPr lang="en-US" sz="1000" dirty="0"/>
          </a:p>
          <a:p>
            <a:pPr marL="342900" indent="-342900">
              <a:spcAft>
                <a:spcPts val="200"/>
              </a:spcAft>
              <a:buSzPct val="100000"/>
              <a:buChar char="•"/>
            </a:pPr>
            <a:r>
              <a:rPr lang="en-US" sz="1000" dirty="0">
                <a:solidFill>
                  <a:srgbClr val="202124"/>
                </a:solidFill>
                <a:latin typeface="Arial" pitchFamily="34" charset="0"/>
                <a:ea typeface="Arial" pitchFamily="34" charset="-122"/>
                <a:cs typeface="Arial" pitchFamily="34" charset="-120"/>
              </a:rPr>
              <a:t>Audit log</a:t>
            </a:r>
            <a:endParaRPr lang="en-US" sz="1000" dirty="0"/>
          </a:p>
        </p:txBody>
      </p:sp>
      <p:sp>
        <p:nvSpPr>
          <p:cNvPr id="33" name="Shape 28"/>
          <p:cNvSpPr/>
          <p:nvPr/>
        </p:nvSpPr>
        <p:spPr>
          <a:xfrm>
            <a:off x="3383280" y="3017520"/>
            <a:ext cx="548640" cy="0"/>
          </a:xfrm>
          <a:prstGeom prst="line">
            <a:avLst/>
          </a:prstGeom>
          <a:noFill/>
          <a:ln w="15875">
            <a:solidFill>
              <a:srgbClr val="1A73E8"/>
            </a:solidFill>
            <a:prstDash val="solid"/>
            <a:tailEnd type="triangle"/>
          </a:ln>
        </p:spPr>
      </p:sp>
      <p:sp>
        <p:nvSpPr>
          <p:cNvPr id="34" name="Shape 29"/>
          <p:cNvSpPr/>
          <p:nvPr/>
        </p:nvSpPr>
        <p:spPr>
          <a:xfrm>
            <a:off x="7086600" y="2468880"/>
            <a:ext cx="1417320" cy="1188720"/>
          </a:xfrm>
          <a:prstGeom prst="roundRect">
            <a:avLst>
              <a:gd name="adj" fmla="val 4615"/>
            </a:avLst>
          </a:prstGeom>
          <a:solidFill>
            <a:srgbClr val="E8F0FE"/>
          </a:solidFill>
          <a:ln w="9525">
            <a:solidFill>
              <a:srgbClr val="E8F0FE"/>
            </a:solidFill>
            <a:prstDash val="solid"/>
          </a:ln>
        </p:spPr>
      </p:sp>
      <p:pic>
        <p:nvPicPr>
          <p:cNvPr id="35" name="Image 3" descr="preencoded.png">    </p:cNvPr>
          <p:cNvPicPr>
            <a:picLocks noChangeAspect="1"/>
          </p:cNvPicPr>
          <p:nvPr/>
        </p:nvPicPr>
        <p:blipFill>
          <a:blip r:embed="rId4"/>
          <a:stretch>
            <a:fillRect/>
          </a:stretch>
        </p:blipFill>
        <p:spPr>
          <a:xfrm>
            <a:off x="7196328" y="2569464"/>
            <a:ext cx="237744" cy="237744"/>
          </a:xfrm>
          <a:prstGeom prst="rect">
            <a:avLst/>
          </a:prstGeom>
        </p:spPr>
      </p:pic>
      <p:sp>
        <p:nvSpPr>
          <p:cNvPr id="36" name="Text 30"/>
          <p:cNvSpPr txBox="1"/>
          <p:nvPr/>
        </p:nvSpPr>
        <p:spPr>
          <a:xfrm>
            <a:off x="7507224" y="2542032"/>
            <a:ext cx="923544" cy="274320"/>
          </a:xfrm>
          <a:prstGeom prst="rect">
            <a:avLst/>
          </a:prstGeom>
          <a:noFill/>
          <a:ln/>
        </p:spPr>
        <p:txBody>
          <a:bodyPr wrap="square" lIns="0" tIns="0" rIns="0" bIns="0" rtlCol="0" anchor="t"/>
          <a:lstStyle/>
          <a:p>
            <a:pPr indent="0" marL="0">
              <a:buNone/>
            </a:pPr>
            <a:r>
              <a:rPr lang="en-US" sz="1050" b="1" dirty="0">
                <a:solidFill>
                  <a:srgbClr val="1A73E8"/>
                </a:solidFill>
                <a:latin typeface="Arial" pitchFamily="34" charset="0"/>
                <a:ea typeface="Arial" pitchFamily="34" charset="-122"/>
                <a:cs typeface="Arial" pitchFamily="34" charset="-120"/>
              </a:rPr>
              <a:t>MCP server</a:t>
            </a:r>
            <a:endParaRPr lang="en-US" sz="1050" dirty="0"/>
          </a:p>
        </p:txBody>
      </p:sp>
      <p:sp>
        <p:nvSpPr>
          <p:cNvPr id="37" name="Text 31"/>
          <p:cNvSpPr txBox="1"/>
          <p:nvPr/>
        </p:nvSpPr>
        <p:spPr>
          <a:xfrm>
            <a:off x="7196328" y="2798064"/>
            <a:ext cx="1234440" cy="822960"/>
          </a:xfrm>
          <a:prstGeom prst="rect">
            <a:avLst/>
          </a:prstGeom>
          <a:noFill/>
          <a:ln/>
        </p:spPr>
        <p:txBody>
          <a:bodyPr wrap="square" lIns="0" tIns="0" rIns="0" bIns="0" rtlCol="0" anchor="t"/>
          <a:lstStyle/>
          <a:p>
            <a:pPr indent="0" marL="0">
              <a:lnSpc>
                <a:spcPct val="105000"/>
              </a:lnSpc>
              <a:buNone/>
            </a:pPr>
            <a:r>
              <a:rPr lang="en-US" sz="850" dirty="0">
                <a:solidFill>
                  <a:srgbClr val="5F6368"/>
                </a:solidFill>
                <a:latin typeface="Arial" pitchFamily="34" charset="0"/>
                <a:ea typeface="Arial" pitchFamily="34" charset="-122"/>
                <a:cs typeface="Arial" pitchFamily="34" charset="-120"/>
              </a:rPr>
              <a:t>tool gateway</a:t>
            </a:r>
            <a:endParaRPr lang="en-US" sz="850" dirty="0"/>
          </a:p>
        </p:txBody>
      </p:sp>
      <p:sp>
        <p:nvSpPr>
          <p:cNvPr id="38" name="Shape 32"/>
          <p:cNvSpPr/>
          <p:nvPr/>
        </p:nvSpPr>
        <p:spPr>
          <a:xfrm>
            <a:off x="6675120" y="3063240"/>
            <a:ext cx="411480" cy="0"/>
          </a:xfrm>
          <a:prstGeom prst="line">
            <a:avLst/>
          </a:prstGeom>
          <a:noFill/>
          <a:ln w="15875">
            <a:solidFill>
              <a:srgbClr val="1A73E8"/>
            </a:solidFill>
            <a:prstDash val="solid"/>
            <a:tailEnd type="triangle"/>
          </a:ln>
        </p:spPr>
      </p:sp>
      <p:sp>
        <p:nvSpPr>
          <p:cNvPr id="39" name="Text 33"/>
          <p:cNvSpPr txBox="1"/>
          <p:nvPr/>
        </p:nvSpPr>
        <p:spPr>
          <a:xfrm>
            <a:off x="8915400" y="1810512"/>
            <a:ext cx="274320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TOOLS</a:t>
            </a:r>
            <a:endParaRPr lang="en-US" sz="850" dirty="0"/>
          </a:p>
        </p:txBody>
      </p:sp>
      <p:sp>
        <p:nvSpPr>
          <p:cNvPr id="40" name="Shape 34"/>
          <p:cNvSpPr/>
          <p:nvPr/>
        </p:nvSpPr>
        <p:spPr>
          <a:xfrm>
            <a:off x="8915400" y="2057400"/>
            <a:ext cx="2697480" cy="548640"/>
          </a:xfrm>
          <a:prstGeom prst="roundRect">
            <a:avLst>
              <a:gd name="adj" fmla="val 10000"/>
            </a:avLst>
          </a:prstGeom>
          <a:solidFill>
            <a:srgbClr val="F1F3F4"/>
          </a:solidFill>
          <a:ln w="9525">
            <a:solidFill>
              <a:srgbClr val="F1F3F4"/>
            </a:solidFill>
            <a:prstDash val="solid"/>
          </a:ln>
        </p:spPr>
      </p:sp>
      <p:sp>
        <p:nvSpPr>
          <p:cNvPr id="41" name="Text 35"/>
          <p:cNvSpPr txBox="1"/>
          <p:nvPr/>
        </p:nvSpPr>
        <p:spPr>
          <a:xfrm>
            <a:off x="9025128" y="2130552"/>
            <a:ext cx="2514600" cy="274320"/>
          </a:xfrm>
          <a:prstGeom prst="rect">
            <a:avLst/>
          </a:prstGeom>
          <a:noFill/>
          <a:ln/>
        </p:spPr>
        <p:txBody>
          <a:bodyPr wrap="square" lIns="0" tIns="0" rIns="0" bIns="0" rtlCol="0" anchor="t"/>
          <a:lstStyle/>
          <a:p>
            <a:pPr indent="0" marL="0">
              <a:buNone/>
            </a:pPr>
            <a:r>
              <a:rPr lang="en-US" sz="1000" b="1" dirty="0">
                <a:solidFill>
                  <a:srgbClr val="202124"/>
                </a:solidFill>
                <a:latin typeface="Arial" pitchFamily="34" charset="0"/>
                <a:ea typeface="Arial" pitchFamily="34" charset="-122"/>
                <a:cs typeface="Arial" pitchFamily="34" charset="-120"/>
              </a:rPr>
              <a:t>Run &amp; build ML model</a:t>
            </a:r>
            <a:endParaRPr lang="en-US" sz="1000" dirty="0"/>
          </a:p>
        </p:txBody>
      </p:sp>
      <p:sp>
        <p:nvSpPr>
          <p:cNvPr id="42" name="Text 36"/>
          <p:cNvSpPr txBox="1"/>
          <p:nvPr/>
        </p:nvSpPr>
        <p:spPr>
          <a:xfrm>
            <a:off x="9025128" y="2386584"/>
            <a:ext cx="2514600" cy="182880"/>
          </a:xfrm>
          <a:prstGeom prst="rect">
            <a:avLst/>
          </a:prstGeom>
          <a:noFill/>
          <a:ln/>
        </p:spPr>
        <p:txBody>
          <a:bodyPr wrap="square" lIns="0" tIns="0" rIns="0" bIns="0" rtlCol="0" anchor="t"/>
          <a:lstStyle/>
          <a:p>
            <a:pPr indent="0" marL="0">
              <a:lnSpc>
                <a:spcPct val="105000"/>
              </a:lnSpc>
              <a:buNone/>
            </a:pPr>
            <a:r>
              <a:rPr lang="en-US" sz="800" dirty="0">
                <a:solidFill>
                  <a:srgbClr val="5F6368"/>
                </a:solidFill>
                <a:latin typeface="Arial" pitchFamily="34" charset="0"/>
                <a:ea typeface="Arial" pitchFamily="34" charset="-122"/>
                <a:cs typeface="Arial" pitchFamily="34" charset="-120"/>
              </a:rPr>
              <a:t>forecasting · simulation</a:t>
            </a:r>
            <a:endParaRPr lang="en-US" sz="800" dirty="0"/>
          </a:p>
        </p:txBody>
      </p:sp>
      <p:sp>
        <p:nvSpPr>
          <p:cNvPr id="43" name="Shape 37"/>
          <p:cNvSpPr/>
          <p:nvPr/>
        </p:nvSpPr>
        <p:spPr>
          <a:xfrm flipV="1">
            <a:off x="8503920" y="2331720"/>
            <a:ext cx="411480" cy="731520"/>
          </a:xfrm>
          <a:prstGeom prst="line">
            <a:avLst/>
          </a:prstGeom>
          <a:noFill/>
          <a:ln w="15875">
            <a:solidFill>
              <a:srgbClr val="1A73E8"/>
            </a:solidFill>
            <a:prstDash val="solid"/>
            <a:tailEnd type="triangle"/>
          </a:ln>
        </p:spPr>
      </p:sp>
      <p:sp>
        <p:nvSpPr>
          <p:cNvPr id="44" name="Shape 38"/>
          <p:cNvSpPr/>
          <p:nvPr/>
        </p:nvSpPr>
        <p:spPr>
          <a:xfrm>
            <a:off x="8915400" y="2697480"/>
            <a:ext cx="2697480" cy="548640"/>
          </a:xfrm>
          <a:prstGeom prst="roundRect">
            <a:avLst>
              <a:gd name="adj" fmla="val 10000"/>
            </a:avLst>
          </a:prstGeom>
          <a:solidFill>
            <a:srgbClr val="E8F0FE"/>
          </a:solidFill>
          <a:ln w="9525">
            <a:solidFill>
              <a:srgbClr val="E8F0FE"/>
            </a:solidFill>
            <a:prstDash val="solid"/>
          </a:ln>
        </p:spPr>
      </p:sp>
      <p:sp>
        <p:nvSpPr>
          <p:cNvPr id="45" name="Text 39"/>
          <p:cNvSpPr txBox="1"/>
          <p:nvPr/>
        </p:nvSpPr>
        <p:spPr>
          <a:xfrm>
            <a:off x="9025128" y="2770632"/>
            <a:ext cx="2514600" cy="274320"/>
          </a:xfrm>
          <a:prstGeom prst="rect">
            <a:avLst/>
          </a:prstGeom>
          <a:noFill/>
          <a:ln/>
        </p:spPr>
        <p:txBody>
          <a:bodyPr wrap="square" lIns="0" tIns="0" rIns="0" bIns="0" rtlCol="0" anchor="t"/>
          <a:lstStyle/>
          <a:p>
            <a:pPr indent="0" marL="0">
              <a:buNone/>
            </a:pPr>
            <a:r>
              <a:rPr lang="en-US" sz="1000" b="1" dirty="0">
                <a:solidFill>
                  <a:srgbClr val="202124"/>
                </a:solidFill>
                <a:latin typeface="Arial" pitchFamily="34" charset="0"/>
                <a:ea typeface="Arial" pitchFamily="34" charset="-122"/>
                <a:cs typeface="Arial" pitchFamily="34" charset="-120"/>
              </a:rPr>
              <a:t>Run decision flow</a:t>
            </a:r>
            <a:endParaRPr lang="en-US" sz="1000" dirty="0"/>
          </a:p>
        </p:txBody>
      </p:sp>
      <p:sp>
        <p:nvSpPr>
          <p:cNvPr id="46" name="Text 40"/>
          <p:cNvSpPr txBox="1"/>
          <p:nvPr/>
        </p:nvSpPr>
        <p:spPr>
          <a:xfrm>
            <a:off x="9025128" y="3026664"/>
            <a:ext cx="2514600" cy="182880"/>
          </a:xfrm>
          <a:prstGeom prst="rect">
            <a:avLst/>
          </a:prstGeom>
          <a:noFill/>
          <a:ln/>
        </p:spPr>
        <p:txBody>
          <a:bodyPr wrap="square" lIns="0" tIns="0" rIns="0" bIns="0" rtlCol="0" anchor="t"/>
          <a:lstStyle/>
          <a:p>
            <a:pPr indent="0" marL="0">
              <a:lnSpc>
                <a:spcPct val="105000"/>
              </a:lnSpc>
              <a:buNone/>
            </a:pPr>
            <a:r>
              <a:rPr lang="en-US" sz="800" dirty="0">
                <a:solidFill>
                  <a:srgbClr val="5F6368"/>
                </a:solidFill>
                <a:latin typeface="Arial" pitchFamily="34" charset="0"/>
                <a:ea typeface="Arial" pitchFamily="34" charset="-122"/>
                <a:cs typeface="Arial" pitchFamily="34" charset="-120"/>
              </a:rPr>
              <a:t>SAS Intelligent Decisioning</a:t>
            </a:r>
            <a:endParaRPr lang="en-US" sz="800" dirty="0"/>
          </a:p>
        </p:txBody>
      </p:sp>
      <p:sp>
        <p:nvSpPr>
          <p:cNvPr id="47" name="Shape 41"/>
          <p:cNvSpPr/>
          <p:nvPr/>
        </p:nvSpPr>
        <p:spPr>
          <a:xfrm flipV="1">
            <a:off x="8503920" y="2971800"/>
            <a:ext cx="411480" cy="91440"/>
          </a:xfrm>
          <a:prstGeom prst="line">
            <a:avLst/>
          </a:prstGeom>
          <a:noFill/>
          <a:ln w="15875">
            <a:solidFill>
              <a:srgbClr val="1A73E8"/>
            </a:solidFill>
            <a:prstDash val="solid"/>
            <a:tailEnd type="triangle"/>
          </a:ln>
        </p:spPr>
      </p:sp>
      <p:sp>
        <p:nvSpPr>
          <p:cNvPr id="48" name="Shape 42"/>
          <p:cNvSpPr/>
          <p:nvPr/>
        </p:nvSpPr>
        <p:spPr>
          <a:xfrm>
            <a:off x="8915400" y="3337560"/>
            <a:ext cx="2697480" cy="548640"/>
          </a:xfrm>
          <a:prstGeom prst="roundRect">
            <a:avLst>
              <a:gd name="adj" fmla="val 10000"/>
            </a:avLst>
          </a:prstGeom>
          <a:solidFill>
            <a:srgbClr val="E8F0FE"/>
          </a:solidFill>
          <a:ln w="9525">
            <a:solidFill>
              <a:srgbClr val="E8F0FE"/>
            </a:solidFill>
            <a:prstDash val="solid"/>
          </a:ln>
        </p:spPr>
      </p:sp>
      <p:sp>
        <p:nvSpPr>
          <p:cNvPr id="49" name="Text 43"/>
          <p:cNvSpPr txBox="1"/>
          <p:nvPr/>
        </p:nvSpPr>
        <p:spPr>
          <a:xfrm>
            <a:off x="9025128" y="3410712"/>
            <a:ext cx="2514600" cy="274320"/>
          </a:xfrm>
          <a:prstGeom prst="rect">
            <a:avLst/>
          </a:prstGeom>
          <a:noFill/>
          <a:ln/>
        </p:spPr>
        <p:txBody>
          <a:bodyPr wrap="square" lIns="0" tIns="0" rIns="0" bIns="0" rtlCol="0" anchor="t"/>
          <a:lstStyle/>
          <a:p>
            <a:pPr indent="0" marL="0">
              <a:buNone/>
            </a:pPr>
            <a:r>
              <a:rPr lang="en-US" sz="1000" b="1" dirty="0">
                <a:solidFill>
                  <a:srgbClr val="202124"/>
                </a:solidFill>
                <a:latin typeface="Arial" pitchFamily="34" charset="0"/>
                <a:ea typeface="Arial" pitchFamily="34" charset="-122"/>
                <a:cs typeface="Arial" pitchFamily="34" charset="-120"/>
              </a:rPr>
              <a:t>Generate charts</a:t>
            </a:r>
            <a:endParaRPr lang="en-US" sz="1000" dirty="0"/>
          </a:p>
        </p:txBody>
      </p:sp>
      <p:sp>
        <p:nvSpPr>
          <p:cNvPr id="50" name="Text 44"/>
          <p:cNvSpPr txBox="1"/>
          <p:nvPr/>
        </p:nvSpPr>
        <p:spPr>
          <a:xfrm>
            <a:off x="9025128" y="3666744"/>
            <a:ext cx="2514600" cy="182880"/>
          </a:xfrm>
          <a:prstGeom prst="rect">
            <a:avLst/>
          </a:prstGeom>
          <a:noFill/>
          <a:ln/>
        </p:spPr>
        <p:txBody>
          <a:bodyPr wrap="square" lIns="0" tIns="0" rIns="0" bIns="0" rtlCol="0" anchor="t"/>
          <a:lstStyle/>
          <a:p>
            <a:pPr indent="0" marL="0">
              <a:lnSpc>
                <a:spcPct val="105000"/>
              </a:lnSpc>
              <a:buNone/>
            </a:pPr>
            <a:r>
              <a:rPr lang="en-US" sz="800" dirty="0">
                <a:solidFill>
                  <a:srgbClr val="5F6368"/>
                </a:solidFill>
                <a:latin typeface="Arial" pitchFamily="34" charset="0"/>
                <a:ea typeface="Arial" pitchFamily="34" charset="-122"/>
                <a:cs typeface="Arial" pitchFamily="34" charset="-120"/>
              </a:rPr>
              <a:t>for the answer</a:t>
            </a:r>
            <a:endParaRPr lang="en-US" sz="800" dirty="0"/>
          </a:p>
        </p:txBody>
      </p:sp>
      <p:sp>
        <p:nvSpPr>
          <p:cNvPr id="51" name="Shape 45"/>
          <p:cNvSpPr/>
          <p:nvPr/>
        </p:nvSpPr>
        <p:spPr>
          <a:xfrm>
            <a:off x="8503920" y="3063240"/>
            <a:ext cx="411480" cy="548640"/>
          </a:xfrm>
          <a:prstGeom prst="line">
            <a:avLst/>
          </a:prstGeom>
          <a:noFill/>
          <a:ln w="15875">
            <a:solidFill>
              <a:srgbClr val="1A73E8"/>
            </a:solidFill>
            <a:prstDash val="solid"/>
            <a:tailEnd type="triangle"/>
          </a:ln>
        </p:spPr>
      </p:sp>
      <p:sp>
        <p:nvSpPr>
          <p:cNvPr id="52" name="Shape 46"/>
          <p:cNvSpPr/>
          <p:nvPr/>
        </p:nvSpPr>
        <p:spPr>
          <a:xfrm>
            <a:off x="8915400" y="3977640"/>
            <a:ext cx="2697480" cy="548640"/>
          </a:xfrm>
          <a:prstGeom prst="roundRect">
            <a:avLst>
              <a:gd name="adj" fmla="val 10000"/>
            </a:avLst>
          </a:prstGeom>
          <a:solidFill>
            <a:srgbClr val="1A73E8"/>
          </a:solidFill>
          <a:ln w="9525">
            <a:solidFill>
              <a:srgbClr val="1A73E8"/>
            </a:solidFill>
            <a:prstDash val="solid"/>
          </a:ln>
        </p:spPr>
      </p:sp>
      <p:sp>
        <p:nvSpPr>
          <p:cNvPr id="53" name="Text 47"/>
          <p:cNvSpPr txBox="1"/>
          <p:nvPr/>
        </p:nvSpPr>
        <p:spPr>
          <a:xfrm>
            <a:off x="9025128" y="4050792"/>
            <a:ext cx="2514600" cy="274320"/>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Query data (SQL)</a:t>
            </a:r>
            <a:endParaRPr lang="en-US" sz="1000" dirty="0"/>
          </a:p>
        </p:txBody>
      </p:sp>
      <p:sp>
        <p:nvSpPr>
          <p:cNvPr id="54" name="Text 48"/>
          <p:cNvSpPr txBox="1"/>
          <p:nvPr/>
        </p:nvSpPr>
        <p:spPr>
          <a:xfrm>
            <a:off x="9025128" y="4306824"/>
            <a:ext cx="2514600" cy="182880"/>
          </a:xfrm>
          <a:prstGeom prst="rect">
            <a:avLst/>
          </a:prstGeom>
          <a:noFill/>
          <a:ln/>
        </p:spPr>
        <p:txBody>
          <a:bodyPr wrap="square" lIns="0" tIns="0" rIns="0" bIns="0" rtlCol="0" anchor="t"/>
          <a:lstStyle/>
          <a:p>
            <a:pPr indent="0" marL="0">
              <a:lnSpc>
                <a:spcPct val="105000"/>
              </a:lnSpc>
              <a:buNone/>
            </a:pPr>
            <a:r>
              <a:rPr lang="en-US" sz="800" dirty="0">
                <a:solidFill>
                  <a:srgbClr val="FFFFFF"/>
                </a:solidFill>
                <a:latin typeface="Arial" pitchFamily="34" charset="0"/>
                <a:ea typeface="Arial" pitchFamily="34" charset="-122"/>
                <a:cs typeface="Arial" pitchFamily="34" charset="-120"/>
              </a:rPr>
              <a:t>over the CAS tables</a:t>
            </a:r>
            <a:endParaRPr lang="en-US" sz="800" dirty="0"/>
          </a:p>
        </p:txBody>
      </p:sp>
      <p:sp>
        <p:nvSpPr>
          <p:cNvPr id="55" name="Shape 49"/>
          <p:cNvSpPr/>
          <p:nvPr/>
        </p:nvSpPr>
        <p:spPr>
          <a:xfrm>
            <a:off x="8503920" y="3063240"/>
            <a:ext cx="411480" cy="1188720"/>
          </a:xfrm>
          <a:prstGeom prst="line">
            <a:avLst/>
          </a:prstGeom>
          <a:noFill/>
          <a:ln w="15875">
            <a:solidFill>
              <a:srgbClr val="1A73E8"/>
            </a:solidFill>
            <a:prstDash val="solid"/>
            <a:tailEnd type="triangle"/>
          </a:ln>
        </p:spPr>
      </p:sp>
      <p:sp>
        <p:nvSpPr>
          <p:cNvPr id="56" name="Shape 50"/>
          <p:cNvSpPr/>
          <p:nvPr/>
        </p:nvSpPr>
        <p:spPr>
          <a:xfrm>
            <a:off x="7086600" y="4754880"/>
            <a:ext cx="4526280" cy="1143000"/>
          </a:xfrm>
          <a:prstGeom prst="roundRect">
            <a:avLst>
              <a:gd name="adj" fmla="val 6400"/>
            </a:avLst>
          </a:prstGeom>
          <a:solidFill>
            <a:srgbClr val="F8F9FA"/>
          </a:solidFill>
          <a:ln w="12700">
            <a:solidFill>
              <a:srgbClr val="F8F9FA"/>
            </a:solidFill>
            <a:prstDash val="solid"/>
          </a:ln>
        </p:spPr>
      </p:sp>
      <p:sp>
        <p:nvSpPr>
          <p:cNvPr id="57" name="Text 51"/>
          <p:cNvSpPr txBox="1"/>
          <p:nvPr/>
        </p:nvSpPr>
        <p:spPr>
          <a:xfrm>
            <a:off x="7269480" y="4828032"/>
            <a:ext cx="4114800" cy="274320"/>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What it delivered</a:t>
            </a:r>
            <a:endParaRPr lang="en-US" sz="1150" dirty="0"/>
          </a:p>
        </p:txBody>
      </p:sp>
      <p:sp>
        <p:nvSpPr>
          <p:cNvPr id="58" name="Text 52"/>
          <p:cNvSpPr txBox="1"/>
          <p:nvPr/>
        </p:nvSpPr>
        <p:spPr>
          <a:xfrm>
            <a:off x="7269480" y="5102352"/>
            <a:ext cx="4206240" cy="77724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5F6368"/>
                </a:solidFill>
                <a:latin typeface="Arial" pitchFamily="34" charset="0"/>
                <a:ea typeface="Arial" pitchFamily="34" charset="-122"/>
                <a:cs typeface="Arial" pitchFamily="34" charset="-120"/>
              </a:rPr>
              <a:t>Natural-language questions → governed analytics, cohorts and charts</a:t>
            </a:r>
            <a:endParaRPr lang="en-US" sz="950" dirty="0"/>
          </a:p>
          <a:p>
            <a:pPr marL="342900" indent="-342900">
              <a:spcAft>
                <a:spcPts val="200"/>
              </a:spcAft>
              <a:buSzPct val="100000"/>
              <a:buChar char="•"/>
            </a:pPr>
            <a:r>
              <a:rPr lang="en-US" sz="950" dirty="0">
                <a:solidFill>
                  <a:srgbClr val="5F6368"/>
                </a:solidFill>
                <a:latin typeface="Arial" pitchFamily="34" charset="0"/>
                <a:ea typeface="Arial" pitchFamily="34" charset="-122"/>
                <a:cs typeface="Arial" pitchFamily="34" charset="-120"/>
              </a:rPr>
              <a:t>ML scoring, forecasting and policy simulation on demand</a:t>
            </a:r>
            <a:endParaRPr lang="en-US" sz="950" dirty="0"/>
          </a:p>
          <a:p>
            <a:pPr marL="342900" indent="-342900">
              <a:spcAft>
                <a:spcPts val="200"/>
              </a:spcAft>
              <a:buSzPct val="100000"/>
              <a:buChar char="•"/>
            </a:pPr>
            <a:r>
              <a:rPr lang="en-US" sz="950" dirty="0">
                <a:solidFill>
                  <a:srgbClr val="5F6368"/>
                </a:solidFill>
                <a:latin typeface="Arial" pitchFamily="34" charset="0"/>
                <a:ea typeface="Arial" pitchFamily="34" charset="-122"/>
                <a:cs typeface="Arial" pitchFamily="34" charset="-120"/>
              </a:rPr>
              <a:t>Every answer cites national guidelines and shows its tool calls</a:t>
            </a:r>
            <a:endParaRPr lang="en-US" sz="950" dirty="0"/>
          </a:p>
        </p:txBody>
      </p:sp>
      <p:sp>
        <p:nvSpPr>
          <p:cNvPr id="59" name="Text 53"/>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Reference: SAS Health Analytics Platform, agentic AI MVP at a federal health entity (GCC), 2025</a:t>
            </a:r>
            <a:endParaRPr lang="en-US" sz="850" dirty="0"/>
          </a:p>
        </p:txBody>
      </p:sp>
      <p:sp>
        <p:nvSpPr>
          <p:cNvPr id="60" name="Text 54"/>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Reference architecture B — Google Cloud, me-central1 (Doha)</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The same pattern on managed services, structured as Google's RAG reference architecture: a data ingestion subsystem and a serving subsystem.</a:t>
            </a:r>
            <a:endParaRPr lang="en-US" sz="1300" dirty="0"/>
          </a:p>
        </p:txBody>
      </p:sp>
      <p:sp>
        <p:nvSpPr>
          <p:cNvPr id="4" name="Shape 2"/>
          <p:cNvSpPr/>
          <p:nvPr/>
        </p:nvSpPr>
        <p:spPr>
          <a:xfrm>
            <a:off x="548640" y="1783080"/>
            <a:ext cx="5440680" cy="3977640"/>
          </a:xfrm>
          <a:prstGeom prst="roundRect">
            <a:avLst>
              <a:gd name="adj" fmla="val 2759"/>
            </a:avLst>
          </a:prstGeom>
          <a:solidFill>
            <a:srgbClr val="FFFFFF">
              <a:alpha val="0"/>
            </a:srgbClr>
          </a:solidFill>
          <a:ln w="12700">
            <a:solidFill>
              <a:srgbClr val="4285F4"/>
            </a:solidFill>
            <a:prstDash val="dash"/>
          </a:ln>
        </p:spPr>
      </p:sp>
      <p:sp>
        <p:nvSpPr>
          <p:cNvPr id="5" name="Text 3"/>
          <p:cNvSpPr txBox="1"/>
          <p:nvPr/>
        </p:nvSpPr>
        <p:spPr>
          <a:xfrm>
            <a:off x="731520" y="1874520"/>
            <a:ext cx="457200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DATA INGESTION SUBSYSTEM</a:t>
            </a:r>
            <a:endParaRPr lang="en-US" sz="850" dirty="0"/>
          </a:p>
        </p:txBody>
      </p:sp>
      <p:sp>
        <p:nvSpPr>
          <p:cNvPr id="6" name="Shape 4"/>
          <p:cNvSpPr/>
          <p:nvPr/>
        </p:nvSpPr>
        <p:spPr>
          <a:xfrm>
            <a:off x="731520" y="2148840"/>
            <a:ext cx="1783080" cy="512064"/>
          </a:xfrm>
          <a:prstGeom prst="roundRect">
            <a:avLst>
              <a:gd name="adj" fmla="val 10714"/>
            </a:avLst>
          </a:prstGeom>
          <a:solidFill>
            <a:srgbClr val="FFFFFF"/>
          </a:solidFill>
          <a:ln w="9525">
            <a:solidFill>
              <a:srgbClr val="DADCE0"/>
            </a:solidFill>
            <a:prstDash val="solid"/>
          </a:ln>
        </p:spPr>
      </p:sp>
      <p:pic>
        <p:nvPicPr>
          <p:cNvPr id="7" name="Image 0" descr="preencoded.png">    </p:cNvPr>
          <p:cNvPicPr>
            <a:picLocks noChangeAspect="1"/>
          </p:cNvPicPr>
          <p:nvPr/>
        </p:nvPicPr>
        <p:blipFill>
          <a:blip r:embed="rId1"/>
          <a:stretch>
            <a:fillRect/>
          </a:stretch>
        </p:blipFill>
        <p:spPr>
          <a:xfrm>
            <a:off x="841248" y="2249424"/>
            <a:ext cx="237744" cy="237744"/>
          </a:xfrm>
          <a:prstGeom prst="rect">
            <a:avLst/>
          </a:prstGeom>
        </p:spPr>
      </p:pic>
      <p:sp>
        <p:nvSpPr>
          <p:cNvPr id="8" name="Text 5"/>
          <p:cNvSpPr txBox="1"/>
          <p:nvPr/>
        </p:nvSpPr>
        <p:spPr>
          <a:xfrm>
            <a:off x="1152144" y="2221992"/>
            <a:ext cx="1289304" cy="365760"/>
          </a:xfrm>
          <a:prstGeom prst="rect">
            <a:avLst/>
          </a:prstGeom>
          <a:noFill/>
          <a:ln/>
        </p:spPr>
        <p:txBody>
          <a:bodyPr wrap="square" lIns="0" tIns="0" rIns="0" bIns="0" rtlCol="0" anchor="ctr"/>
          <a:lstStyle/>
          <a:p>
            <a:pPr indent="0" marL="0">
              <a:buNone/>
            </a:pPr>
            <a:r>
              <a:rPr lang="en-US" sz="900" b="1" dirty="0">
                <a:solidFill>
                  <a:srgbClr val="202124"/>
                </a:solidFill>
                <a:latin typeface="Arial" pitchFamily="34" charset="0"/>
                <a:ea typeface="Arial" pitchFamily="34" charset="-122"/>
                <a:cs typeface="Arial" pitchFamily="34" charset="-120"/>
              </a:rPr>
              <a:t>QHIE — FHIR R4</a:t>
            </a:r>
            <a:endParaRPr lang="en-US" sz="900" dirty="0"/>
          </a:p>
        </p:txBody>
      </p:sp>
      <p:sp>
        <p:nvSpPr>
          <p:cNvPr id="9" name="Shape 6"/>
          <p:cNvSpPr/>
          <p:nvPr/>
        </p:nvSpPr>
        <p:spPr>
          <a:xfrm>
            <a:off x="731520" y="2752344"/>
            <a:ext cx="1783080" cy="512064"/>
          </a:xfrm>
          <a:prstGeom prst="roundRect">
            <a:avLst>
              <a:gd name="adj" fmla="val 10714"/>
            </a:avLst>
          </a:prstGeom>
          <a:solidFill>
            <a:srgbClr val="FFFFFF"/>
          </a:solidFill>
          <a:ln w="9525">
            <a:solidFill>
              <a:srgbClr val="DADCE0"/>
            </a:solidFill>
            <a:prstDash val="solid"/>
          </a:ln>
        </p:spPr>
      </p:sp>
      <p:pic>
        <p:nvPicPr>
          <p:cNvPr id="10" name="Image 1" descr="preencoded.png">    </p:cNvPr>
          <p:cNvPicPr>
            <a:picLocks noChangeAspect="1"/>
          </p:cNvPicPr>
          <p:nvPr/>
        </p:nvPicPr>
        <p:blipFill>
          <a:blip r:embed="rId2"/>
          <a:stretch>
            <a:fillRect/>
          </a:stretch>
        </p:blipFill>
        <p:spPr>
          <a:xfrm>
            <a:off x="841248" y="2852928"/>
            <a:ext cx="237744" cy="237744"/>
          </a:xfrm>
          <a:prstGeom prst="rect">
            <a:avLst/>
          </a:prstGeom>
        </p:spPr>
      </p:pic>
      <p:sp>
        <p:nvSpPr>
          <p:cNvPr id="11" name="Text 7"/>
          <p:cNvSpPr txBox="1"/>
          <p:nvPr/>
        </p:nvSpPr>
        <p:spPr>
          <a:xfrm>
            <a:off x="1152144" y="2825496"/>
            <a:ext cx="1289304" cy="365760"/>
          </a:xfrm>
          <a:prstGeom prst="rect">
            <a:avLst/>
          </a:prstGeom>
          <a:noFill/>
          <a:ln/>
        </p:spPr>
        <p:txBody>
          <a:bodyPr wrap="square" lIns="0" tIns="0" rIns="0" bIns="0" rtlCol="0" anchor="ctr"/>
          <a:lstStyle/>
          <a:p>
            <a:pPr indent="0" marL="0">
              <a:buNone/>
            </a:pPr>
            <a:r>
              <a:rPr lang="en-US" sz="900" b="1" dirty="0">
                <a:solidFill>
                  <a:srgbClr val="202124"/>
                </a:solidFill>
                <a:latin typeface="Arial" pitchFamily="34" charset="0"/>
                <a:ea typeface="Arial" pitchFamily="34" charset="-122"/>
                <a:cs typeface="Arial" pitchFamily="34" charset="-120"/>
              </a:rPr>
              <a:t>HMC · PHCC EHRs (HL7v2)</a:t>
            </a:r>
            <a:endParaRPr lang="en-US" sz="900" dirty="0"/>
          </a:p>
        </p:txBody>
      </p:sp>
      <p:sp>
        <p:nvSpPr>
          <p:cNvPr id="12" name="Shape 8"/>
          <p:cNvSpPr/>
          <p:nvPr/>
        </p:nvSpPr>
        <p:spPr>
          <a:xfrm>
            <a:off x="731520" y="3355848"/>
            <a:ext cx="1783080" cy="512064"/>
          </a:xfrm>
          <a:prstGeom prst="roundRect">
            <a:avLst>
              <a:gd name="adj" fmla="val 10714"/>
            </a:avLst>
          </a:prstGeom>
          <a:solidFill>
            <a:srgbClr val="FFFFFF"/>
          </a:solidFill>
          <a:ln w="9525">
            <a:solidFill>
              <a:srgbClr val="DADCE0"/>
            </a:solidFill>
            <a:prstDash val="solid"/>
          </a:ln>
        </p:spPr>
      </p:sp>
      <p:pic>
        <p:nvPicPr>
          <p:cNvPr id="13" name="Image 2" descr="preencoded.png">    </p:cNvPr>
          <p:cNvPicPr>
            <a:picLocks noChangeAspect="1"/>
          </p:cNvPicPr>
          <p:nvPr/>
        </p:nvPicPr>
        <p:blipFill>
          <a:blip r:embed="rId3"/>
          <a:stretch>
            <a:fillRect/>
          </a:stretch>
        </p:blipFill>
        <p:spPr>
          <a:xfrm>
            <a:off x="841248" y="3456432"/>
            <a:ext cx="237744" cy="237744"/>
          </a:xfrm>
          <a:prstGeom prst="rect">
            <a:avLst/>
          </a:prstGeom>
        </p:spPr>
      </p:pic>
      <p:sp>
        <p:nvSpPr>
          <p:cNvPr id="14" name="Text 9"/>
          <p:cNvSpPr txBox="1"/>
          <p:nvPr/>
        </p:nvSpPr>
        <p:spPr>
          <a:xfrm>
            <a:off x="1152144" y="3429000"/>
            <a:ext cx="1289304" cy="365760"/>
          </a:xfrm>
          <a:prstGeom prst="rect">
            <a:avLst/>
          </a:prstGeom>
          <a:noFill/>
          <a:ln/>
        </p:spPr>
        <p:txBody>
          <a:bodyPr wrap="square" lIns="0" tIns="0" rIns="0" bIns="0" rtlCol="0" anchor="ctr"/>
          <a:lstStyle/>
          <a:p>
            <a:pPr indent="0" marL="0">
              <a:buNone/>
            </a:pPr>
            <a:r>
              <a:rPr lang="en-US" sz="900" b="1" dirty="0">
                <a:solidFill>
                  <a:srgbClr val="202124"/>
                </a:solidFill>
                <a:latin typeface="Arial" pitchFamily="34" charset="0"/>
                <a:ea typeface="Arial" pitchFamily="34" charset="-122"/>
                <a:cs typeface="Arial" pitchFamily="34" charset="-120"/>
              </a:rPr>
              <a:t>Claims · pharmacy (nightly)</a:t>
            </a:r>
            <a:endParaRPr lang="en-US" sz="900" dirty="0"/>
          </a:p>
        </p:txBody>
      </p:sp>
      <p:sp>
        <p:nvSpPr>
          <p:cNvPr id="15" name="Shape 10"/>
          <p:cNvSpPr/>
          <p:nvPr/>
        </p:nvSpPr>
        <p:spPr>
          <a:xfrm>
            <a:off x="731520" y="3959352"/>
            <a:ext cx="1783080" cy="512064"/>
          </a:xfrm>
          <a:prstGeom prst="roundRect">
            <a:avLst>
              <a:gd name="adj" fmla="val 10714"/>
            </a:avLst>
          </a:prstGeom>
          <a:solidFill>
            <a:srgbClr val="FFFFFF"/>
          </a:solidFill>
          <a:ln w="9525">
            <a:solidFill>
              <a:srgbClr val="DADCE0"/>
            </a:solidFill>
            <a:prstDash val="solid"/>
          </a:ln>
        </p:spPr>
      </p:sp>
      <p:pic>
        <p:nvPicPr>
          <p:cNvPr id="16" name="Image 3" descr="preencoded.png">    </p:cNvPr>
          <p:cNvPicPr>
            <a:picLocks noChangeAspect="1"/>
          </p:cNvPicPr>
          <p:nvPr/>
        </p:nvPicPr>
        <p:blipFill>
          <a:blip r:embed="rId4"/>
          <a:stretch>
            <a:fillRect/>
          </a:stretch>
        </p:blipFill>
        <p:spPr>
          <a:xfrm>
            <a:off x="841248" y="4059936"/>
            <a:ext cx="237744" cy="237744"/>
          </a:xfrm>
          <a:prstGeom prst="rect">
            <a:avLst/>
          </a:prstGeom>
        </p:spPr>
      </p:pic>
      <p:sp>
        <p:nvSpPr>
          <p:cNvPr id="17" name="Text 11"/>
          <p:cNvSpPr txBox="1"/>
          <p:nvPr/>
        </p:nvSpPr>
        <p:spPr>
          <a:xfrm>
            <a:off x="1152144" y="4032504"/>
            <a:ext cx="1289304" cy="365760"/>
          </a:xfrm>
          <a:prstGeom prst="rect">
            <a:avLst/>
          </a:prstGeom>
          <a:noFill/>
          <a:ln/>
        </p:spPr>
        <p:txBody>
          <a:bodyPr wrap="square" lIns="0" tIns="0" rIns="0" bIns="0" rtlCol="0" anchor="ctr"/>
          <a:lstStyle/>
          <a:p>
            <a:pPr indent="0" marL="0">
              <a:buNone/>
            </a:pPr>
            <a:r>
              <a:rPr lang="en-US" sz="900" b="1" dirty="0">
                <a:solidFill>
                  <a:srgbClr val="202124"/>
                </a:solidFill>
                <a:latin typeface="Arial" pitchFamily="34" charset="0"/>
                <a:ea typeface="Arial" pitchFamily="34" charset="-122"/>
                <a:cs typeface="Arial" pitchFamily="34" charset="-120"/>
              </a:rPr>
              <a:t>MOPH guidelines (PDF)</a:t>
            </a:r>
            <a:endParaRPr lang="en-US" sz="900" dirty="0"/>
          </a:p>
        </p:txBody>
      </p:sp>
      <p:sp>
        <p:nvSpPr>
          <p:cNvPr id="18" name="Shape 12"/>
          <p:cNvSpPr/>
          <p:nvPr/>
        </p:nvSpPr>
        <p:spPr>
          <a:xfrm>
            <a:off x="2788920" y="2148840"/>
            <a:ext cx="1463040" cy="1115568"/>
          </a:xfrm>
          <a:prstGeom prst="roundRect">
            <a:avLst>
              <a:gd name="adj" fmla="val 4918"/>
            </a:avLst>
          </a:prstGeom>
          <a:solidFill>
            <a:srgbClr val="E8F0FE"/>
          </a:solidFill>
          <a:ln w="9525">
            <a:solidFill>
              <a:srgbClr val="E8F0FE"/>
            </a:solidFill>
            <a:prstDash val="solid"/>
          </a:ln>
        </p:spPr>
      </p:sp>
      <p:sp>
        <p:nvSpPr>
          <p:cNvPr id="19" name="Text 13"/>
          <p:cNvSpPr txBox="1"/>
          <p:nvPr/>
        </p:nvSpPr>
        <p:spPr>
          <a:xfrm>
            <a:off x="2898648" y="2221992"/>
            <a:ext cx="128016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Cloud Healthcare API</a:t>
            </a:r>
            <a:endParaRPr lang="en-US" sz="950" dirty="0"/>
          </a:p>
        </p:txBody>
      </p:sp>
      <p:sp>
        <p:nvSpPr>
          <p:cNvPr id="20" name="Text 14"/>
          <p:cNvSpPr txBox="1"/>
          <p:nvPr/>
        </p:nvSpPr>
        <p:spPr>
          <a:xfrm>
            <a:off x="2898648" y="2478024"/>
            <a:ext cx="1280160" cy="749808"/>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FHIR store · consent · de-identification · Pub/Sub events</a:t>
            </a:r>
            <a:endParaRPr lang="en-US" sz="750" dirty="0"/>
          </a:p>
        </p:txBody>
      </p:sp>
      <p:sp>
        <p:nvSpPr>
          <p:cNvPr id="21" name="Shape 15"/>
          <p:cNvSpPr/>
          <p:nvPr/>
        </p:nvSpPr>
        <p:spPr>
          <a:xfrm>
            <a:off x="4480560" y="2148840"/>
            <a:ext cx="1325880" cy="1115568"/>
          </a:xfrm>
          <a:prstGeom prst="roundRect">
            <a:avLst>
              <a:gd name="adj" fmla="val 4918"/>
            </a:avLst>
          </a:prstGeom>
          <a:solidFill>
            <a:srgbClr val="1A73E8"/>
          </a:solidFill>
          <a:ln w="9525">
            <a:solidFill>
              <a:srgbClr val="1A73E8"/>
            </a:solidFill>
            <a:prstDash val="solid"/>
          </a:ln>
        </p:spPr>
      </p:sp>
      <p:sp>
        <p:nvSpPr>
          <p:cNvPr id="22" name="Text 16"/>
          <p:cNvSpPr txBox="1"/>
          <p:nvPr/>
        </p:nvSpPr>
        <p:spPr>
          <a:xfrm>
            <a:off x="4590288" y="2221992"/>
            <a:ext cx="1143000" cy="274320"/>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BigQuery</a:t>
            </a:r>
            <a:endParaRPr lang="en-US" sz="1000" dirty="0"/>
          </a:p>
        </p:txBody>
      </p:sp>
      <p:sp>
        <p:nvSpPr>
          <p:cNvPr id="23" name="Text 17"/>
          <p:cNvSpPr txBox="1"/>
          <p:nvPr/>
        </p:nvSpPr>
        <p:spPr>
          <a:xfrm>
            <a:off x="4590288" y="2478024"/>
            <a:ext cx="1143000" cy="749808"/>
          </a:xfrm>
          <a:prstGeom prst="rect">
            <a:avLst/>
          </a:prstGeom>
          <a:noFill/>
          <a:ln/>
        </p:spPr>
        <p:txBody>
          <a:bodyPr wrap="square" lIns="0" tIns="0" rIns="0" bIns="0" rtlCol="0" anchor="t"/>
          <a:lstStyle/>
          <a:p>
            <a:pPr indent="0" marL="0">
              <a:lnSpc>
                <a:spcPct val="105000"/>
              </a:lnSpc>
              <a:buNone/>
            </a:pPr>
            <a:r>
              <a:rPr lang="en-US" sz="750" dirty="0">
                <a:solidFill>
                  <a:srgbClr val="FFFFFF"/>
                </a:solidFill>
                <a:latin typeface="Arial" pitchFamily="34" charset="0"/>
                <a:ea typeface="Arial" pitchFamily="34" charset="-122"/>
                <a:cs typeface="Arial" pitchFamily="34" charset="-120"/>
              </a:rPr>
              <a:t>streaming export · curated marts · BigQuery ML</a:t>
            </a:r>
            <a:endParaRPr lang="en-US" sz="750" dirty="0"/>
          </a:p>
        </p:txBody>
      </p:sp>
      <p:sp>
        <p:nvSpPr>
          <p:cNvPr id="24" name="Shape 18"/>
          <p:cNvSpPr/>
          <p:nvPr/>
        </p:nvSpPr>
        <p:spPr>
          <a:xfrm>
            <a:off x="2514600" y="2404872"/>
            <a:ext cx="274320" cy="0"/>
          </a:xfrm>
          <a:prstGeom prst="line">
            <a:avLst/>
          </a:prstGeom>
          <a:noFill/>
          <a:ln w="15875">
            <a:solidFill>
              <a:srgbClr val="5F6368"/>
            </a:solidFill>
            <a:prstDash val="solid"/>
            <a:tailEnd type="triangle"/>
          </a:ln>
        </p:spPr>
      </p:sp>
      <p:sp>
        <p:nvSpPr>
          <p:cNvPr id="25" name="Shape 19"/>
          <p:cNvSpPr/>
          <p:nvPr/>
        </p:nvSpPr>
        <p:spPr>
          <a:xfrm>
            <a:off x="2514600" y="3008376"/>
            <a:ext cx="274320" cy="0"/>
          </a:xfrm>
          <a:prstGeom prst="line">
            <a:avLst/>
          </a:prstGeom>
          <a:noFill/>
          <a:ln w="15875">
            <a:solidFill>
              <a:srgbClr val="5F6368"/>
            </a:solidFill>
            <a:prstDash val="solid"/>
            <a:tailEnd type="triangle"/>
          </a:ln>
        </p:spPr>
      </p:sp>
      <p:sp>
        <p:nvSpPr>
          <p:cNvPr id="26" name="Shape 20"/>
          <p:cNvSpPr/>
          <p:nvPr/>
        </p:nvSpPr>
        <p:spPr>
          <a:xfrm>
            <a:off x="2514600" y="3611880"/>
            <a:ext cx="502920" cy="0"/>
          </a:xfrm>
          <a:prstGeom prst="line">
            <a:avLst/>
          </a:prstGeom>
          <a:noFill/>
          <a:ln w="15875">
            <a:solidFill>
              <a:srgbClr val="5F6368"/>
            </a:solidFill>
            <a:prstDash val="dash"/>
            <a:tailEnd type="triangle"/>
          </a:ln>
        </p:spPr>
      </p:sp>
      <p:sp>
        <p:nvSpPr>
          <p:cNvPr id="27" name="Shape 21"/>
          <p:cNvSpPr/>
          <p:nvPr/>
        </p:nvSpPr>
        <p:spPr>
          <a:xfrm flipV="1">
            <a:off x="3017520" y="3264408"/>
            <a:ext cx="0" cy="347472"/>
          </a:xfrm>
          <a:prstGeom prst="line">
            <a:avLst/>
          </a:prstGeom>
          <a:noFill/>
          <a:ln w="15875">
            <a:solidFill>
              <a:srgbClr val="5F6368"/>
            </a:solidFill>
            <a:prstDash val="dash"/>
            <a:tailEnd type="triangle"/>
          </a:ln>
        </p:spPr>
      </p:sp>
      <p:sp>
        <p:nvSpPr>
          <p:cNvPr id="28" name="Shape 22"/>
          <p:cNvSpPr/>
          <p:nvPr/>
        </p:nvSpPr>
        <p:spPr>
          <a:xfrm>
            <a:off x="4251960" y="2706624"/>
            <a:ext cx="228600" cy="0"/>
          </a:xfrm>
          <a:prstGeom prst="line">
            <a:avLst/>
          </a:prstGeom>
          <a:noFill/>
          <a:ln w="15875">
            <a:solidFill>
              <a:srgbClr val="5F6368"/>
            </a:solidFill>
            <a:prstDash val="solid"/>
            <a:tailEnd type="triangle"/>
          </a:ln>
        </p:spPr>
      </p:sp>
      <p:sp>
        <p:nvSpPr>
          <p:cNvPr id="29" name="Shape 23"/>
          <p:cNvSpPr/>
          <p:nvPr/>
        </p:nvSpPr>
        <p:spPr>
          <a:xfrm>
            <a:off x="2788920" y="3977640"/>
            <a:ext cx="1463040" cy="512064"/>
          </a:xfrm>
          <a:prstGeom prst="roundRect">
            <a:avLst>
              <a:gd name="adj" fmla="val 10714"/>
            </a:avLst>
          </a:prstGeom>
          <a:solidFill>
            <a:srgbClr val="FFFFFF"/>
          </a:solidFill>
          <a:ln w="9525">
            <a:solidFill>
              <a:srgbClr val="DADCE0"/>
            </a:solidFill>
            <a:prstDash val="solid"/>
          </a:ln>
        </p:spPr>
      </p:sp>
      <p:sp>
        <p:nvSpPr>
          <p:cNvPr id="30" name="Text 24"/>
          <p:cNvSpPr txBox="1"/>
          <p:nvPr/>
        </p:nvSpPr>
        <p:spPr>
          <a:xfrm>
            <a:off x="2898648" y="4050792"/>
            <a:ext cx="128016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Cloud Storage</a:t>
            </a:r>
            <a:endParaRPr lang="en-US" sz="900" dirty="0"/>
          </a:p>
        </p:txBody>
      </p:sp>
      <p:sp>
        <p:nvSpPr>
          <p:cNvPr id="31" name="Text 25"/>
          <p:cNvSpPr txBox="1"/>
          <p:nvPr/>
        </p:nvSpPr>
        <p:spPr>
          <a:xfrm>
            <a:off x="2898648" y="4306824"/>
            <a:ext cx="128016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versioned corpus</a:t>
            </a:r>
            <a:endParaRPr lang="en-US" sz="750" dirty="0"/>
          </a:p>
        </p:txBody>
      </p:sp>
      <p:sp>
        <p:nvSpPr>
          <p:cNvPr id="32" name="Shape 26"/>
          <p:cNvSpPr/>
          <p:nvPr/>
        </p:nvSpPr>
        <p:spPr>
          <a:xfrm>
            <a:off x="4480560" y="3657600"/>
            <a:ext cx="1325880" cy="1143000"/>
          </a:xfrm>
          <a:prstGeom prst="roundRect">
            <a:avLst>
              <a:gd name="adj" fmla="val 4800"/>
            </a:avLst>
          </a:prstGeom>
          <a:solidFill>
            <a:srgbClr val="E8F0FE"/>
          </a:solidFill>
          <a:ln w="9525">
            <a:solidFill>
              <a:srgbClr val="E8F0FE"/>
            </a:solidFill>
            <a:prstDash val="solid"/>
          </a:ln>
        </p:spPr>
      </p:sp>
      <p:sp>
        <p:nvSpPr>
          <p:cNvPr id="33" name="Text 27"/>
          <p:cNvSpPr txBox="1"/>
          <p:nvPr/>
        </p:nvSpPr>
        <p:spPr>
          <a:xfrm>
            <a:off x="4590288" y="3730752"/>
            <a:ext cx="114300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RAG Engine</a:t>
            </a:r>
            <a:endParaRPr lang="en-US" sz="950" dirty="0"/>
          </a:p>
        </p:txBody>
      </p:sp>
      <p:sp>
        <p:nvSpPr>
          <p:cNvPr id="34" name="Text 28"/>
          <p:cNvSpPr txBox="1"/>
          <p:nvPr/>
        </p:nvSpPr>
        <p:spPr>
          <a:xfrm>
            <a:off x="4590288" y="3986784"/>
            <a:ext cx="1143000" cy="77724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embeddings · vector index · page-level citations</a:t>
            </a:r>
            <a:endParaRPr lang="en-US" sz="750" dirty="0"/>
          </a:p>
        </p:txBody>
      </p:sp>
      <p:sp>
        <p:nvSpPr>
          <p:cNvPr id="35" name="Shape 29"/>
          <p:cNvSpPr/>
          <p:nvPr/>
        </p:nvSpPr>
        <p:spPr>
          <a:xfrm>
            <a:off x="2514600" y="4215384"/>
            <a:ext cx="274320" cy="0"/>
          </a:xfrm>
          <a:prstGeom prst="line">
            <a:avLst/>
          </a:prstGeom>
          <a:noFill/>
          <a:ln w="15875">
            <a:solidFill>
              <a:srgbClr val="5F6368"/>
            </a:solidFill>
            <a:prstDash val="solid"/>
            <a:tailEnd type="triangle"/>
          </a:ln>
        </p:spPr>
      </p:sp>
      <p:sp>
        <p:nvSpPr>
          <p:cNvPr id="36" name="Shape 30"/>
          <p:cNvSpPr/>
          <p:nvPr/>
        </p:nvSpPr>
        <p:spPr>
          <a:xfrm>
            <a:off x="4251960" y="4215384"/>
            <a:ext cx="228600" cy="0"/>
          </a:xfrm>
          <a:prstGeom prst="line">
            <a:avLst/>
          </a:prstGeom>
          <a:noFill/>
          <a:ln w="15875">
            <a:solidFill>
              <a:srgbClr val="5F6368"/>
            </a:solidFill>
            <a:prstDash val="solid"/>
            <a:tailEnd type="triangle"/>
          </a:ln>
        </p:spPr>
      </p:sp>
      <p:sp>
        <p:nvSpPr>
          <p:cNvPr id="37" name="Shape 31"/>
          <p:cNvSpPr/>
          <p:nvPr/>
        </p:nvSpPr>
        <p:spPr>
          <a:xfrm>
            <a:off x="731520" y="4617720"/>
            <a:ext cx="5074920" cy="896112"/>
          </a:xfrm>
          <a:prstGeom prst="roundRect">
            <a:avLst>
              <a:gd name="adj" fmla="val 6122"/>
            </a:avLst>
          </a:prstGeom>
          <a:solidFill>
            <a:srgbClr val="F1F3F4"/>
          </a:solidFill>
          <a:ln w="9525">
            <a:solidFill>
              <a:srgbClr val="F1F3F4"/>
            </a:solidFill>
            <a:prstDash val="solid"/>
          </a:ln>
        </p:spPr>
      </p:sp>
      <p:pic>
        <p:nvPicPr>
          <p:cNvPr id="38" name="Image 4" descr="preencoded.png">    </p:cNvPr>
          <p:cNvPicPr>
            <a:picLocks noChangeAspect="1"/>
          </p:cNvPicPr>
          <p:nvPr/>
        </p:nvPicPr>
        <p:blipFill>
          <a:blip r:embed="rId5"/>
          <a:stretch>
            <a:fillRect/>
          </a:stretch>
        </p:blipFill>
        <p:spPr>
          <a:xfrm>
            <a:off x="841248" y="4718304"/>
            <a:ext cx="237744" cy="237744"/>
          </a:xfrm>
          <a:prstGeom prst="rect">
            <a:avLst/>
          </a:prstGeom>
        </p:spPr>
      </p:pic>
      <p:sp>
        <p:nvSpPr>
          <p:cNvPr id="39" name="Text 32"/>
          <p:cNvSpPr txBox="1"/>
          <p:nvPr/>
        </p:nvSpPr>
        <p:spPr>
          <a:xfrm>
            <a:off x="1152144" y="4690872"/>
            <a:ext cx="458114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Vertex AI — models</a:t>
            </a:r>
            <a:endParaRPr lang="en-US" sz="950" dirty="0"/>
          </a:p>
        </p:txBody>
      </p:sp>
      <p:sp>
        <p:nvSpPr>
          <p:cNvPr id="40" name="Text 33"/>
          <p:cNvSpPr txBox="1"/>
          <p:nvPr/>
        </p:nvSpPr>
        <p:spPr>
          <a:xfrm>
            <a:off x="841248" y="4946904"/>
            <a:ext cx="4892040" cy="53035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Pipelines train the XGBoost risk model on BigQuery data → Model Registry → online endpoint for point-of-care scoring, batch prediction for the nightly cohort; drift monitoring</a:t>
            </a:r>
            <a:endParaRPr lang="en-US" sz="750" dirty="0"/>
          </a:p>
        </p:txBody>
      </p:sp>
      <p:sp>
        <p:nvSpPr>
          <p:cNvPr id="41" name="Shape 34"/>
          <p:cNvSpPr/>
          <p:nvPr/>
        </p:nvSpPr>
        <p:spPr>
          <a:xfrm>
            <a:off x="6217920" y="1783080"/>
            <a:ext cx="5394960" cy="3977640"/>
          </a:xfrm>
          <a:prstGeom prst="roundRect">
            <a:avLst>
              <a:gd name="adj" fmla="val 2759"/>
            </a:avLst>
          </a:prstGeom>
          <a:solidFill>
            <a:srgbClr val="FFFFFF">
              <a:alpha val="0"/>
            </a:srgbClr>
          </a:solidFill>
          <a:ln w="12700">
            <a:solidFill>
              <a:srgbClr val="34A853"/>
            </a:solidFill>
            <a:prstDash val="dash"/>
          </a:ln>
        </p:spPr>
      </p:sp>
      <p:sp>
        <p:nvSpPr>
          <p:cNvPr id="42" name="Text 35"/>
          <p:cNvSpPr txBox="1"/>
          <p:nvPr/>
        </p:nvSpPr>
        <p:spPr>
          <a:xfrm>
            <a:off x="6400800" y="1874520"/>
            <a:ext cx="4572000" cy="201168"/>
          </a:xfrm>
          <a:prstGeom prst="rect">
            <a:avLst/>
          </a:prstGeom>
          <a:noFill/>
          <a:ln/>
        </p:spPr>
        <p:txBody>
          <a:bodyPr wrap="square" lIns="0" tIns="0" rIns="0" bIns="0" rtlCol="0" anchor="t"/>
          <a:lstStyle/>
          <a:p>
            <a:pPr indent="0" marL="0">
              <a:buNone/>
            </a:pPr>
            <a:r>
              <a:rPr lang="en-US" sz="850" b="1" spc="150" kern="0" dirty="0">
                <a:solidFill>
                  <a:srgbClr val="1E8E3E"/>
                </a:solidFill>
                <a:latin typeface="Arial" pitchFamily="34" charset="0"/>
                <a:ea typeface="Arial" pitchFamily="34" charset="-122"/>
                <a:cs typeface="Arial" pitchFamily="34" charset="-120"/>
              </a:rPr>
              <a:t>SERVING SUBSYSTEM</a:t>
            </a:r>
            <a:endParaRPr lang="en-US" sz="850" dirty="0"/>
          </a:p>
        </p:txBody>
      </p:sp>
      <p:sp>
        <p:nvSpPr>
          <p:cNvPr id="43" name="Shape 36"/>
          <p:cNvSpPr/>
          <p:nvPr/>
        </p:nvSpPr>
        <p:spPr>
          <a:xfrm>
            <a:off x="6400800" y="2148840"/>
            <a:ext cx="1508760" cy="914400"/>
          </a:xfrm>
          <a:prstGeom prst="roundRect">
            <a:avLst>
              <a:gd name="adj" fmla="val 6000"/>
            </a:avLst>
          </a:prstGeom>
          <a:solidFill>
            <a:srgbClr val="FFFFFF"/>
          </a:solidFill>
          <a:ln w="9525">
            <a:solidFill>
              <a:srgbClr val="DADCE0"/>
            </a:solidFill>
            <a:prstDash val="solid"/>
          </a:ln>
        </p:spPr>
      </p:sp>
      <p:pic>
        <p:nvPicPr>
          <p:cNvPr id="44" name="Image 5" descr="preencoded.png">    </p:cNvPr>
          <p:cNvPicPr>
            <a:picLocks noChangeAspect="1"/>
          </p:cNvPicPr>
          <p:nvPr/>
        </p:nvPicPr>
        <p:blipFill>
          <a:blip r:embed="rId6"/>
          <a:stretch>
            <a:fillRect/>
          </a:stretch>
        </p:blipFill>
        <p:spPr>
          <a:xfrm>
            <a:off x="6510528" y="2249424"/>
            <a:ext cx="237744" cy="237744"/>
          </a:xfrm>
          <a:prstGeom prst="rect">
            <a:avLst/>
          </a:prstGeom>
        </p:spPr>
      </p:pic>
      <p:sp>
        <p:nvSpPr>
          <p:cNvPr id="45" name="Text 37"/>
          <p:cNvSpPr txBox="1"/>
          <p:nvPr/>
        </p:nvSpPr>
        <p:spPr>
          <a:xfrm>
            <a:off x="6821424" y="2221992"/>
            <a:ext cx="101498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Users</a:t>
            </a:r>
            <a:endParaRPr lang="en-US" sz="950" dirty="0"/>
          </a:p>
        </p:txBody>
      </p:sp>
      <p:sp>
        <p:nvSpPr>
          <p:cNvPr id="46" name="Text 38"/>
          <p:cNvSpPr txBox="1"/>
          <p:nvPr/>
        </p:nvSpPr>
        <p:spPr>
          <a:xfrm>
            <a:off x="6510528" y="2478024"/>
            <a:ext cx="1325880" cy="54864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clinicians · MOPH directors · web, tablet, voice</a:t>
            </a:r>
            <a:endParaRPr lang="en-US" sz="750" dirty="0"/>
          </a:p>
        </p:txBody>
      </p:sp>
      <p:sp>
        <p:nvSpPr>
          <p:cNvPr id="47" name="Shape 39"/>
          <p:cNvSpPr/>
          <p:nvPr/>
        </p:nvSpPr>
        <p:spPr>
          <a:xfrm>
            <a:off x="8138160" y="2148840"/>
            <a:ext cx="1554480" cy="914400"/>
          </a:xfrm>
          <a:prstGeom prst="roundRect">
            <a:avLst>
              <a:gd name="adj" fmla="val 6000"/>
            </a:avLst>
          </a:prstGeom>
          <a:solidFill>
            <a:srgbClr val="FFFFFF"/>
          </a:solidFill>
          <a:ln w="9525">
            <a:solidFill>
              <a:srgbClr val="DADCE0"/>
            </a:solidFill>
            <a:prstDash val="solid"/>
          </a:ln>
        </p:spPr>
      </p:sp>
      <p:sp>
        <p:nvSpPr>
          <p:cNvPr id="48" name="Text 40"/>
          <p:cNvSpPr txBox="1"/>
          <p:nvPr/>
        </p:nvSpPr>
        <p:spPr>
          <a:xfrm>
            <a:off x="8247888" y="2221992"/>
            <a:ext cx="137160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Cloud Run — Nabd app</a:t>
            </a:r>
            <a:endParaRPr lang="en-US" sz="950" dirty="0"/>
          </a:p>
        </p:txBody>
      </p:sp>
      <p:sp>
        <p:nvSpPr>
          <p:cNvPr id="49" name="Text 41"/>
          <p:cNvSpPr txBox="1"/>
          <p:nvPr/>
        </p:nvSpPr>
        <p:spPr>
          <a:xfrm>
            <a:off x="8247888" y="2478024"/>
            <a:ext cx="1371600" cy="54864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React + API · Speech-to-Text / TTS (Arabic, English)</a:t>
            </a:r>
            <a:endParaRPr lang="en-US" sz="750" dirty="0"/>
          </a:p>
        </p:txBody>
      </p:sp>
      <p:sp>
        <p:nvSpPr>
          <p:cNvPr id="50" name="Shape 42"/>
          <p:cNvSpPr/>
          <p:nvPr/>
        </p:nvSpPr>
        <p:spPr>
          <a:xfrm>
            <a:off x="9921240" y="2148840"/>
            <a:ext cx="1508760" cy="914400"/>
          </a:xfrm>
          <a:prstGeom prst="roundRect">
            <a:avLst>
              <a:gd name="adj" fmla="val 6000"/>
            </a:avLst>
          </a:prstGeom>
          <a:solidFill>
            <a:srgbClr val="1E8E3E"/>
          </a:solidFill>
          <a:ln w="9525">
            <a:solidFill>
              <a:srgbClr val="1E8E3E"/>
            </a:solidFill>
            <a:prstDash val="solid"/>
          </a:ln>
        </p:spPr>
      </p:sp>
      <p:sp>
        <p:nvSpPr>
          <p:cNvPr id="51" name="Text 43"/>
          <p:cNvSpPr txBox="1"/>
          <p:nvPr/>
        </p:nvSpPr>
        <p:spPr>
          <a:xfrm>
            <a:off x="10030968" y="2221992"/>
            <a:ext cx="1325880" cy="27432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Agent runtime</a:t>
            </a:r>
            <a:endParaRPr lang="en-US" sz="950" dirty="0"/>
          </a:p>
        </p:txBody>
      </p:sp>
      <p:sp>
        <p:nvSpPr>
          <p:cNvPr id="52" name="Text 44"/>
          <p:cNvSpPr txBox="1"/>
          <p:nvPr/>
        </p:nvSpPr>
        <p:spPr>
          <a:xfrm>
            <a:off x="10030968" y="2478024"/>
            <a:ext cx="1325880" cy="548640"/>
          </a:xfrm>
          <a:prstGeom prst="rect">
            <a:avLst/>
          </a:prstGeom>
          <a:noFill/>
          <a:ln/>
        </p:spPr>
        <p:txBody>
          <a:bodyPr wrap="square" lIns="0" tIns="0" rIns="0" bIns="0" rtlCol="0" anchor="t"/>
          <a:lstStyle/>
          <a:p>
            <a:pPr indent="0" marL="0">
              <a:lnSpc>
                <a:spcPct val="105000"/>
              </a:lnSpc>
              <a:buNone/>
            </a:pPr>
            <a:r>
              <a:rPr lang="en-US" sz="750" dirty="0">
                <a:solidFill>
                  <a:srgbClr val="FFFFFF"/>
                </a:solidFill>
                <a:latin typeface="Arial" pitchFamily="34" charset="0"/>
                <a:ea typeface="Arial" pitchFamily="34" charset="-122"/>
                <a:cs typeface="Arial" pitchFamily="34" charset="-120"/>
              </a:rPr>
              <a:t>ADK graph · Gemini 3.8 Flash · sessions · traces</a:t>
            </a:r>
            <a:endParaRPr lang="en-US" sz="750" dirty="0"/>
          </a:p>
        </p:txBody>
      </p:sp>
      <p:sp>
        <p:nvSpPr>
          <p:cNvPr id="53" name="Shape 45"/>
          <p:cNvSpPr/>
          <p:nvPr/>
        </p:nvSpPr>
        <p:spPr>
          <a:xfrm>
            <a:off x="7909560" y="2606040"/>
            <a:ext cx="228600" cy="0"/>
          </a:xfrm>
          <a:prstGeom prst="line">
            <a:avLst/>
          </a:prstGeom>
          <a:noFill/>
          <a:ln w="15875">
            <a:solidFill>
              <a:srgbClr val="5F6368"/>
            </a:solidFill>
            <a:prstDash val="solid"/>
            <a:tailEnd type="triangle"/>
          </a:ln>
        </p:spPr>
      </p:sp>
      <p:sp>
        <p:nvSpPr>
          <p:cNvPr id="54" name="Shape 46"/>
          <p:cNvSpPr/>
          <p:nvPr/>
        </p:nvSpPr>
        <p:spPr>
          <a:xfrm>
            <a:off x="9692640" y="2606040"/>
            <a:ext cx="228600" cy="0"/>
          </a:xfrm>
          <a:prstGeom prst="line">
            <a:avLst/>
          </a:prstGeom>
          <a:noFill/>
          <a:ln w="15875">
            <a:solidFill>
              <a:srgbClr val="5F6368"/>
            </a:solidFill>
            <a:prstDash val="solid"/>
            <a:tailEnd type="triangle"/>
          </a:ln>
        </p:spPr>
      </p:sp>
      <p:sp>
        <p:nvSpPr>
          <p:cNvPr id="55" name="Text 47"/>
          <p:cNvSpPr txBox="1"/>
          <p:nvPr/>
        </p:nvSpPr>
        <p:spPr>
          <a:xfrm>
            <a:off x="6400800" y="3246120"/>
            <a:ext cx="3657600" cy="201168"/>
          </a:xfrm>
          <a:prstGeom prst="rect">
            <a:avLst/>
          </a:prstGeom>
          <a:noFill/>
          <a:ln/>
        </p:spPr>
        <p:txBody>
          <a:bodyPr wrap="square" lIns="0" tIns="0" rIns="0" bIns="0" rtlCol="0" anchor="t"/>
          <a:lstStyle/>
          <a:p>
            <a:pPr indent="0" marL="0">
              <a:buNone/>
            </a:pPr>
            <a:r>
              <a:rPr lang="en-US" sz="850" b="1" spc="150" kern="0" dirty="0">
                <a:solidFill>
                  <a:srgbClr val="5F6368"/>
                </a:solidFill>
                <a:latin typeface="Arial" pitchFamily="34" charset="0"/>
                <a:ea typeface="Arial" pitchFamily="34" charset="-122"/>
                <a:cs typeface="Arial" pitchFamily="34" charset="-120"/>
              </a:rPr>
              <a:t>TOOLS THE AGENT CALLS</a:t>
            </a:r>
            <a:endParaRPr lang="en-US" sz="850" dirty="0"/>
          </a:p>
        </p:txBody>
      </p:sp>
      <p:sp>
        <p:nvSpPr>
          <p:cNvPr id="56" name="Shape 48"/>
          <p:cNvSpPr/>
          <p:nvPr/>
        </p:nvSpPr>
        <p:spPr>
          <a:xfrm>
            <a:off x="6400800" y="3474720"/>
            <a:ext cx="2468880" cy="512064"/>
          </a:xfrm>
          <a:prstGeom prst="roundRect">
            <a:avLst>
              <a:gd name="adj" fmla="val 10714"/>
            </a:avLst>
          </a:prstGeom>
          <a:solidFill>
            <a:srgbClr val="E6F4EA"/>
          </a:solidFill>
          <a:ln w="9525">
            <a:solidFill>
              <a:srgbClr val="E6F4EA"/>
            </a:solidFill>
            <a:prstDash val="solid"/>
          </a:ln>
        </p:spPr>
      </p:sp>
      <p:sp>
        <p:nvSpPr>
          <p:cNvPr id="57" name="Text 49"/>
          <p:cNvSpPr txBox="1"/>
          <p:nvPr/>
        </p:nvSpPr>
        <p:spPr>
          <a:xfrm>
            <a:off x="6510528" y="3547872"/>
            <a:ext cx="228600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MCP Toolbox</a:t>
            </a:r>
            <a:endParaRPr lang="en-US" sz="900" dirty="0"/>
          </a:p>
        </p:txBody>
      </p:sp>
      <p:sp>
        <p:nvSpPr>
          <p:cNvPr id="58" name="Text 50"/>
          <p:cNvSpPr txBox="1"/>
          <p:nvPr/>
        </p:nvSpPr>
        <p:spPr>
          <a:xfrm>
            <a:off x="6510528" y="3803904"/>
            <a:ext cx="228600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BigQuery · FHIR (Google)</a:t>
            </a:r>
            <a:endParaRPr lang="en-US" sz="750" dirty="0"/>
          </a:p>
        </p:txBody>
      </p:sp>
      <p:sp>
        <p:nvSpPr>
          <p:cNvPr id="59" name="Shape 51"/>
          <p:cNvSpPr/>
          <p:nvPr/>
        </p:nvSpPr>
        <p:spPr>
          <a:xfrm>
            <a:off x="9006840" y="3474720"/>
            <a:ext cx="2468880" cy="512064"/>
          </a:xfrm>
          <a:prstGeom prst="roundRect">
            <a:avLst>
              <a:gd name="adj" fmla="val 10714"/>
            </a:avLst>
          </a:prstGeom>
          <a:solidFill>
            <a:srgbClr val="E6F4EA"/>
          </a:solidFill>
          <a:ln w="9525">
            <a:solidFill>
              <a:srgbClr val="E6F4EA"/>
            </a:solidFill>
            <a:prstDash val="solid"/>
          </a:ln>
        </p:spPr>
      </p:sp>
      <p:sp>
        <p:nvSpPr>
          <p:cNvPr id="60" name="Text 52"/>
          <p:cNvSpPr txBox="1"/>
          <p:nvPr/>
        </p:nvSpPr>
        <p:spPr>
          <a:xfrm>
            <a:off x="9116568" y="3547872"/>
            <a:ext cx="228600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Nabd pop-health MCP</a:t>
            </a:r>
            <a:endParaRPr lang="en-US" sz="900" dirty="0"/>
          </a:p>
        </p:txBody>
      </p:sp>
      <p:sp>
        <p:nvSpPr>
          <p:cNvPr id="61" name="Text 53"/>
          <p:cNvSpPr txBox="1"/>
          <p:nvPr/>
        </p:nvSpPr>
        <p:spPr>
          <a:xfrm>
            <a:off x="9116568" y="3803904"/>
            <a:ext cx="228600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care gaps · measures · simulation</a:t>
            </a:r>
            <a:endParaRPr lang="en-US" sz="750" dirty="0"/>
          </a:p>
        </p:txBody>
      </p:sp>
      <p:sp>
        <p:nvSpPr>
          <p:cNvPr id="62" name="Shape 54"/>
          <p:cNvSpPr/>
          <p:nvPr/>
        </p:nvSpPr>
        <p:spPr>
          <a:xfrm>
            <a:off x="6400800" y="4078224"/>
            <a:ext cx="2468880" cy="512064"/>
          </a:xfrm>
          <a:prstGeom prst="roundRect">
            <a:avLst>
              <a:gd name="adj" fmla="val 10714"/>
            </a:avLst>
          </a:prstGeom>
          <a:solidFill>
            <a:srgbClr val="E6F4EA"/>
          </a:solidFill>
          <a:ln w="9525">
            <a:solidFill>
              <a:srgbClr val="E6F4EA"/>
            </a:solidFill>
            <a:prstDash val="solid"/>
          </a:ln>
        </p:spPr>
      </p:sp>
      <p:sp>
        <p:nvSpPr>
          <p:cNvPr id="63" name="Text 55"/>
          <p:cNvSpPr txBox="1"/>
          <p:nvPr/>
        </p:nvSpPr>
        <p:spPr>
          <a:xfrm>
            <a:off x="6510528" y="4151376"/>
            <a:ext cx="228600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Vertex AI endpoint</a:t>
            </a:r>
            <a:endParaRPr lang="en-US" sz="900" dirty="0"/>
          </a:p>
        </p:txBody>
      </p:sp>
      <p:sp>
        <p:nvSpPr>
          <p:cNvPr id="64" name="Text 56"/>
          <p:cNvSpPr txBox="1"/>
          <p:nvPr/>
        </p:nvSpPr>
        <p:spPr>
          <a:xfrm>
            <a:off x="6510528" y="4407408"/>
            <a:ext cx="228600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risk score + drivers</a:t>
            </a:r>
            <a:endParaRPr lang="en-US" sz="750" dirty="0"/>
          </a:p>
        </p:txBody>
      </p:sp>
      <p:sp>
        <p:nvSpPr>
          <p:cNvPr id="65" name="Shape 57"/>
          <p:cNvSpPr/>
          <p:nvPr/>
        </p:nvSpPr>
        <p:spPr>
          <a:xfrm>
            <a:off x="9006840" y="4078224"/>
            <a:ext cx="2468880" cy="512064"/>
          </a:xfrm>
          <a:prstGeom prst="roundRect">
            <a:avLst>
              <a:gd name="adj" fmla="val 10714"/>
            </a:avLst>
          </a:prstGeom>
          <a:solidFill>
            <a:srgbClr val="E6F4EA"/>
          </a:solidFill>
          <a:ln w="9525">
            <a:solidFill>
              <a:srgbClr val="E6F4EA"/>
            </a:solidFill>
            <a:prstDash val="solid"/>
          </a:ln>
        </p:spPr>
      </p:sp>
      <p:sp>
        <p:nvSpPr>
          <p:cNvPr id="66" name="Text 58"/>
          <p:cNvSpPr txBox="1"/>
          <p:nvPr/>
        </p:nvSpPr>
        <p:spPr>
          <a:xfrm>
            <a:off x="9116568" y="4151376"/>
            <a:ext cx="228600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RAG Engine retrieval</a:t>
            </a:r>
            <a:endParaRPr lang="en-US" sz="900" dirty="0"/>
          </a:p>
        </p:txBody>
      </p:sp>
      <p:sp>
        <p:nvSpPr>
          <p:cNvPr id="67" name="Text 59"/>
          <p:cNvSpPr txBox="1"/>
          <p:nvPr/>
        </p:nvSpPr>
        <p:spPr>
          <a:xfrm>
            <a:off x="9116568" y="4407408"/>
            <a:ext cx="228600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cited guideline passages</a:t>
            </a:r>
            <a:endParaRPr lang="en-US" sz="750" dirty="0"/>
          </a:p>
        </p:txBody>
      </p:sp>
      <p:sp>
        <p:nvSpPr>
          <p:cNvPr id="68" name="Shape 60"/>
          <p:cNvSpPr/>
          <p:nvPr/>
        </p:nvSpPr>
        <p:spPr>
          <a:xfrm>
            <a:off x="10671048" y="3063240"/>
            <a:ext cx="0" cy="393192"/>
          </a:xfrm>
          <a:prstGeom prst="line">
            <a:avLst/>
          </a:prstGeom>
          <a:noFill/>
          <a:ln w="15875">
            <a:solidFill>
              <a:srgbClr val="5F6368"/>
            </a:solidFill>
            <a:prstDash val="solid"/>
            <a:tailEnd type="triangle"/>
          </a:ln>
        </p:spPr>
      </p:sp>
      <p:sp>
        <p:nvSpPr>
          <p:cNvPr id="69" name="Shape 61"/>
          <p:cNvSpPr/>
          <p:nvPr/>
        </p:nvSpPr>
        <p:spPr>
          <a:xfrm>
            <a:off x="6400800" y="4754880"/>
            <a:ext cx="2468880" cy="758952"/>
          </a:xfrm>
          <a:prstGeom prst="roundRect">
            <a:avLst>
              <a:gd name="adj" fmla="val 7229"/>
            </a:avLst>
          </a:prstGeom>
          <a:solidFill>
            <a:srgbClr val="FFFFFF"/>
          </a:solidFill>
          <a:ln w="9525">
            <a:solidFill>
              <a:srgbClr val="DADCE0"/>
            </a:solidFill>
            <a:prstDash val="solid"/>
          </a:ln>
        </p:spPr>
      </p:sp>
      <p:pic>
        <p:nvPicPr>
          <p:cNvPr id="70" name="Image 6" descr="preencoded.png">    </p:cNvPr>
          <p:cNvPicPr>
            <a:picLocks noChangeAspect="1"/>
          </p:cNvPicPr>
          <p:nvPr/>
        </p:nvPicPr>
        <p:blipFill>
          <a:blip r:embed="rId7"/>
          <a:stretch>
            <a:fillRect/>
          </a:stretch>
        </p:blipFill>
        <p:spPr>
          <a:xfrm>
            <a:off x="6510528" y="4855464"/>
            <a:ext cx="237744" cy="237744"/>
          </a:xfrm>
          <a:prstGeom prst="rect">
            <a:avLst/>
          </a:prstGeom>
        </p:spPr>
      </p:pic>
      <p:sp>
        <p:nvSpPr>
          <p:cNvPr id="71" name="Text 62"/>
          <p:cNvSpPr txBox="1"/>
          <p:nvPr/>
        </p:nvSpPr>
        <p:spPr>
          <a:xfrm>
            <a:off x="6821424" y="4828032"/>
            <a:ext cx="1975104"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Human approval queue</a:t>
            </a:r>
            <a:endParaRPr lang="en-US" sz="900" dirty="0"/>
          </a:p>
        </p:txBody>
      </p:sp>
      <p:sp>
        <p:nvSpPr>
          <p:cNvPr id="72" name="Text 63"/>
          <p:cNvSpPr txBox="1"/>
          <p:nvPr/>
        </p:nvSpPr>
        <p:spPr>
          <a:xfrm>
            <a:off x="6510528" y="5084064"/>
            <a:ext cx="2286000" cy="3931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drafts signed by a named clinician</a:t>
            </a:r>
            <a:endParaRPr lang="en-US" sz="750" dirty="0"/>
          </a:p>
        </p:txBody>
      </p:sp>
      <p:sp>
        <p:nvSpPr>
          <p:cNvPr id="73" name="Shape 64"/>
          <p:cNvSpPr/>
          <p:nvPr/>
        </p:nvSpPr>
        <p:spPr>
          <a:xfrm>
            <a:off x="9006840" y="4754880"/>
            <a:ext cx="2468880" cy="758952"/>
          </a:xfrm>
          <a:prstGeom prst="roundRect">
            <a:avLst>
              <a:gd name="adj" fmla="val 7229"/>
            </a:avLst>
          </a:prstGeom>
          <a:solidFill>
            <a:srgbClr val="FFFFFF"/>
          </a:solidFill>
          <a:ln w="9525">
            <a:solidFill>
              <a:srgbClr val="DADCE0"/>
            </a:solidFill>
            <a:prstDash val="solid"/>
          </a:ln>
        </p:spPr>
      </p:sp>
      <p:pic>
        <p:nvPicPr>
          <p:cNvPr id="74" name="Image 7" descr="preencoded.png">    </p:cNvPr>
          <p:cNvPicPr>
            <a:picLocks noChangeAspect="1"/>
          </p:cNvPicPr>
          <p:nvPr/>
        </p:nvPicPr>
        <p:blipFill>
          <a:blip r:embed="rId8"/>
          <a:stretch>
            <a:fillRect/>
          </a:stretch>
        </p:blipFill>
        <p:spPr>
          <a:xfrm>
            <a:off x="9116568" y="4855464"/>
            <a:ext cx="237744" cy="237744"/>
          </a:xfrm>
          <a:prstGeom prst="rect">
            <a:avLst/>
          </a:prstGeom>
        </p:spPr>
      </p:pic>
      <p:sp>
        <p:nvSpPr>
          <p:cNvPr id="75" name="Text 65"/>
          <p:cNvSpPr txBox="1"/>
          <p:nvPr/>
        </p:nvSpPr>
        <p:spPr>
          <a:xfrm>
            <a:off x="9427464" y="4828032"/>
            <a:ext cx="1975104"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Write-back</a:t>
            </a:r>
            <a:endParaRPr lang="en-US" sz="900" dirty="0"/>
          </a:p>
        </p:txBody>
      </p:sp>
      <p:sp>
        <p:nvSpPr>
          <p:cNvPr id="76" name="Text 66"/>
          <p:cNvSpPr txBox="1"/>
          <p:nvPr/>
        </p:nvSpPr>
        <p:spPr>
          <a:xfrm>
            <a:off x="9116568" y="5084064"/>
            <a:ext cx="2286000" cy="3931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approved items posted as FHIR Task to the EHR via Healthcare API</a:t>
            </a:r>
            <a:endParaRPr lang="en-US" sz="750" dirty="0"/>
          </a:p>
        </p:txBody>
      </p:sp>
      <p:sp>
        <p:nvSpPr>
          <p:cNvPr id="77" name="Shape 67"/>
          <p:cNvSpPr/>
          <p:nvPr/>
        </p:nvSpPr>
        <p:spPr>
          <a:xfrm>
            <a:off x="8869680" y="5120640"/>
            <a:ext cx="137160" cy="0"/>
          </a:xfrm>
          <a:prstGeom prst="line">
            <a:avLst/>
          </a:prstGeom>
          <a:noFill/>
          <a:ln w="15875">
            <a:solidFill>
              <a:srgbClr val="5F6368"/>
            </a:solidFill>
            <a:prstDash val="solid"/>
            <a:tailEnd type="triangle"/>
          </a:ln>
        </p:spPr>
      </p:sp>
      <p:sp>
        <p:nvSpPr>
          <p:cNvPr id="78" name="Shape 68"/>
          <p:cNvSpPr/>
          <p:nvPr/>
        </p:nvSpPr>
        <p:spPr>
          <a:xfrm>
            <a:off x="5989320" y="3977640"/>
            <a:ext cx="228600" cy="0"/>
          </a:xfrm>
          <a:prstGeom prst="line">
            <a:avLst/>
          </a:prstGeom>
          <a:noFill/>
          <a:ln w="15875">
            <a:solidFill>
              <a:srgbClr val="1A73E8"/>
            </a:solidFill>
            <a:prstDash val="dash"/>
            <a:tailEnd type="triangle"/>
          </a:ln>
        </p:spPr>
      </p:sp>
      <p:sp>
        <p:nvSpPr>
          <p:cNvPr id="79" name="Text 69"/>
          <p:cNvSpPr txBox="1"/>
          <p:nvPr/>
        </p:nvSpPr>
        <p:spPr>
          <a:xfrm>
            <a:off x="5806440" y="3703320"/>
            <a:ext cx="777240" cy="228600"/>
          </a:xfrm>
          <a:prstGeom prst="rect">
            <a:avLst/>
          </a:prstGeom>
          <a:noFill/>
          <a:ln/>
        </p:spPr>
        <p:txBody>
          <a:bodyPr wrap="square" lIns="0" tIns="0" rIns="0" bIns="0" rtlCol="0" anchor="t"/>
          <a:lstStyle/>
          <a:p>
            <a:pPr algn="ctr" indent="0" marL="0">
              <a:buNone/>
            </a:pPr>
            <a:r>
              <a:rPr lang="en-US" sz="700" dirty="0">
                <a:solidFill>
                  <a:srgbClr val="1A73E8"/>
                </a:solidFill>
                <a:latin typeface="Arial" pitchFamily="34" charset="0"/>
                <a:ea typeface="Arial" pitchFamily="34" charset="-122"/>
                <a:cs typeface="Arial" pitchFamily="34" charset="-120"/>
              </a:rPr>
              <a:t>data &amp; models</a:t>
            </a:r>
            <a:endParaRPr lang="en-US" sz="700" dirty="0"/>
          </a:p>
        </p:txBody>
      </p:sp>
      <p:sp>
        <p:nvSpPr>
          <p:cNvPr id="80" name="Shape 70"/>
          <p:cNvSpPr/>
          <p:nvPr/>
        </p:nvSpPr>
        <p:spPr>
          <a:xfrm>
            <a:off x="548640" y="5897880"/>
            <a:ext cx="11064240" cy="457200"/>
          </a:xfrm>
          <a:prstGeom prst="roundRect">
            <a:avLst>
              <a:gd name="adj" fmla="val 16000"/>
            </a:avLst>
          </a:prstGeom>
          <a:solidFill>
            <a:srgbClr val="F8F9FA"/>
          </a:solidFill>
          <a:ln w="12700">
            <a:solidFill>
              <a:srgbClr val="F8F9FA"/>
            </a:solidFill>
            <a:prstDash val="solid"/>
          </a:ln>
        </p:spPr>
      </p:sp>
      <p:pic>
        <p:nvPicPr>
          <p:cNvPr id="81" name="Image 8" descr="preencoded.png">    </p:cNvPr>
          <p:cNvPicPr>
            <a:picLocks noChangeAspect="1"/>
          </p:cNvPicPr>
          <p:nvPr/>
        </p:nvPicPr>
        <p:blipFill>
          <a:blip r:embed="rId9"/>
          <a:stretch>
            <a:fillRect/>
          </a:stretch>
        </p:blipFill>
        <p:spPr>
          <a:xfrm>
            <a:off x="713232" y="5998464"/>
            <a:ext cx="256032" cy="256032"/>
          </a:xfrm>
          <a:prstGeom prst="rect">
            <a:avLst/>
          </a:prstGeom>
        </p:spPr>
      </p:pic>
      <p:sp>
        <p:nvSpPr>
          <p:cNvPr id="82" name="Text 71"/>
          <p:cNvSpPr txBox="1"/>
          <p:nvPr/>
        </p:nvSpPr>
        <p:spPr>
          <a:xfrm>
            <a:off x="1051560" y="5897880"/>
            <a:ext cx="10515600" cy="457200"/>
          </a:xfrm>
          <a:prstGeom prst="rect">
            <a:avLst/>
          </a:prstGeom>
          <a:noFill/>
          <a:ln/>
        </p:spPr>
        <p:txBody>
          <a:bodyPr wrap="square" lIns="0" tIns="0" rIns="0" bIns="0" rtlCol="0" anchor="ctr"/>
          <a:lstStyle/>
          <a:p>
            <a:pPr indent="0" marL="0">
              <a:lnSpc>
                <a:spcPct val="105000"/>
              </a:lnSpc>
              <a:buNone/>
            </a:pPr>
            <a:r>
              <a:rPr lang="en-US" sz="900" b="1" dirty="0">
                <a:solidFill>
                  <a:srgbClr val="202124"/>
                </a:solidFill>
                <a:latin typeface="Arial" pitchFamily="34" charset="0"/>
                <a:ea typeface="Arial" pitchFamily="34" charset="-122"/>
                <a:cs typeface="Arial" pitchFamily="34" charset="-120"/>
              </a:rPr>
              <a:t>Sovereignty &amp; operations: </a:t>
            </a:r>
            <a:pPr indent="0" marL="0">
              <a:lnSpc>
                <a:spcPct val="105000"/>
              </a:lnSpc>
              <a:buNone/>
            </a:pPr>
            <a:r>
              <a:rPr lang="en-US" sz="900" dirty="0">
                <a:solidFill>
                  <a:srgbClr val="5F6368"/>
                </a:solidFill>
                <a:latin typeface="Arial" pitchFamily="34" charset="0"/>
                <a:ea typeface="Arial" pitchFamily="34" charset="-122"/>
                <a:cs typeface="Arial" pitchFamily="34" charset="-120"/>
              </a:rPr>
              <a:t>PHI at rest in me-central1 under an Assured Workloads Qatar Data Boundary · VPC Service Controls · CMEK · least-privilege service accounts · Cloud Logging &amp; Trace · Gen AI evaluation as a release gate · the LLM only ever sees pseudonymised, aggregated data.</a:t>
            </a:r>
            <a:endParaRPr lang="en-US" sz="900" dirty="0"/>
          </a:p>
        </p:txBody>
      </p:sp>
      <p:sp>
        <p:nvSpPr>
          <p:cNvPr id="83" name="Text 72"/>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Pattern: Google Cloud Architecture Center — "RAG infrastructure for generative AI using Gemini Enterprise and Agent Platform"</a:t>
            </a:r>
            <a:endParaRPr lang="en-US" sz="850" dirty="0"/>
          </a:p>
        </p:txBody>
      </p:sp>
      <p:sp>
        <p:nvSpPr>
          <p:cNvPr id="84" name="Text 73"/>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Phased delivery — value at every step, and what you will see in the next 20 minutes</a:t>
            </a:r>
            <a:endParaRPr lang="en-US" sz="2600" dirty="0"/>
          </a:p>
        </p:txBody>
      </p:sp>
      <p:sp>
        <p:nvSpPr>
          <p:cNvPr id="3" name="Shape 1"/>
          <p:cNvSpPr/>
          <p:nvPr/>
        </p:nvSpPr>
        <p:spPr>
          <a:xfrm>
            <a:off x="548640" y="1463040"/>
            <a:ext cx="3566160" cy="2331720"/>
          </a:xfrm>
          <a:prstGeom prst="roundRect">
            <a:avLst>
              <a:gd name="adj" fmla="val 3137"/>
            </a:avLst>
          </a:prstGeom>
          <a:solidFill>
            <a:srgbClr val="F8F9FA"/>
          </a:solidFill>
          <a:ln w="12700">
            <a:solidFill>
              <a:srgbClr val="F8F9FA"/>
            </a:solidFill>
            <a:prstDash val="solid"/>
          </a:ln>
        </p:spPr>
      </p:sp>
      <p:sp>
        <p:nvSpPr>
          <p:cNvPr id="4" name="Text 2"/>
          <p:cNvSpPr txBox="1"/>
          <p:nvPr/>
        </p:nvSpPr>
        <p:spPr>
          <a:xfrm>
            <a:off x="777240" y="1600200"/>
            <a:ext cx="3108960" cy="228600"/>
          </a:xfrm>
          <a:prstGeom prst="rect">
            <a:avLst/>
          </a:prstGeom>
          <a:noFill/>
          <a:ln/>
        </p:spPr>
        <p:txBody>
          <a:bodyPr wrap="square" lIns="0" tIns="0" rIns="0" bIns="0" rtlCol="0" anchor="t"/>
          <a:lstStyle/>
          <a:p>
            <a:pPr indent="0" marL="0">
              <a:buNone/>
            </a:pPr>
            <a:r>
              <a:rPr lang="en-US" sz="950" b="1" spc="150" kern="0" dirty="0">
                <a:solidFill>
                  <a:srgbClr val="4285F4"/>
                </a:solidFill>
                <a:latin typeface="Arial" pitchFamily="34" charset="0"/>
                <a:ea typeface="Arial" pitchFamily="34" charset="-122"/>
                <a:cs typeface="Arial" pitchFamily="34" charset="-120"/>
              </a:rPr>
              <a:t>Phase 1 · today</a:t>
            </a:r>
            <a:endParaRPr lang="en-US" sz="950" dirty="0"/>
          </a:p>
        </p:txBody>
      </p:sp>
      <p:sp>
        <p:nvSpPr>
          <p:cNvPr id="5" name="Text 3"/>
          <p:cNvSpPr txBox="1"/>
          <p:nvPr/>
        </p:nvSpPr>
        <p:spPr>
          <a:xfrm>
            <a:off x="777240" y="1828800"/>
            <a:ext cx="3108960" cy="365760"/>
          </a:xfrm>
          <a:prstGeom prst="rect">
            <a:avLst/>
          </a:prstGeom>
          <a:noFill/>
          <a:ln/>
        </p:spPr>
        <p:txBody>
          <a:bodyPr wrap="square" lIns="0" tIns="0" rIns="0" bIns="0" rtlCol="0" anchor="t"/>
          <a:lstStyle/>
          <a:p>
            <a:pPr indent="0" marL="0">
              <a:buNone/>
            </a:pPr>
            <a:r>
              <a:rPr lang="en-US" sz="1600" b="1" dirty="0">
                <a:solidFill>
                  <a:srgbClr val="202124"/>
                </a:solidFill>
                <a:latin typeface="Arial" pitchFamily="34" charset="0"/>
                <a:ea typeface="Arial" pitchFamily="34" charset="-122"/>
                <a:cs typeface="Arial" pitchFamily="34" charset="-120"/>
              </a:rPr>
              <a:t>Proof of concept</a:t>
            </a:r>
            <a:endParaRPr lang="en-US" sz="1600" dirty="0"/>
          </a:p>
        </p:txBody>
      </p:sp>
      <p:sp>
        <p:nvSpPr>
          <p:cNvPr id="6" name="Text 4"/>
          <p:cNvSpPr txBox="1"/>
          <p:nvPr/>
        </p:nvSpPr>
        <p:spPr>
          <a:xfrm>
            <a:off x="777240" y="2240280"/>
            <a:ext cx="3108960" cy="150876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Running now on a 4,000-patient synthetic exchange: the agent graph, four models, the population-health MCP server, guideline RAG, the approval queue, voice, and an evaluation harness that grades the models and the agents on held-out data.</a:t>
            </a:r>
            <a:endParaRPr lang="en-US" sz="1050" dirty="0"/>
          </a:p>
        </p:txBody>
      </p:sp>
      <p:sp>
        <p:nvSpPr>
          <p:cNvPr id="7" name="Shape 5"/>
          <p:cNvSpPr/>
          <p:nvPr/>
        </p:nvSpPr>
        <p:spPr>
          <a:xfrm>
            <a:off x="4133088" y="2651760"/>
            <a:ext cx="146304" cy="0"/>
          </a:xfrm>
          <a:prstGeom prst="line">
            <a:avLst/>
          </a:prstGeom>
          <a:noFill/>
          <a:ln w="15875">
            <a:solidFill>
              <a:srgbClr val="5F6368"/>
            </a:solidFill>
            <a:prstDash val="solid"/>
            <a:tailEnd type="triangle"/>
          </a:ln>
        </p:spPr>
      </p:sp>
      <p:sp>
        <p:nvSpPr>
          <p:cNvPr id="8" name="Shape 6"/>
          <p:cNvSpPr/>
          <p:nvPr/>
        </p:nvSpPr>
        <p:spPr>
          <a:xfrm>
            <a:off x="4297680" y="1463040"/>
            <a:ext cx="3566160" cy="2331720"/>
          </a:xfrm>
          <a:prstGeom prst="roundRect">
            <a:avLst>
              <a:gd name="adj" fmla="val 3137"/>
            </a:avLst>
          </a:prstGeom>
          <a:solidFill>
            <a:srgbClr val="F8F9FA"/>
          </a:solidFill>
          <a:ln w="12700">
            <a:solidFill>
              <a:srgbClr val="F8F9FA"/>
            </a:solidFill>
            <a:prstDash val="solid"/>
          </a:ln>
        </p:spPr>
      </p:sp>
      <p:sp>
        <p:nvSpPr>
          <p:cNvPr id="9" name="Text 7"/>
          <p:cNvSpPr txBox="1"/>
          <p:nvPr/>
        </p:nvSpPr>
        <p:spPr>
          <a:xfrm>
            <a:off x="4526280" y="1600200"/>
            <a:ext cx="3108960" cy="228600"/>
          </a:xfrm>
          <a:prstGeom prst="rect">
            <a:avLst/>
          </a:prstGeom>
          <a:noFill/>
          <a:ln/>
        </p:spPr>
        <p:txBody>
          <a:bodyPr wrap="square" lIns="0" tIns="0" rIns="0" bIns="0" rtlCol="0" anchor="t"/>
          <a:lstStyle/>
          <a:p>
            <a:pPr indent="0" marL="0">
              <a:buNone/>
            </a:pPr>
            <a:r>
              <a:rPr lang="en-US" sz="950" b="1" spc="150" kern="0" dirty="0">
                <a:solidFill>
                  <a:srgbClr val="B06000"/>
                </a:solidFill>
                <a:latin typeface="Arial" pitchFamily="34" charset="0"/>
                <a:ea typeface="Arial" pitchFamily="34" charset="-122"/>
                <a:cs typeface="Arial" pitchFamily="34" charset="-120"/>
              </a:rPr>
              <a:t>Phase 2 · 8–12 weeks</a:t>
            </a:r>
            <a:endParaRPr lang="en-US" sz="950" dirty="0"/>
          </a:p>
        </p:txBody>
      </p:sp>
      <p:sp>
        <p:nvSpPr>
          <p:cNvPr id="10" name="Text 8"/>
          <p:cNvSpPr txBox="1"/>
          <p:nvPr/>
        </p:nvSpPr>
        <p:spPr>
          <a:xfrm>
            <a:off x="4526280" y="1828800"/>
            <a:ext cx="3108960" cy="365760"/>
          </a:xfrm>
          <a:prstGeom prst="rect">
            <a:avLst/>
          </a:prstGeom>
          <a:noFill/>
          <a:ln/>
        </p:spPr>
        <p:txBody>
          <a:bodyPr wrap="square" lIns="0" tIns="0" rIns="0" bIns="0" rtlCol="0" anchor="t"/>
          <a:lstStyle/>
          <a:p>
            <a:pPr indent="0" marL="0">
              <a:buNone/>
            </a:pPr>
            <a:r>
              <a:rPr lang="en-US" sz="1600" b="1" dirty="0">
                <a:solidFill>
                  <a:srgbClr val="202124"/>
                </a:solidFill>
                <a:latin typeface="Arial" pitchFamily="34" charset="0"/>
                <a:ea typeface="Arial" pitchFamily="34" charset="-122"/>
                <a:cs typeface="Arial" pitchFamily="34" charset="-120"/>
              </a:rPr>
              <a:t>Google Cloud, Doha</a:t>
            </a:r>
            <a:endParaRPr lang="en-US" sz="1600" dirty="0"/>
          </a:p>
        </p:txBody>
      </p:sp>
      <p:sp>
        <p:nvSpPr>
          <p:cNvPr id="11" name="Text 9"/>
          <p:cNvSpPr txBox="1"/>
          <p:nvPr/>
        </p:nvSpPr>
        <p:spPr>
          <a:xfrm>
            <a:off x="4526280" y="2240280"/>
            <a:ext cx="3108960" cy="150876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Same container on Cloud Run in me-central1; the exchange in BigQuery; Gemini and embeddings through Vertex AI with service-account auth; risk model on a Vertex endpoint; a QHIE test feed through the Cloud Healthcare API. Pilot at four sites.</a:t>
            </a:r>
            <a:endParaRPr lang="en-US" sz="1050" dirty="0"/>
          </a:p>
        </p:txBody>
      </p:sp>
      <p:sp>
        <p:nvSpPr>
          <p:cNvPr id="12" name="Shape 10"/>
          <p:cNvSpPr/>
          <p:nvPr/>
        </p:nvSpPr>
        <p:spPr>
          <a:xfrm>
            <a:off x="7882128" y="2651760"/>
            <a:ext cx="146304" cy="0"/>
          </a:xfrm>
          <a:prstGeom prst="line">
            <a:avLst/>
          </a:prstGeom>
          <a:noFill/>
          <a:ln w="15875">
            <a:solidFill>
              <a:srgbClr val="5F6368"/>
            </a:solidFill>
            <a:prstDash val="solid"/>
            <a:tailEnd type="triangle"/>
          </a:ln>
        </p:spPr>
      </p:sp>
      <p:sp>
        <p:nvSpPr>
          <p:cNvPr id="13" name="Shape 11"/>
          <p:cNvSpPr/>
          <p:nvPr/>
        </p:nvSpPr>
        <p:spPr>
          <a:xfrm>
            <a:off x="8046720" y="1463040"/>
            <a:ext cx="3566160" cy="2331720"/>
          </a:xfrm>
          <a:prstGeom prst="roundRect">
            <a:avLst>
              <a:gd name="adj" fmla="val 3137"/>
            </a:avLst>
          </a:prstGeom>
          <a:solidFill>
            <a:srgbClr val="F8F9FA"/>
          </a:solidFill>
          <a:ln w="12700">
            <a:solidFill>
              <a:srgbClr val="F8F9FA"/>
            </a:solidFill>
            <a:prstDash val="solid"/>
          </a:ln>
        </p:spPr>
      </p:sp>
      <p:sp>
        <p:nvSpPr>
          <p:cNvPr id="14" name="Text 12"/>
          <p:cNvSpPr txBox="1"/>
          <p:nvPr/>
        </p:nvSpPr>
        <p:spPr>
          <a:xfrm>
            <a:off x="8275320" y="1600200"/>
            <a:ext cx="3108960" cy="228600"/>
          </a:xfrm>
          <a:prstGeom prst="rect">
            <a:avLst/>
          </a:prstGeom>
          <a:noFill/>
          <a:ln/>
        </p:spPr>
        <p:txBody>
          <a:bodyPr wrap="square" lIns="0" tIns="0" rIns="0" bIns="0" rtlCol="0" anchor="t"/>
          <a:lstStyle/>
          <a:p>
            <a:pPr indent="0" marL="0">
              <a:buNone/>
            </a:pPr>
            <a:r>
              <a:rPr lang="en-US" sz="950" b="1" spc="150" kern="0" dirty="0">
                <a:solidFill>
                  <a:srgbClr val="34A853"/>
                </a:solidFill>
                <a:latin typeface="Arial" pitchFamily="34" charset="0"/>
                <a:ea typeface="Arial" pitchFamily="34" charset="-122"/>
                <a:cs typeface="Arial" pitchFamily="34" charset="-120"/>
              </a:rPr>
              <a:t>Phase 3 · national</a:t>
            </a:r>
            <a:endParaRPr lang="en-US" sz="950" dirty="0"/>
          </a:p>
        </p:txBody>
      </p:sp>
      <p:sp>
        <p:nvSpPr>
          <p:cNvPr id="15" name="Text 13"/>
          <p:cNvSpPr txBox="1"/>
          <p:nvPr/>
        </p:nvSpPr>
        <p:spPr>
          <a:xfrm>
            <a:off x="8275320" y="1828800"/>
            <a:ext cx="3108960" cy="365760"/>
          </a:xfrm>
          <a:prstGeom prst="rect">
            <a:avLst/>
          </a:prstGeom>
          <a:noFill/>
          <a:ln/>
        </p:spPr>
        <p:txBody>
          <a:bodyPr wrap="square" lIns="0" tIns="0" rIns="0" bIns="0" rtlCol="0" anchor="t"/>
          <a:lstStyle/>
          <a:p>
            <a:pPr indent="0" marL="0">
              <a:buNone/>
            </a:pPr>
            <a:r>
              <a:rPr lang="en-US" sz="1600" b="1" dirty="0">
                <a:solidFill>
                  <a:srgbClr val="202124"/>
                </a:solidFill>
                <a:latin typeface="Arial" pitchFamily="34" charset="0"/>
                <a:ea typeface="Arial" pitchFamily="34" charset="-122"/>
                <a:cs typeface="Arial" pitchFamily="34" charset="-120"/>
              </a:rPr>
              <a:t>Scale and integrate</a:t>
            </a:r>
            <a:endParaRPr lang="en-US" sz="1600" dirty="0"/>
          </a:p>
        </p:txBody>
      </p:sp>
      <p:sp>
        <p:nvSpPr>
          <p:cNvPr id="16" name="Text 14"/>
          <p:cNvSpPr txBox="1"/>
          <p:nvPr/>
        </p:nvSpPr>
        <p:spPr>
          <a:xfrm>
            <a:off x="8275320" y="2240280"/>
            <a:ext cx="3108960" cy="150876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FHIR streaming from all facilities, HL7v2 bridges for legacy sites, Looker for governed KPIs, MedGemma for clinical notes, Agent Engine when it lands in Qatar, evaluation gates in CI, MOPH SSO and write-back to the EHR.</a:t>
            </a:r>
            <a:endParaRPr lang="en-US" sz="1050" dirty="0"/>
          </a:p>
        </p:txBody>
      </p:sp>
      <p:sp>
        <p:nvSpPr>
          <p:cNvPr id="17" name="Text 15"/>
          <p:cNvSpPr txBox="1"/>
          <p:nvPr/>
        </p:nvSpPr>
        <p:spPr>
          <a:xfrm>
            <a:off x="548640" y="4114800"/>
            <a:ext cx="3657600" cy="201168"/>
          </a:xfrm>
          <a:prstGeom prst="rect">
            <a:avLst/>
          </a:prstGeom>
          <a:noFill/>
          <a:ln/>
        </p:spPr>
        <p:txBody>
          <a:bodyPr wrap="square" lIns="0" tIns="0" rIns="0" bIns="0" rtlCol="0" anchor="t"/>
          <a:lstStyle/>
          <a:p>
            <a:pPr indent="0" marL="0">
              <a:buNone/>
            </a:pPr>
            <a:r>
              <a:rPr lang="en-US" sz="850" b="1" spc="150" kern="0" dirty="0">
                <a:solidFill>
                  <a:srgbClr val="5F6368"/>
                </a:solidFill>
                <a:latin typeface="Arial" pitchFamily="34" charset="0"/>
                <a:ea typeface="Arial" pitchFamily="34" charset="-122"/>
                <a:cs typeface="Arial" pitchFamily="34" charset="-120"/>
              </a:rPr>
              <a:t>DEMO AGENDA</a:t>
            </a:r>
            <a:endParaRPr lang="en-US" sz="850" dirty="0"/>
          </a:p>
        </p:txBody>
      </p:sp>
      <p:sp>
        <p:nvSpPr>
          <p:cNvPr id="18" name="Shape 16"/>
          <p:cNvSpPr/>
          <p:nvPr/>
        </p:nvSpPr>
        <p:spPr>
          <a:xfrm>
            <a:off x="548640" y="4434840"/>
            <a:ext cx="457200" cy="457200"/>
          </a:xfrm>
          <a:prstGeom prst="ellipse">
            <a:avLst/>
          </a:prstGeom>
          <a:solidFill>
            <a:srgbClr val="4285F4"/>
          </a:solidFill>
          <a:ln w="12700">
            <a:solidFill>
              <a:srgbClr val="4285F4"/>
            </a:solidFill>
            <a:prstDash val="solid"/>
          </a:ln>
        </p:spPr>
      </p:sp>
      <p:sp>
        <p:nvSpPr>
          <p:cNvPr id="19" name="Text 17"/>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20" name="Text 18"/>
          <p:cNvSpPr txBox="1"/>
          <p:nvPr/>
        </p:nvSpPr>
        <p:spPr>
          <a:xfrm>
            <a:off x="1143000" y="4480560"/>
            <a:ext cx="2926080" cy="365760"/>
          </a:xfrm>
          <a:prstGeom prst="rect">
            <a:avLst/>
          </a:prstGeom>
          <a:noFill/>
          <a:ln/>
        </p:spPr>
        <p:txBody>
          <a:bodyPr wrap="square" lIns="0" tIns="0" rIns="0" bIns="0" rtlCol="0" anchor="t"/>
          <a:lstStyle/>
          <a:p>
            <a:pPr indent="0" marL="0">
              <a:buNone/>
            </a:pPr>
            <a:r>
              <a:rPr lang="en-US" sz="1350" b="1" dirty="0">
                <a:solidFill>
                  <a:srgbClr val="202124"/>
                </a:solidFill>
                <a:latin typeface="Arial" pitchFamily="34" charset="0"/>
                <a:ea typeface="Arial" pitchFamily="34" charset="-122"/>
                <a:cs typeface="Arial" pitchFamily="34" charset="-120"/>
              </a:rPr>
              <a:t>The clinician's morning</a:t>
            </a:r>
            <a:endParaRPr lang="en-US" sz="1350" dirty="0"/>
          </a:p>
        </p:txBody>
      </p:sp>
      <p:sp>
        <p:nvSpPr>
          <p:cNvPr id="21" name="Text 19"/>
          <p:cNvSpPr txBox="1"/>
          <p:nvPr/>
        </p:nvSpPr>
        <p:spPr>
          <a:xfrm>
            <a:off x="548640" y="5029200"/>
            <a:ext cx="3520440" cy="118872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Dr. Amal asks for her briefing. One patient: 360 view, explained risk, the guideline passage, a draft prescription that waits for her signature.</a:t>
            </a:r>
            <a:endParaRPr lang="en-US" sz="1050" dirty="0"/>
          </a:p>
        </p:txBody>
      </p:sp>
      <p:sp>
        <p:nvSpPr>
          <p:cNvPr id="22" name="Shape 20"/>
          <p:cNvSpPr/>
          <p:nvPr/>
        </p:nvSpPr>
        <p:spPr>
          <a:xfrm>
            <a:off x="4297680" y="4434840"/>
            <a:ext cx="457200" cy="457200"/>
          </a:xfrm>
          <a:prstGeom prst="ellipse">
            <a:avLst/>
          </a:prstGeom>
          <a:solidFill>
            <a:srgbClr val="EA4335"/>
          </a:solidFill>
          <a:ln w="12700">
            <a:solidFill>
              <a:srgbClr val="EA4335"/>
            </a:solidFill>
            <a:prstDash val="solid"/>
          </a:ln>
        </p:spPr>
      </p:sp>
      <p:sp>
        <p:nvSpPr>
          <p:cNvPr id="23" name="Text 21"/>
          <p:cNvSpPr txBox="1"/>
          <p:nvPr/>
        </p:nvSpPr>
        <p:spPr>
          <a:xfrm>
            <a:off x="429768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4" name="Text 22"/>
          <p:cNvSpPr txBox="1"/>
          <p:nvPr/>
        </p:nvSpPr>
        <p:spPr>
          <a:xfrm>
            <a:off x="4892040" y="4480560"/>
            <a:ext cx="2926080" cy="365760"/>
          </a:xfrm>
          <a:prstGeom prst="rect">
            <a:avLst/>
          </a:prstGeom>
          <a:noFill/>
          <a:ln/>
        </p:spPr>
        <p:txBody>
          <a:bodyPr wrap="square" lIns="0" tIns="0" rIns="0" bIns="0" rtlCol="0" anchor="t"/>
          <a:lstStyle/>
          <a:p>
            <a:pPr indent="0" marL="0">
              <a:buNone/>
            </a:pPr>
            <a:r>
              <a:rPr lang="en-US" sz="1350" b="1" dirty="0">
                <a:solidFill>
                  <a:srgbClr val="202124"/>
                </a:solidFill>
                <a:latin typeface="Arial" pitchFamily="34" charset="0"/>
                <a:ea typeface="Arial" pitchFamily="34" charset="-122"/>
                <a:cs typeface="Arial" pitchFamily="34" charset="-120"/>
              </a:rPr>
              <a:t>The ministry's view</a:t>
            </a:r>
            <a:endParaRPr lang="en-US" sz="1350" dirty="0"/>
          </a:p>
        </p:txBody>
      </p:sp>
      <p:sp>
        <p:nvSpPr>
          <p:cNvPr id="25" name="Text 23"/>
          <p:cNvSpPr txBox="1"/>
          <p:nvPr/>
        </p:nvSpPr>
        <p:spPr>
          <a:xfrm>
            <a:off x="4297680" y="5029200"/>
            <a:ext cx="3520440" cy="118872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Dr. Khalid asks for the national picture: control rates, care gaps by facility and nationality, cost concentration, and a simulation of closing the SGLT2 / GLP-1 treatment gap before any money is spent.</a:t>
            </a:r>
            <a:endParaRPr lang="en-US" sz="1050" dirty="0"/>
          </a:p>
        </p:txBody>
      </p:sp>
      <p:sp>
        <p:nvSpPr>
          <p:cNvPr id="26" name="Shape 24"/>
          <p:cNvSpPr/>
          <p:nvPr/>
        </p:nvSpPr>
        <p:spPr>
          <a:xfrm>
            <a:off x="8046720" y="4434840"/>
            <a:ext cx="457200" cy="457200"/>
          </a:xfrm>
          <a:prstGeom prst="ellipse">
            <a:avLst/>
          </a:prstGeom>
          <a:solidFill>
            <a:srgbClr val="34A853"/>
          </a:solidFill>
          <a:ln w="12700">
            <a:solidFill>
              <a:srgbClr val="34A853"/>
            </a:solidFill>
            <a:prstDash val="solid"/>
          </a:ln>
        </p:spPr>
      </p:sp>
      <p:sp>
        <p:nvSpPr>
          <p:cNvPr id="27" name="Text 25"/>
          <p:cNvSpPr txBox="1"/>
          <p:nvPr/>
        </p:nvSpPr>
        <p:spPr>
          <a:xfrm>
            <a:off x="804672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8" name="Text 26"/>
          <p:cNvSpPr txBox="1"/>
          <p:nvPr/>
        </p:nvSpPr>
        <p:spPr>
          <a:xfrm>
            <a:off x="8641080" y="4480560"/>
            <a:ext cx="2926080" cy="365760"/>
          </a:xfrm>
          <a:prstGeom prst="rect">
            <a:avLst/>
          </a:prstGeom>
          <a:noFill/>
          <a:ln/>
        </p:spPr>
        <p:txBody>
          <a:bodyPr wrap="square" lIns="0" tIns="0" rIns="0" bIns="0" rtlCol="0" anchor="t"/>
          <a:lstStyle/>
          <a:p>
            <a:pPr indent="0" marL="0">
              <a:buNone/>
            </a:pPr>
            <a:r>
              <a:rPr lang="en-US" sz="1350" b="1" dirty="0">
                <a:solidFill>
                  <a:srgbClr val="202124"/>
                </a:solidFill>
                <a:latin typeface="Arial" pitchFamily="34" charset="0"/>
                <a:ea typeface="Arial" pitchFamily="34" charset="-122"/>
                <a:cs typeface="Arial" pitchFamily="34" charset="-120"/>
              </a:rPr>
              <a:t>Under the hood</a:t>
            </a:r>
            <a:endParaRPr lang="en-US" sz="1350" dirty="0"/>
          </a:p>
        </p:txBody>
      </p:sp>
      <p:sp>
        <p:nvSpPr>
          <p:cNvPr id="29" name="Text 27"/>
          <p:cNvSpPr txBox="1"/>
          <p:nvPr/>
        </p:nvSpPr>
        <p:spPr>
          <a:xfrm>
            <a:off x="8046720" y="5029200"/>
            <a:ext cx="3520440" cy="118872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The population-health MCP server answering another client, the live agent trace, and the evaluation tab: held-out model accuracy, agent evalset, cost per question.</a:t>
            </a:r>
            <a:endParaRPr lang="en-US" sz="1050" dirty="0"/>
          </a:p>
        </p:txBody>
      </p:sp>
      <p:sp>
        <p:nvSpPr>
          <p:cNvPr id="30" name="Text 28"/>
          <p:cNvSpPr txBox="1"/>
          <p:nvPr/>
        </p:nvSpPr>
        <p:spPr>
          <a:xfrm>
            <a:off x="548640" y="6172200"/>
            <a:ext cx="10972800" cy="274320"/>
          </a:xfrm>
          <a:prstGeom prst="rect">
            <a:avLst/>
          </a:prstGeom>
          <a:noFill/>
          <a:ln/>
        </p:spPr>
        <p:txBody>
          <a:bodyPr wrap="square" lIns="0" tIns="0" rIns="0" bIns="0" rtlCol="0" anchor="t"/>
          <a:lstStyle/>
          <a:p>
            <a:pPr indent="0" marL="0">
              <a:buNone/>
            </a:pPr>
            <a:r>
              <a:rPr lang="en-US" sz="1050" i="1" dirty="0">
                <a:solidFill>
                  <a:srgbClr val="202124"/>
                </a:solidFill>
                <a:latin typeface="Arial" pitchFamily="34" charset="0"/>
                <a:ea typeface="Arial" pitchFamily="34" charset="-122"/>
                <a:cs typeface="Arial" pitchFamily="34" charset="-120"/>
              </a:rPr>
              <a:t>Every number in the demo is computed live from the exchange by a tool; nothing is a slide.</a:t>
            </a:r>
            <a:endParaRPr lang="en-US" sz="1050" dirty="0"/>
          </a:p>
        </p:txBody>
      </p:sp>
      <p:sp>
        <p:nvSpPr>
          <p:cNvPr id="31" name="Text 29"/>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Ministry of Public Health, Qatar · Google Cloud Customer Engineering</a:t>
            </a:r>
            <a:endParaRPr lang="en-US" sz="850" dirty="0"/>
          </a:p>
        </p:txBody>
      </p:sp>
      <p:sp>
        <p:nvSpPr>
          <p:cNvPr id="32" name="Text 30"/>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Nabd — Diabetes population health on Google Cloud</dc:title>
  <dc:subject>PptxGenJS Presentation</dc:subject>
  <dc:creator>Raed Aldweik</dc:creator>
  <cp:lastModifiedBy>Raed Aldweik</cp:lastModifiedBy>
  <cp:revision>1</cp:revision>
  <dcterms:created xsi:type="dcterms:W3CDTF">2026-09-09T17:22:51Z</dcterms:created>
  <dcterms:modified xsi:type="dcterms:W3CDTF">2026-09-09T17:22:51Z</dcterms:modified>
</cp:coreProperties>
</file>